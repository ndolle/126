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rimson Pro SemiBold" panose="020B0604020202020204" charset="0"/>
      <p:regular r:id="rId10"/>
    </p:embeddedFont>
    <p:embeddedFont>
      <p:font typeface="Heebo" panose="020F0502020204030204" pitchFamily="2" charset="-79"/>
      <p:regular r:id="rId11"/>
    </p:embeddedFont>
    <p:embeddedFont>
      <p:font typeface="Heebo Bold" panose="020B0604020202020204" charset="-79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46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100263"/>
            <a:ext cx="2330094" cy="251420"/>
          </a:xfrm>
          <a:prstGeom prst="roundRect">
            <a:avLst>
              <a:gd name="adj" fmla="val 7894"/>
            </a:avLst>
          </a:prstGeom>
          <a:solidFill>
            <a:srgbClr val="CCFF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577" y="2159794"/>
            <a:ext cx="132255" cy="1322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30910" y="2149872"/>
            <a:ext cx="254291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CONFIDENTIAL — RISK DIVISION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7646102" y="2100263"/>
            <a:ext cx="1169264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0067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/>
          <p:nvPr/>
        </p:nvSpPr>
        <p:spPr>
          <a:xfrm>
            <a:off x="7745318" y="2149872"/>
            <a:ext cx="158041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FEBRUARY 2026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233360" y="2417762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Cyber Risk Sectorial Assessment: Automotive Sector 2026</a:t>
            </a:r>
            <a:endParaRPr lang="en-US" sz="3250" dirty="0"/>
          </a:p>
        </p:txBody>
      </p:sp>
      <p:sp>
        <p:nvSpPr>
          <p:cNvPr id="9" name="Text 5"/>
          <p:cNvSpPr/>
          <p:nvPr/>
        </p:nvSpPr>
        <p:spPr>
          <a:xfrm>
            <a:off x="5233360" y="3699272"/>
            <a:ext cx="62968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comprehensive threat intelligence briefing for Risk Executives on the evolving cybersecurity landscape across the global automotive and smart mobility ecosystem — informed by </a:t>
            </a:r>
            <a:r>
              <a:rPr lang="en-US" sz="13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494 publicly reported incidents</a:t>
            </a: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2025 and the landmark Jaguar Land Rover systemic event.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7922"/>
            <a:ext cx="434666" cy="122337"/>
          </a:xfrm>
          <a:prstGeom prst="roundRect">
            <a:avLst>
              <a:gd name="adj" fmla="val 7909"/>
            </a:avLst>
          </a:prstGeom>
          <a:solidFill>
            <a:srgbClr val="CCFF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09793" y="542032"/>
            <a:ext cx="947615" cy="74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1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1136423" y="542032"/>
            <a:ext cx="1226015" cy="74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LANDSCAPE</a:t>
            </a:r>
            <a:endParaRPr lang="en-US" sz="500" dirty="0"/>
          </a:p>
        </p:txBody>
      </p:sp>
      <p:sp>
        <p:nvSpPr>
          <p:cNvPr id="5" name="Text 3"/>
          <p:cNvSpPr/>
          <p:nvPr/>
        </p:nvSpPr>
        <p:spPr>
          <a:xfrm>
            <a:off x="661475" y="655935"/>
            <a:ext cx="10868745" cy="252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Threats &amp; Top 5 Cyber Attacks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966887"/>
            <a:ext cx="10868745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automotive cybersecurity landscape underwent a fundamental transformation in 2025. The convergence of software-defined vehicles, AI integration, and API-driven connectivity has created an attack surface extending far beyond traditional vehicle boundaries into manufacturing ecosystems, supply chains, and critical infrastructure.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661475" y="1202928"/>
            <a:ext cx="3596689" cy="879574"/>
          </a:xfrm>
          <a:prstGeom prst="roundRect">
            <a:avLst>
              <a:gd name="adj" fmla="val 137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42038" y="1283494"/>
            <a:ext cx="241790" cy="241796"/>
          </a:xfrm>
          <a:prstGeom prst="ellipse">
            <a:avLst/>
          </a:prstGeom>
          <a:solidFill>
            <a:srgbClr val="00674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513" y="1349970"/>
            <a:ext cx="108840" cy="10884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2038" y="1564580"/>
            <a:ext cx="3435562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Ransomware Dominance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42038" y="1714103"/>
            <a:ext cx="3435562" cy="287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44% of all incidents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2025 — more than doubling from 2024. 108 ransom attacks accompanied by 214 data breaches. Average demand: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$5.08M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Vehicle-level ransomware demonstrated mid-2025.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4297453" y="1202928"/>
            <a:ext cx="3596689" cy="879574"/>
          </a:xfrm>
          <a:prstGeom prst="roundRect">
            <a:avLst>
              <a:gd name="adj" fmla="val 137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378017" y="1283494"/>
            <a:ext cx="241790" cy="241796"/>
          </a:xfrm>
          <a:prstGeom prst="ellipse">
            <a:avLst/>
          </a:prstGeom>
          <a:solidFill>
            <a:srgbClr val="00674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4492" y="1349970"/>
            <a:ext cx="108840" cy="10884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78017" y="1564580"/>
            <a:ext cx="3435562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API-Centric Attacks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4378017" y="1714103"/>
            <a:ext cx="343556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67% of incidents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involved telematics and cloud systems. CDK Global attack hit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15,000 dealerships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$1.02B losses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LLM prompt injection emerging as new vector.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7933432" y="1202928"/>
            <a:ext cx="3596689" cy="879574"/>
          </a:xfrm>
          <a:prstGeom prst="roundRect">
            <a:avLst>
              <a:gd name="adj" fmla="val 137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8013996" y="1283494"/>
            <a:ext cx="241790" cy="241796"/>
          </a:xfrm>
          <a:prstGeom prst="ellipse">
            <a:avLst/>
          </a:prstGeom>
          <a:solidFill>
            <a:srgbClr val="00674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80471" y="1349970"/>
            <a:ext cx="108840" cy="10884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13996" y="1564580"/>
            <a:ext cx="3435562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Supply Chain Compromise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8013996" y="1714103"/>
            <a:ext cx="3435562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Third-party involvement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nearly doubled to 30%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incidents. Vehicles contain 30,000–50,000 components from thousands of suppliers. Tier 2–3 suppliers remain structurally vulnerable.</a:t>
            </a:r>
            <a:endParaRPr lang="en-US" sz="600" dirty="0"/>
          </a:p>
        </p:txBody>
      </p:sp>
      <p:sp>
        <p:nvSpPr>
          <p:cNvPr id="22" name="Shape 17"/>
          <p:cNvSpPr/>
          <p:nvPr/>
        </p:nvSpPr>
        <p:spPr>
          <a:xfrm>
            <a:off x="661475" y="2121793"/>
            <a:ext cx="5414629" cy="783630"/>
          </a:xfrm>
          <a:prstGeom prst="roundRect">
            <a:avLst>
              <a:gd name="adj" fmla="val 154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742038" y="2202359"/>
            <a:ext cx="241790" cy="241796"/>
          </a:xfrm>
          <a:prstGeom prst="ellipse">
            <a:avLst/>
          </a:prstGeom>
          <a:solidFill>
            <a:srgbClr val="00674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513" y="2268835"/>
            <a:ext cx="108840" cy="10884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2038" y="2483445"/>
            <a:ext cx="5253501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Exfiltration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742038" y="2632968"/>
            <a:ext cx="5253501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68% of incidents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involved data theft.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530 vulnerabilities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identified in 2024, including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174 zero-days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Pwn2Own Automotive. Location, ADAS, and firmware data at critical risk.</a:t>
            </a:r>
            <a:endParaRPr lang="en-US" sz="600" dirty="0"/>
          </a:p>
        </p:txBody>
      </p:sp>
      <p:sp>
        <p:nvSpPr>
          <p:cNvPr id="27" name="Shape 21"/>
          <p:cNvSpPr/>
          <p:nvPr/>
        </p:nvSpPr>
        <p:spPr>
          <a:xfrm>
            <a:off x="6115393" y="2121793"/>
            <a:ext cx="5414728" cy="783630"/>
          </a:xfrm>
          <a:prstGeom prst="roundRect">
            <a:avLst>
              <a:gd name="adj" fmla="val 154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2"/>
          <p:cNvSpPr/>
          <p:nvPr/>
        </p:nvSpPr>
        <p:spPr>
          <a:xfrm>
            <a:off x="6195957" y="2202359"/>
            <a:ext cx="241790" cy="241796"/>
          </a:xfrm>
          <a:prstGeom prst="ellipse">
            <a:avLst/>
          </a:prstGeom>
          <a:solidFill>
            <a:srgbClr val="00674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2432" y="2268835"/>
            <a:ext cx="108840" cy="10884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195957" y="2483445"/>
            <a:ext cx="5253601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 Charging Infrastructure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6195957" y="2632968"/>
            <a:ext cx="5253601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Cross-sector threat combining energy and vehicle systems. Demonstrated attacks via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V2G Evil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tool. Botnet-driven grid destabilization carries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national security implications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600" dirty="0"/>
          </a:p>
        </p:txBody>
      </p:sp>
      <p:sp>
        <p:nvSpPr>
          <p:cNvPr id="32" name="Text 25"/>
          <p:cNvSpPr/>
          <p:nvPr/>
        </p:nvSpPr>
        <p:spPr>
          <a:xfrm>
            <a:off x="661475" y="2964359"/>
            <a:ext cx="1086874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Ransomware Escalation: 2024 → 2025</a:t>
            </a:r>
            <a:endParaRPr lang="en-US" sz="12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224808"/>
          <a:ext cx="10868745" cy="1089690"/>
        </p:xfrm>
        <a:graphic>
          <a:graphicData uri="http://schemas.openxmlformats.org/drawingml/2006/table">
            <a:tbl>
              <a:tblPr/>
              <a:tblGrid>
                <a:gridCol w="3260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5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Metric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2024 Baseline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2025 Actual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Change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Share of automotive incidents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~20%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44%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+120%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Reported ransom attacks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~50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108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+116%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Associated data breaches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~90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214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+138%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Average ransom demand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$5.08M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$5.08M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Flat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OT/manufacturing targeting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Limited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Widespread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Critical shift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6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Direct vehicle compromise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None reported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Documented cases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New vector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0628" marR="8062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Text 26"/>
          <p:cNvSpPr/>
          <p:nvPr/>
        </p:nvSpPr>
        <p:spPr>
          <a:xfrm>
            <a:off x="661475" y="4386163"/>
            <a:ext cx="10868745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Automotive-Specific Vulnerabilities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61475" y="4646613"/>
            <a:ext cx="11478330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Beyond threat categories, the sector exhibits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structural vulnerabilities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that amplify risk and complicate mitigation.</a:t>
            </a:r>
            <a:endParaRPr lang="en-US" sz="6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786709"/>
            <a:ext cx="5414728" cy="75703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320421" y="4847134"/>
            <a:ext cx="96736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750" dirty="0"/>
          </a:p>
        </p:txBody>
      </p:sp>
      <p:sp>
        <p:nvSpPr>
          <p:cNvPr id="38" name="Text 29"/>
          <p:cNvSpPr/>
          <p:nvPr/>
        </p:nvSpPr>
        <p:spPr>
          <a:xfrm>
            <a:off x="754738" y="5109071"/>
            <a:ext cx="5228201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SDV Architecture Risks</a:t>
            </a:r>
            <a:endParaRPr lang="en-US" sz="750" dirty="0"/>
          </a:p>
        </p:txBody>
      </p:sp>
      <p:sp>
        <p:nvSpPr>
          <p:cNvPr id="39" name="Text 30"/>
          <p:cNvSpPr/>
          <p:nvPr/>
        </p:nvSpPr>
        <p:spPr>
          <a:xfrm>
            <a:off x="754738" y="5258594"/>
            <a:ext cx="5228201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OTA update mechanisms create persistent attack vectors. Inverse relationship between innovation velocity and security maturity at higher abstraction layers.</a:t>
            </a:r>
            <a:endParaRPr lang="en-US" sz="6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5492" y="4786709"/>
            <a:ext cx="5414728" cy="757039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774439" y="4847134"/>
            <a:ext cx="96736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750" dirty="0"/>
          </a:p>
        </p:txBody>
      </p:sp>
      <p:sp>
        <p:nvSpPr>
          <p:cNvPr id="42" name="Text 32"/>
          <p:cNvSpPr/>
          <p:nvPr/>
        </p:nvSpPr>
        <p:spPr>
          <a:xfrm>
            <a:off x="6208756" y="5109071"/>
            <a:ext cx="5228201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IT/OT Convergence Gaps</a:t>
            </a:r>
            <a:endParaRPr lang="en-US" sz="750" dirty="0"/>
          </a:p>
        </p:txBody>
      </p:sp>
      <p:sp>
        <p:nvSpPr>
          <p:cNvPr id="43" name="Text 33"/>
          <p:cNvSpPr/>
          <p:nvPr/>
        </p:nvSpPr>
        <p:spPr>
          <a:xfrm>
            <a:off x="6208756" y="5258594"/>
            <a:ext cx="5228201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 security incidents automatically become OT incidents. JLR's IT shutdown halted manufacturing — reflecting insufficient segmentation across the industry.</a:t>
            </a:r>
            <a:endParaRPr lang="en-US" sz="6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583039"/>
            <a:ext cx="5414728" cy="757039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3320421" y="5643463"/>
            <a:ext cx="96736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750" dirty="0"/>
          </a:p>
        </p:txBody>
      </p:sp>
      <p:sp>
        <p:nvSpPr>
          <p:cNvPr id="46" name="Text 35"/>
          <p:cNvSpPr/>
          <p:nvPr/>
        </p:nvSpPr>
        <p:spPr>
          <a:xfrm>
            <a:off x="754738" y="5905401"/>
            <a:ext cx="5228201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Third-Party &amp; Open-Source Risk</a:t>
            </a:r>
            <a:endParaRPr lang="en-US" sz="750" dirty="0"/>
          </a:p>
        </p:txBody>
      </p:sp>
      <p:sp>
        <p:nvSpPr>
          <p:cNvPr id="47" name="Text 36"/>
          <p:cNvSpPr/>
          <p:nvPr/>
        </p:nvSpPr>
        <p:spPr>
          <a:xfrm>
            <a:off x="754738" y="6054923"/>
            <a:ext cx="5228201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Modern vehicles incorporate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100M+ lines of code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mostly from third parties. SBOM adoption remains inconsistent; transitive dependencies create hidden exposure.</a:t>
            </a:r>
            <a:endParaRPr lang="en-US" sz="6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5492" y="5583039"/>
            <a:ext cx="5414728" cy="757039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8774439" y="5643463"/>
            <a:ext cx="96736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750" dirty="0"/>
          </a:p>
        </p:txBody>
      </p:sp>
      <p:sp>
        <p:nvSpPr>
          <p:cNvPr id="50" name="Text 38"/>
          <p:cNvSpPr/>
          <p:nvPr/>
        </p:nvSpPr>
        <p:spPr>
          <a:xfrm>
            <a:off x="6208756" y="5905401"/>
            <a:ext cx="5228201" cy="12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AI/ML System Vulnerabilities</a:t>
            </a:r>
            <a:endParaRPr lang="en-US" sz="750" dirty="0"/>
          </a:p>
        </p:txBody>
      </p:sp>
      <p:sp>
        <p:nvSpPr>
          <p:cNvPr id="51" name="Text 39"/>
          <p:cNvSpPr/>
          <p:nvPr/>
        </p:nvSpPr>
        <p:spPr>
          <a:xfrm>
            <a:off x="6208756" y="6054923"/>
            <a:ext cx="5228201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Adversarial examples, prompt injection, data poisoning, and model extraction introduce novel failure modes in safety-critical autonomous driving systems.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6136"/>
            <a:ext cx="416609" cy="117277"/>
          </a:xfrm>
          <a:prstGeom prst="roundRect">
            <a:avLst>
              <a:gd name="adj" fmla="val 7906"/>
            </a:avLst>
          </a:prstGeom>
          <a:solidFill>
            <a:srgbClr val="CCFF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07809" y="539254"/>
            <a:ext cx="933526" cy="7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2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1116679" y="539254"/>
            <a:ext cx="1155671" cy="71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</a:t>
            </a:r>
            <a:endParaRPr lang="en-US" sz="450" dirty="0"/>
          </a:p>
        </p:txBody>
      </p:sp>
      <p:sp>
        <p:nvSpPr>
          <p:cNvPr id="5" name="Text 3"/>
          <p:cNvSpPr/>
          <p:nvPr/>
        </p:nvSpPr>
        <p:spPr>
          <a:xfrm>
            <a:off x="661475" y="647799"/>
            <a:ext cx="10868745" cy="241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 of Cyber Incidents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1475" y="943273"/>
            <a:ext cx="10868745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automotive ecosystem experienced a dramatic cost escalation in 2024, with total estimated impact reaching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$22.5 billion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76% year-over-year increase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This growth substantially exceeds general cyber risk trends, driven by connected vehicle proliferation, manufacturing digitization, and supply chain complexity.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661475" y="1178719"/>
            <a:ext cx="10868745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Industry-Wide Impact Breakdown (2024)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66552"/>
            <a:ext cx="4117574" cy="22391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7068" y="1505148"/>
            <a:ext cx="311162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$22.5B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749286" y="1875929"/>
            <a:ext cx="4787185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2024 Impact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749286" y="2032595"/>
            <a:ext cx="4787185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+76% year-over-year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587068" y="2234009"/>
            <a:ext cx="311162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89%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749286" y="2604790"/>
            <a:ext cx="4787185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Leakage Share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749286" y="2761456"/>
            <a:ext cx="4787185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Dominant cost driver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7587068" y="2962870"/>
            <a:ext cx="3111621" cy="30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+111%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749286" y="3333651"/>
            <a:ext cx="4787185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Downtime Cost Growth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749286" y="3490317"/>
            <a:ext cx="4787185" cy="90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Operational targeting surge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661475" y="3800376"/>
            <a:ext cx="10868745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Cost Breakdown by Category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1475" y="4047629"/>
            <a:ext cx="10868745" cy="478036"/>
          </a:xfrm>
          <a:prstGeom prst="roundRect">
            <a:avLst>
              <a:gd name="adj" fmla="val 242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661475" y="4047629"/>
            <a:ext cx="3622882" cy="478036"/>
          </a:xfrm>
          <a:custGeom>
            <a:avLst/>
            <a:gdLst/>
            <a:ahLst/>
            <a:cxnLst/>
            <a:rect l="l" t="t" r="r" b="b"/>
            <a:pathLst>
              <a:path w="3622882" h="478036">
                <a:moveTo>
                  <a:pt x="9659" y="0"/>
                </a:moveTo>
                <a:lnTo>
                  <a:pt x="3622882" y="0"/>
                </a:lnTo>
                <a:lnTo>
                  <a:pt x="3622882" y="478036"/>
                </a:lnTo>
                <a:lnTo>
                  <a:pt x="9659" y="478036"/>
                </a:lnTo>
                <a:arcTo wR="9659" hR="9659" stAng="5400000" swAng="5400000"/>
                <a:lnTo>
                  <a:pt x="0" y="9659"/>
                </a:lnTo>
                <a:arcTo wR="9659" hR="9659" stAng="10800000" swAng="5400000"/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738665" y="4124821"/>
            <a:ext cx="3468502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Direct Costs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738665" y="4267101"/>
            <a:ext cx="3468502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disruption: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$3.26M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(59%). Detection &amp; response: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$1.44M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(28%). Regulatory fines: ~$0.53M. Ransom payments: $5.08M avg when paid.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4284357" y="4047629"/>
            <a:ext cx="3622882" cy="478036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4284357" y="4047629"/>
            <a:ext cx="12700" cy="47803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4361547" y="4124821"/>
            <a:ext cx="3468502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Indirect Costs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361547" y="4267101"/>
            <a:ext cx="3468502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Supply chain penalties: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£127M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(JLR). Supplier financing: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£156M + £1.5B guarantee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Customer compensation, insurance premium increases, long-term market share loss.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7907239" y="4047629"/>
            <a:ext cx="3622882" cy="478036"/>
          </a:xfrm>
          <a:custGeom>
            <a:avLst/>
            <a:gdLst/>
            <a:ahLst/>
            <a:cxnLst/>
            <a:rect l="l" t="t" r="r" b="b"/>
            <a:pathLst>
              <a:path w="3622882" h="478036">
                <a:moveTo>
                  <a:pt x="0" y="0"/>
                </a:moveTo>
                <a:lnTo>
                  <a:pt x="3613223" y="0"/>
                </a:lnTo>
                <a:arcTo wR="9659" hR="9659" stAng="16200000" swAng="5400000"/>
                <a:lnTo>
                  <a:pt x="3622882" y="468377"/>
                </a:lnTo>
                <a:arcTo wR="9659" hR="9659" stAng="0" swAng="5400000"/>
                <a:lnTo>
                  <a:pt x="0" y="478036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7907239" y="4047629"/>
            <a:ext cx="12700" cy="47803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7984429" y="4124821"/>
            <a:ext cx="3468502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Automotive-Specific Drivers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984429" y="4267101"/>
            <a:ext cx="3468502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shutdown: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~£50M/week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Vehicle recall: $500M–$1B per campaign. Engineering security overhead: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10–15%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No substitution for fixed-cost manufacturing.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61475" y="4579739"/>
            <a:ext cx="10868745" cy="19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Average Breach Cost: Automotive vs. All Industries (2025)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4826992"/>
          <a:ext cx="10868746" cy="1173136"/>
        </p:xfrm>
        <a:graphic>
          <a:graphicData uri="http://schemas.openxmlformats.org/drawingml/2006/table">
            <a:tbl>
              <a:tblPr/>
              <a:tblGrid>
                <a:gridCol w="3043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1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Sector / Region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Average Cost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vs. Global Average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Source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Global Average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$4.44M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Baseline (−9% YoY)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IBM 2025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Manufacturing / Automotive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~$5.00M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+12.6%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Industry est.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United States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$10.22M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+130%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IBM 2025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Healthcare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$7.42M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+67%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IBM 2025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6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Financial Services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$6.08M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+37%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IBM 2025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6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Germany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$4.03M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−9%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IBM 2025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66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United Kingdom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$4.14M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−7%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IBM 2025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77269" marR="77269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" name="Shape 29"/>
          <p:cNvSpPr/>
          <p:nvPr/>
        </p:nvSpPr>
        <p:spPr>
          <a:xfrm>
            <a:off x="661475" y="6053435"/>
            <a:ext cx="10868745" cy="288330"/>
          </a:xfrm>
          <a:prstGeom prst="roundRect">
            <a:avLst>
              <a:gd name="adj" fmla="val 4020"/>
            </a:avLst>
          </a:prstGeom>
          <a:solidFill>
            <a:srgbClr val="CCFF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65" y="6108700"/>
            <a:ext cx="96537" cy="7719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12393" y="6108700"/>
            <a:ext cx="10540637" cy="18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automotive sector's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12.6% premium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reflects structural factors unlikely to diminish: OT integration, IP value, and supply chain complexity. JLR's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£882M ($1.17B)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company-specific losses demonstrates that tail risk can be extreme — far exceeding any average. Composite automotive premium estimated at </a:t>
            </a:r>
            <a:r>
              <a:rPr lang="en-US" sz="6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+75–120% vs. pure IT</a:t>
            </a: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9552"/>
            <a:ext cx="534478" cy="150416"/>
          </a:xfrm>
          <a:prstGeom prst="roundRect">
            <a:avLst>
              <a:gd name="adj" fmla="val 7907"/>
            </a:avLst>
          </a:prstGeom>
          <a:solidFill>
            <a:srgbClr val="CCFF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20905" y="569218"/>
            <a:ext cx="1025202" cy="91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3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245462" y="569218"/>
            <a:ext cx="1527335" cy="91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WORST-CASE SCENARIOS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661475" y="713680"/>
            <a:ext cx="10868745" cy="309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Impact: Worst-Case Scenarios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1475" y="1112341"/>
            <a:ext cx="1147833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While historical data provides essential baselines, evolving threats and increasing connectivity create potential for incidents that </a:t>
            </a:r>
            <a:r>
              <a:rPr lang="en-US" sz="7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substantially exceed historical experience</a:t>
            </a: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Scenario analysis enables risk executives to evaluate tail risk exposure.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1475" y="1328142"/>
            <a:ext cx="10868745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CMC Severity Classification Framework</a:t>
            </a:r>
            <a:endParaRPr lang="en-US" sz="15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64891"/>
          <a:ext cx="10868745" cy="1264410"/>
        </p:xfrm>
        <a:graphic>
          <a:graphicData uri="http://schemas.openxmlformats.org/drawingml/2006/table">
            <a:tbl>
              <a:tblPr/>
              <a:tblGrid>
                <a:gridCol w="1304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4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4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7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Category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Impact Range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Characteristics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Automotive Relevance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7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&lt;£10M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Limited organizational impact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Routine incidents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7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£10M–£1B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Significant organizational impact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Major OEM, limited cascade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7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£1B–£5B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Severe, lasting economic effects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JLR demonstrated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7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£5B–£25B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National economic impact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Plausible near-term; multi-OEM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7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&gt;£25B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International systemic impact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National transportation paralysis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9106" marR="99106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1475" y="3031034"/>
            <a:ext cx="10868745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Catastrophic Scenario Modelling</a:t>
            </a:r>
            <a:endParaRPr lang="en-US" sz="15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67782"/>
            <a:ext cx="3583295" cy="11787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78809" y="3436243"/>
            <a:ext cx="1486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773192" y="3737074"/>
            <a:ext cx="3359860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Mass Fleet Immobilization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73192" y="3927574"/>
            <a:ext cx="3359860" cy="50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100,000+ connected vehicles compromised simultaneously. </a:t>
            </a:r>
            <a:r>
              <a:rPr lang="en-US" sz="7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Estimated impact: $40–115 billion</a:t>
            </a: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61% of 2025 incidents had potential to impact thousands to millions of assets. Vehicle-level ransomware demonstrated mid-2025.</a:t>
            </a:r>
            <a:endParaRPr lang="en-US" sz="7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4101" y="3367782"/>
            <a:ext cx="3583394" cy="11787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21435" y="3436243"/>
            <a:ext cx="1486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415818" y="3737074"/>
            <a:ext cx="3359959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Critical Infrastructure Integration Failure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415818" y="3927574"/>
            <a:ext cx="3359959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Coordinated EV charging attack exploiting grid integration. </a:t>
            </a:r>
            <a:r>
              <a:rPr lang="en-US" sz="7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Estimated impact: $5–15 billion</a:t>
            </a: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Tens of millions of V2G-capable vehicles by 2030 create sufficient aggregate power for grid destabilization.</a:t>
            </a:r>
            <a:endParaRPr lang="en-US" sz="7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6826" y="3367782"/>
            <a:ext cx="3583394" cy="11787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64161" y="3436243"/>
            <a:ext cx="1486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058544" y="3737074"/>
            <a:ext cx="3359959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Autonomous Vehicle Safety Compromise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8058544" y="3927574"/>
            <a:ext cx="3359959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Adversarial manipulation of AV perception and decision systems. </a:t>
            </a:r>
            <a:r>
              <a:rPr lang="en-US" sz="7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Estimated impact: $60–210 billion</a:t>
            </a: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Potential for permanent AV deployment halt. Adversarial examples demonstrated across all major perception modalities.</a:t>
            </a:r>
            <a:endParaRPr lang="en-US" sz="750" dirty="0"/>
          </a:p>
        </p:txBody>
      </p:sp>
      <p:sp>
        <p:nvSpPr>
          <p:cNvPr id="22" name="Text 16"/>
          <p:cNvSpPr/>
          <p:nvPr/>
        </p:nvSpPr>
        <p:spPr>
          <a:xfrm>
            <a:off x="661475" y="4635500"/>
            <a:ext cx="10868745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Long-Term Financial Consequences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590138" y="4972248"/>
            <a:ext cx="5456200" cy="863699"/>
          </a:xfrm>
          <a:prstGeom prst="roundRect">
            <a:avLst>
              <a:gd name="adj" fmla="val 1721"/>
            </a:avLst>
          </a:prstGeom>
          <a:solidFill>
            <a:srgbClr val="006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689156" y="5031581"/>
            <a:ext cx="5258165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Organizational Impact (JLR Evidence)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89156" y="5245795"/>
            <a:ext cx="5258165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Q2 FY26: </a:t>
            </a:r>
            <a:r>
              <a:rPr lang="en-US" sz="7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£485M pre-tax loss</a:t>
            </a: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vs. £398M profit prior year</a:t>
            </a:r>
            <a:endParaRPr lang="en-US" sz="750" dirty="0"/>
          </a:p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Q3 FY26: </a:t>
            </a:r>
            <a:r>
              <a:rPr lang="en-US" sz="7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43.3% wholesale volume decline</a:t>
            </a:r>
            <a:endParaRPr lang="en-US" sz="750" dirty="0"/>
          </a:p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YTD FY26: </a:t>
            </a:r>
            <a:r>
              <a:rPr lang="en-US" sz="7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£444M cumulative loss</a:t>
            </a: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vs. £1.6B profit prior year</a:t>
            </a:r>
            <a:endParaRPr lang="en-US" sz="750" dirty="0"/>
          </a:p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financial recovery extends well beyond operational recovery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6223043" y="5031581"/>
            <a:ext cx="5313527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Systemic &amp; Macroeconomic Effects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223043" y="5245795"/>
            <a:ext cx="5313527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GDP impact: </a:t>
            </a:r>
            <a:r>
              <a:rPr lang="en-US" sz="7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−0.17 percentage points</a:t>
            </a: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(Bank of England)</a:t>
            </a:r>
            <a:endParaRPr lang="en-US" sz="750" dirty="0"/>
          </a:p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7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104,000+ supply chain jobs</a:t>
            </a: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at risk</a:t>
            </a:r>
            <a:endParaRPr lang="en-US" sz="750" dirty="0"/>
          </a:p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Government intervention: </a:t>
            </a:r>
            <a:r>
              <a:rPr lang="en-US" sz="7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£1.5B loan guarantee</a:t>
            </a:r>
            <a:endParaRPr lang="en-US" sz="750" dirty="0"/>
          </a:p>
          <a:p>
            <a:pPr marL="152400" indent="-152400" algn="l">
              <a:lnSpc>
                <a:spcPct val="1070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Insurance market: JLR reportedly underinsured; capacity contraction sector-wide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661475" y="5902722"/>
            <a:ext cx="10868745" cy="415727"/>
          </a:xfrm>
          <a:prstGeom prst="roundRect">
            <a:avLst>
              <a:gd name="adj" fmla="val 3576"/>
            </a:avLst>
          </a:prstGeom>
          <a:solidFill>
            <a:srgbClr val="CCFF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93" y="5988943"/>
            <a:ext cx="123822" cy="990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83332" y="5986760"/>
            <a:ext cx="1044787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Regulatory &amp; Legal Exposure:</a:t>
            </a: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Product liability for cyber-physical incidents is expanding. Class action litigation increasing in volume and settlement size. SEC/FCA disclosure requirements intensifying. Criminal executive liability emerging as a possibility for severe future incidents.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5880"/>
            <a:ext cx="362338" cy="102096"/>
          </a:xfrm>
          <a:prstGeom prst="roundRect">
            <a:avLst>
              <a:gd name="adj" fmla="val 7897"/>
            </a:avLst>
          </a:prstGeom>
          <a:solidFill>
            <a:srgbClr val="CCFF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01757" y="556022"/>
            <a:ext cx="891359" cy="6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4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1057348" y="556022"/>
            <a:ext cx="921521" cy="6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STUDY</a:t>
            </a:r>
            <a:endParaRPr lang="en-US" sz="400" dirty="0"/>
          </a:p>
        </p:txBody>
      </p:sp>
      <p:sp>
        <p:nvSpPr>
          <p:cNvPr id="5" name="Text 3"/>
          <p:cNvSpPr/>
          <p:nvPr/>
        </p:nvSpPr>
        <p:spPr>
          <a:xfrm>
            <a:off x="661475" y="648891"/>
            <a:ext cx="10868745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Case Study: Jaguar Land Rover Cyberattack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899716"/>
            <a:ext cx="11478330" cy="94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August – November 2025</a:t>
            </a:r>
            <a:r>
              <a:rPr lang="en-US" sz="6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The most financially damaging cyber event in UK history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61475" y="1035050"/>
            <a:ext cx="1086874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Attack Profile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32508" y="1274465"/>
          <a:ext cx="5903963" cy="1076960"/>
        </p:xfrm>
        <a:graphic>
          <a:graphicData uri="http://schemas.openxmlformats.org/drawingml/2006/table">
            <a:tbl>
              <a:tblPr/>
              <a:tblGrid>
                <a:gridCol w="2066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7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9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Detection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Late August 2025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9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Disclosure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September 2, 2025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9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Vector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Social engineering → IT network intrusion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9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Threat Actor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"Scattered Lapsus$ Hunters"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9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Response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Proactive global IT shutdown (Sep 1)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9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Shutdown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6 weeks complete production halt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9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Full Recovery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Mid-November 2025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09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CMC Rating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Category 3 — highest ever assigned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7190" marR="67190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32508" y="2285405"/>
            <a:ext cx="5903963" cy="151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scope: UK (Solihull, Halewood, Wolverhampton), Slovakia, China, India, Brazil all simultaneously affected. Forensic investigation revealed extensive system contamination with multiple restart setbacks in October.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661475" y="2501801"/>
            <a:ext cx="1086874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32554" y="2744093"/>
            <a:ext cx="1749480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£882M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61475" y="3019822"/>
            <a:ext cx="2691638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Company Impact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661475" y="3141166"/>
            <a:ext cx="2691638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$1.17B — excludes long-term effects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3858223" y="2744093"/>
            <a:ext cx="1749480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£1.9B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387144" y="3019822"/>
            <a:ext cx="2691638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UK Economic Impact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387144" y="3141166"/>
            <a:ext cx="2691638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$2.5B — CMC estimate; 5,000+ businesses affected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6583892" y="2744093"/>
            <a:ext cx="1749480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27%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112813" y="3019822"/>
            <a:ext cx="2691638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UK Car Production Decline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6112813" y="3141166"/>
            <a:ext cx="2691638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September 2025 — worst since 1952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9309562" y="2744093"/>
            <a:ext cx="1749580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£1.5B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838483" y="3019822"/>
            <a:ext cx="2691737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Government Loan Guarantee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8838483" y="3141166"/>
            <a:ext cx="2691737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UK Export Finance — supply chain stabilization</a:t>
            </a:r>
            <a:endParaRPr lang="en-US" sz="500" dirty="0"/>
          </a:p>
        </p:txBody>
      </p:sp>
      <p:sp>
        <p:nvSpPr>
          <p:cNvPr id="23" name="Text 20"/>
          <p:cNvSpPr/>
          <p:nvPr/>
        </p:nvSpPr>
        <p:spPr>
          <a:xfrm>
            <a:off x="762179" y="3277989"/>
            <a:ext cx="11377626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500" i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"With a cost of nearly £2 billion, this incident looks to have been by some distance, the single most financially damaging cyber event ever to hit the UK."</a:t>
            </a: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</a:t>
            </a:r>
            <a:r>
              <a:rPr lang="en-US" sz="5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Ciaran Martin</a:t>
            </a: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former CEO, National Cyber Security Centre</a:t>
            </a:r>
            <a:endParaRPr lang="en-US" sz="500" dirty="0"/>
          </a:p>
        </p:txBody>
      </p:sp>
      <p:sp>
        <p:nvSpPr>
          <p:cNvPr id="24" name="Shape 21"/>
          <p:cNvSpPr/>
          <p:nvPr/>
        </p:nvSpPr>
        <p:spPr>
          <a:xfrm>
            <a:off x="661475" y="3247330"/>
            <a:ext cx="6350" cy="136823"/>
          </a:xfrm>
          <a:prstGeom prst="roundRect">
            <a:avLst>
              <a:gd name="adj" fmla="val 49999"/>
            </a:avLst>
          </a:prstGeom>
          <a:solidFill>
            <a:srgbClr val="006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61475" y="3425031"/>
            <a:ext cx="1086874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Operational Impact Timeline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092673" y="3633788"/>
            <a:ext cx="6350" cy="1748929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5900689" y="3899297"/>
            <a:ext cx="201508" cy="63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6070696" y="3877320"/>
            <a:ext cx="50303" cy="50304"/>
          </a:xfrm>
          <a:prstGeom prst="ellipse">
            <a:avLst/>
          </a:prstGeom>
          <a:solidFill>
            <a:srgbClr val="006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6"/>
          <p:cNvSpPr/>
          <p:nvPr/>
        </p:nvSpPr>
        <p:spPr>
          <a:xfrm>
            <a:off x="661475" y="3633788"/>
            <a:ext cx="5232864" cy="537468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728644" y="3700959"/>
            <a:ext cx="5098526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Late Aug 2025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28644" y="3822303"/>
            <a:ext cx="5098526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Intrusion detected. Anomalous activity and reconnaissance observed.</a:t>
            </a:r>
            <a:endParaRPr lang="en-US" sz="500" dirty="0"/>
          </a:p>
        </p:txBody>
      </p:sp>
      <p:sp>
        <p:nvSpPr>
          <p:cNvPr id="32" name="Shape 29"/>
          <p:cNvSpPr/>
          <p:nvPr/>
        </p:nvSpPr>
        <p:spPr>
          <a:xfrm>
            <a:off x="6089498" y="4222552"/>
            <a:ext cx="201508" cy="63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6070696" y="4200575"/>
            <a:ext cx="50303" cy="50304"/>
          </a:xfrm>
          <a:prstGeom prst="ellipse">
            <a:avLst/>
          </a:prstGeom>
          <a:solidFill>
            <a:srgbClr val="006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6297356" y="3957042"/>
            <a:ext cx="5232864" cy="537468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6364525" y="4024213"/>
            <a:ext cx="5098526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Sep 1, 2025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6364525" y="4145558"/>
            <a:ext cx="5098526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5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Global IT shutdown.</a:t>
            </a: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All production halted. ~5,000 vehicles/week lost.</a:t>
            </a:r>
            <a:endParaRPr lang="en-US" sz="500" dirty="0"/>
          </a:p>
        </p:txBody>
      </p:sp>
      <p:sp>
        <p:nvSpPr>
          <p:cNvPr id="37" name="Shape 34"/>
          <p:cNvSpPr/>
          <p:nvPr/>
        </p:nvSpPr>
        <p:spPr>
          <a:xfrm>
            <a:off x="5900689" y="4518521"/>
            <a:ext cx="201508" cy="63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6070696" y="4496544"/>
            <a:ext cx="50303" cy="50304"/>
          </a:xfrm>
          <a:prstGeom prst="ellipse">
            <a:avLst/>
          </a:prstGeom>
          <a:solidFill>
            <a:srgbClr val="006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661475" y="4253012"/>
            <a:ext cx="5232864" cy="537468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728644" y="4320183"/>
            <a:ext cx="5098526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Sep 28, 2025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728644" y="4441527"/>
            <a:ext cx="5098526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Government announces </a:t>
            </a:r>
            <a:r>
              <a:rPr lang="en-US" sz="5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£1.5B loan guarantee</a:t>
            </a: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supplier financing.</a:t>
            </a:r>
            <a:endParaRPr lang="en-US" sz="500" dirty="0"/>
          </a:p>
        </p:txBody>
      </p:sp>
      <p:sp>
        <p:nvSpPr>
          <p:cNvPr id="42" name="Shape 39"/>
          <p:cNvSpPr/>
          <p:nvPr/>
        </p:nvSpPr>
        <p:spPr>
          <a:xfrm>
            <a:off x="6089498" y="4814590"/>
            <a:ext cx="201508" cy="63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Shape 40"/>
          <p:cNvSpPr/>
          <p:nvPr/>
        </p:nvSpPr>
        <p:spPr>
          <a:xfrm>
            <a:off x="6070696" y="4792613"/>
            <a:ext cx="50303" cy="50304"/>
          </a:xfrm>
          <a:prstGeom prst="ellipse">
            <a:avLst/>
          </a:prstGeom>
          <a:solidFill>
            <a:srgbClr val="006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6297356" y="4549080"/>
            <a:ext cx="5232864" cy="537468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/>
          <p:nvPr/>
        </p:nvSpPr>
        <p:spPr>
          <a:xfrm>
            <a:off x="6364525" y="4616252"/>
            <a:ext cx="5098526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Oct 1–14, 2025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6364525" y="4737596"/>
            <a:ext cx="5098526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Phased restart attempts. </a:t>
            </a:r>
            <a:r>
              <a:rPr lang="en-US" sz="5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Multiple setbacks</a:t>
            </a: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system contamination.</a:t>
            </a:r>
            <a:endParaRPr lang="en-US" sz="500" dirty="0"/>
          </a:p>
        </p:txBody>
      </p:sp>
      <p:sp>
        <p:nvSpPr>
          <p:cNvPr id="47" name="Shape 44"/>
          <p:cNvSpPr/>
          <p:nvPr/>
        </p:nvSpPr>
        <p:spPr>
          <a:xfrm>
            <a:off x="5900689" y="5110659"/>
            <a:ext cx="201508" cy="63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6070696" y="5088682"/>
            <a:ext cx="50303" cy="50304"/>
          </a:xfrm>
          <a:prstGeom prst="ellipse">
            <a:avLst/>
          </a:prstGeom>
          <a:solidFill>
            <a:srgbClr val="0067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661475" y="4845149"/>
            <a:ext cx="5232864" cy="537468"/>
          </a:xfrm>
          <a:prstGeom prst="roundRect">
            <a:avLst>
              <a:gd name="adj" fmla="val 187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728644" y="4912320"/>
            <a:ext cx="5098526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Mid-Nov 2025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728644" y="5033665"/>
            <a:ext cx="5098526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4000"/>
              </a:lnSpc>
              <a:buNone/>
            </a:pPr>
            <a:r>
              <a:rPr lang="en-US" sz="5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Normal production restored.</a:t>
            </a: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Total duration: ~11 weeks detection to full restoration.</a:t>
            </a:r>
            <a:endParaRPr lang="en-US" sz="500" dirty="0"/>
          </a:p>
        </p:txBody>
      </p:sp>
      <p:sp>
        <p:nvSpPr>
          <p:cNvPr id="52" name="Text 49"/>
          <p:cNvSpPr/>
          <p:nvPr/>
        </p:nvSpPr>
        <p:spPr>
          <a:xfrm>
            <a:off x="661475" y="5423595"/>
            <a:ext cx="1086874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Lessons Learned</a:t>
            </a:r>
            <a:endParaRPr lang="en-US" sz="1050" dirty="0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632351"/>
            <a:ext cx="5420681" cy="331192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728644" y="5699522"/>
            <a:ext cx="5286342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IT/OT Convergence</a:t>
            </a:r>
            <a:endParaRPr lang="en-US" sz="650" dirty="0"/>
          </a:p>
        </p:txBody>
      </p:sp>
      <p:sp>
        <p:nvSpPr>
          <p:cNvPr id="55" name="Text 51"/>
          <p:cNvSpPr/>
          <p:nvPr/>
        </p:nvSpPr>
        <p:spPr>
          <a:xfrm>
            <a:off x="728644" y="5820866"/>
            <a:ext cx="5286342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Manufacturing dependent on IT for core functions — </a:t>
            </a:r>
            <a:r>
              <a:rPr lang="en-US" sz="5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single point of failure with no graceful degradation</a:t>
            </a: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Binary shutdown decision required.</a:t>
            </a:r>
            <a:endParaRPr lang="en-US" sz="500" dirty="0"/>
          </a:p>
        </p:txBody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9440" y="5632351"/>
            <a:ext cx="5420780" cy="331192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6176610" y="5699522"/>
            <a:ext cx="5286441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Supply Chain Cascade</a:t>
            </a:r>
            <a:endParaRPr lang="en-US" sz="650" dirty="0"/>
          </a:p>
        </p:txBody>
      </p:sp>
      <p:sp>
        <p:nvSpPr>
          <p:cNvPr id="58" name="Text 53"/>
          <p:cNvSpPr/>
          <p:nvPr/>
        </p:nvSpPr>
        <p:spPr>
          <a:xfrm>
            <a:off x="6176610" y="5820866"/>
            <a:ext cx="5286441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5,000+ organizations affected. </a:t>
            </a:r>
            <a:r>
              <a:rPr lang="en-US" sz="5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£156M supplier support + £1.5B government guarantee</a:t>
            </a: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required to prevent broader economic contagion.</a:t>
            </a:r>
            <a:endParaRPr lang="en-US" sz="500" dirty="0"/>
          </a:p>
        </p:txBody>
      </p:sp>
      <p:pic>
        <p:nvPicPr>
          <p:cNvPr id="5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990828"/>
            <a:ext cx="5420681" cy="331192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728644" y="6057999"/>
            <a:ext cx="5286342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Resilience Absence</a:t>
            </a:r>
            <a:endParaRPr lang="en-US" sz="650" dirty="0"/>
          </a:p>
        </p:txBody>
      </p:sp>
      <p:sp>
        <p:nvSpPr>
          <p:cNvPr id="61" name="Text 55"/>
          <p:cNvSpPr/>
          <p:nvPr/>
        </p:nvSpPr>
        <p:spPr>
          <a:xfrm>
            <a:off x="728644" y="6179344"/>
            <a:ext cx="5286342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manual fallback or parallel production capacity. Extended recovery with no operational alternatives. </a:t>
            </a:r>
            <a:r>
              <a:rPr lang="en-US" sz="5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Insurance coverage gap</a:t>
            </a: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at time of attack.</a:t>
            </a:r>
            <a:endParaRPr lang="en-US" sz="500" dirty="0"/>
          </a:p>
        </p:txBody>
      </p:sp>
      <p:pic>
        <p:nvPicPr>
          <p:cNvPr id="6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9440" y="5990828"/>
            <a:ext cx="5420780" cy="331192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6176610" y="6057999"/>
            <a:ext cx="5286441" cy="104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Strategic Imperatives</a:t>
            </a:r>
            <a:endParaRPr lang="en-US" sz="650" dirty="0"/>
          </a:p>
        </p:txBody>
      </p:sp>
      <p:sp>
        <p:nvSpPr>
          <p:cNvPr id="64" name="Text 57"/>
          <p:cNvSpPr/>
          <p:nvPr/>
        </p:nvSpPr>
        <p:spPr>
          <a:xfrm>
            <a:off x="6176610" y="6179344"/>
            <a:ext cx="5286441" cy="75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Board-level cyber governance. Zero-trust OT segmentation. Pre-negotiated government intervention frameworks. Structured supplier notification protocols.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6037"/>
            <a:ext cx="507491" cy="142776"/>
          </a:xfrm>
          <a:prstGeom prst="roundRect">
            <a:avLst>
              <a:gd name="adj" fmla="val 7906"/>
            </a:avLst>
          </a:prstGeom>
          <a:solidFill>
            <a:srgbClr val="CCFFF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17830" y="544215"/>
            <a:ext cx="1004366" cy="8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5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215995" y="544215"/>
            <a:ext cx="1839073" cy="8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 &amp; RECOMMENDATIONS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661475" y="680145"/>
            <a:ext cx="10868745" cy="29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Mitigation Strategies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1054199"/>
            <a:ext cx="11478330" cy="117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Evidence-based cybersecurity approaches for the automotive sector, with implementation metrics benchmarked against demonstrated incident costs — including the JLR reference case of </a:t>
            </a: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£50M/week</a:t>
            </a: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production downtime.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1475" y="1252339"/>
            <a:ext cx="10868745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Implementation Metrics Summary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567656"/>
          <a:ext cx="10868744" cy="1168572"/>
        </p:xfrm>
        <a:graphic>
          <a:graphicData uri="http://schemas.openxmlformats.org/drawingml/2006/table">
            <a:tbl>
              <a:tblPr/>
              <a:tblGrid>
                <a:gridCol w="217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4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42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47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Strategy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Effectiveness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Implementation Cost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ROI Timeline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ROI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Priority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7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Zero Trust IT/OT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60% risk reduction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$2–5M (mid-size OEM)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24 months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3:1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674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Critical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7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AI Threat Detection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25% incident reduction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$1–3M + $500K/yr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18 months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4:1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High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7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Supply Chain Security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40% supply chain risk reduction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$500K–1.5M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12 months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5:1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674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Critical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7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SSDLC / ISO 21434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50% vulnerability reduction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10–15% dev overhead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24 months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6:1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High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7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OT Resilience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70% downtime reduction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$5–15M (major facilities)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12 months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2:1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674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Critical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94067" marR="94067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1475" y="2809081"/>
            <a:ext cx="11478330" cy="117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Organizations with extensive AI-driven security achieved </a:t>
            </a: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80-day reduction in breach lifecycle</a:t>
            </a: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$1.9M average cost savings per incident (34% reduction)</a:t>
            </a: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compared to organizations without automation.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61475" y="3007221"/>
            <a:ext cx="10868745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Automotive-Specific Security Framework</a:t>
            </a:r>
            <a:endParaRPr lang="en-US" sz="14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322538"/>
            <a:ext cx="5434373" cy="376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5532" y="3752255"/>
            <a:ext cx="524625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Regulatory Foundation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55532" y="3931245"/>
            <a:ext cx="5246259" cy="235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UN R155/R156</a:t>
            </a: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mandatory for new vehicles. </a:t>
            </a: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ISO/SAE 21434</a:t>
            </a: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becoming procurement prerequisite. </a:t>
            </a: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EU Cyber Resilience Act</a:t>
            </a: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phased 2024–2027.</a:t>
            </a:r>
            <a:endParaRPr lang="en-US" sz="7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322538"/>
            <a:ext cx="5434373" cy="37623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89905" y="3752255"/>
            <a:ext cx="524625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Organizational Structure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189905" y="3931245"/>
            <a:ext cx="5246259" cy="235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CISO reporting to CEO. Vehicle Cybersecurity Director under CTO. Manufacturing Security Manager. Supply Chain Security Coordinator.</a:t>
            </a:r>
            <a:endParaRPr lang="en-US" sz="7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261247"/>
            <a:ext cx="5434373" cy="3762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55532" y="4690963"/>
            <a:ext cx="524625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Technical Controls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55532" y="4869954"/>
            <a:ext cx="5246259" cy="235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Vehicle: secure boot, HSMs, signed firmware, IDS. Manufacturing: IT/OT micro-segmentation, air-gapped backups. Enterprise: zero trust, EDR/XDR, SOAR.</a:t>
            </a:r>
            <a:endParaRPr lang="en-US" sz="7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261247"/>
            <a:ext cx="5434373" cy="37623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89905" y="4690963"/>
            <a:ext cx="5246259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Operational Processes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189905" y="4869954"/>
            <a:ext cx="5246259" cy="235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OT-specific incident playbooks. Annual business continuity testing. Continuous pen testing &amp; bug bounty. Auto-ISAC membership &amp; threat intelligence.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661475" y="5280124"/>
            <a:ext cx="10868745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Bank-Specific Risk Mitigation Recommendations</a:t>
            </a:r>
            <a:endParaRPr lang="en-US" sz="14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595441"/>
            <a:ext cx="3587263" cy="74642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19030" y="5702201"/>
            <a:ext cx="3322951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Client Due Diligence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819030" y="5881191"/>
            <a:ext cx="3322951" cy="35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 ISO/SAE 21434 compliance, IT/OT segmentation maturity, cyber insurance adequacy, and supply chain risk management. </a:t>
            </a: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Critical finding from JLR:</a:t>
            </a: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 active cyber insurance policy at time of attack.</a:t>
            </a:r>
            <a:endParaRPr lang="en-US" sz="7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2216" y="5595441"/>
            <a:ext cx="3587263" cy="74642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459771" y="5702201"/>
            <a:ext cx="3322951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Loan &amp; Credit Risk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4459771" y="5881191"/>
            <a:ext cx="3322951" cy="35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 risk covenants with incident reporting requirements. Supply chain financing concentration limits. </a:t>
            </a: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Stress testing for Category 3+ scenarios</a:t>
            </a: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cascade multiplier effects and extended recovery timelines.</a:t>
            </a:r>
            <a:endParaRPr lang="en-US" sz="7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42957" y="5595441"/>
            <a:ext cx="3587263" cy="746423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100512" y="5702201"/>
            <a:ext cx="3322951" cy="146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Investment &amp; Portfolio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8100512" y="5881191"/>
            <a:ext cx="3322951" cy="35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Cybersecurity as ESG governance factor. Valuation adjustments for cyber risk in DCF models. </a:t>
            </a:r>
            <a:r>
              <a:rPr lang="en-US" sz="7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Active engagement on board-level cyber accountability</a:t>
            </a: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Supply chain tier diversification in portfolio construction.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4981"/>
            <a:ext cx="1136125" cy="163413"/>
          </a:xfrm>
          <a:prstGeom prst="roundRect">
            <a:avLst>
              <a:gd name="adj" fmla="val 7894"/>
            </a:avLst>
          </a:prstGeom>
          <a:solidFill>
            <a:srgbClr val="CCFFF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65" y="523677"/>
            <a:ext cx="85921" cy="85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4847" y="517227"/>
            <a:ext cx="1487847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 SUMMARY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475" y="676275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Takeaways for Risk Executives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61475" y="1117005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automotive sector's cybersecurity risk profile has </a:t>
            </a: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fundamentally transformed in 2025–2026</a:t>
            </a: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with four critical developments demanding immediate attention from EU-based financial institutions.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61475" y="1337469"/>
            <a:ext cx="241790" cy="241796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01707" y="1357561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73113" y="1374378"/>
            <a:ext cx="507907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Ransomware with OT Targeting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73113" y="1584127"/>
            <a:ext cx="507907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44% of incidents.</a:t>
            </a: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Direct vehicle compromise now demonstrated. Attackers optimized for disruption leverage — JLR lost </a:t>
            </a: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£50M/week</a:t>
            </a: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production.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139503" y="1337469"/>
            <a:ext cx="241790" cy="241796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179735" y="1357561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51141" y="1374378"/>
            <a:ext cx="507907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API-Centric Attack Surface Explosion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51141" y="1584127"/>
            <a:ext cx="507907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67% of incidents</a:t>
            </a: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involve telematics/cloud. AI integration expands vulnerability exponentially. Backend infrastructure now the </a:t>
            </a: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"primary weak points."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61475" y="2007592"/>
            <a:ext cx="241790" cy="241796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01707" y="202768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73113" y="2044502"/>
            <a:ext cx="507907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Supply Chain as Systemic Risk Vector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73113" y="2254250"/>
            <a:ext cx="507907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JLR's </a:t>
            </a: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£1.9B national economic impact</a:t>
            </a: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a single-company incident. Cascade through </a:t>
            </a: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5,000+ organizations</a:t>
            </a: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Government intervention now precedent.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39503" y="2007592"/>
            <a:ext cx="241790" cy="241796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179735" y="2027684"/>
            <a:ext cx="16122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51141" y="2044502"/>
            <a:ext cx="507907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Cyber Insurance Market Failure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51141" y="2254250"/>
            <a:ext cx="5079079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JLR's coverage gap illustrates sector-specific capacity constraints. </a:t>
            </a: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Risk transfer increasingly inadequate</a:t>
            </a: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operational technology exposure.</a:t>
            </a:r>
            <a:endParaRPr lang="en-US" sz="8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550" y="2616597"/>
            <a:ext cx="7064595" cy="353585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595364" y="4136628"/>
            <a:ext cx="1326796" cy="396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Low Regulatory Scrutiny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5303431" y="5851405"/>
            <a:ext cx="1587920" cy="19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Low Risk Exposure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262477" y="4136628"/>
            <a:ext cx="1326797" cy="396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High Regulatory Scrutiny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5299461" y="2761719"/>
            <a:ext cx="1587921" cy="19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High Risk Exposure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43214" y="5027871"/>
            <a:ext cx="1362083" cy="39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Stress testing Category 3+ scenarios with supply chain multipliers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413432" y="5034928"/>
            <a:ext cx="1362083" cy="39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Board-level cyber accountability as an ESG governance priority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413432" y="3729272"/>
            <a:ext cx="1362083" cy="39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Sectoral concentration limits to curb systemic risk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500869" y="3598265"/>
            <a:ext cx="1362083" cy="65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Mandatory cybersecurity due diligence (IT/OT segmentation, insurance, supply chain)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61475" y="6231037"/>
            <a:ext cx="1147833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Investment priority:</a:t>
            </a: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Zero-trust IT/OT segmentation and supply chain security programs demonstrate </a:t>
            </a: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3–5:1 ROI</a:t>
            </a: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payback periods under 24 months when benchmarked against demonstrated incident costs.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2158</Words>
  <Application>Microsoft Office PowerPoint</Application>
  <PresentationFormat>Widescreen</PresentationFormat>
  <Paragraphs>312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Heebo Bold</vt:lpstr>
      <vt:lpstr>Crimson Pro SemiBold</vt:lpstr>
      <vt:lpstr>Arial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Pagna Disso, Jules</cp:lastModifiedBy>
  <cp:revision>1</cp:revision>
  <dcterms:created xsi:type="dcterms:W3CDTF">2026-09-09T21:17:33Z</dcterms:created>
  <dcterms:modified xsi:type="dcterms:W3CDTF">2026-09-09T21:25:04Z</dcterms:modified>
</cp:coreProperties>
</file>