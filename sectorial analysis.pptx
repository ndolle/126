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7487900" cy="8153400"/>
  <p:notesSz cx="6858000" cy="9144000"/>
  <p:embeddedFontLst>
    <p:embeddedFont>
      <p:font typeface="Alatsi" panose="020B0604020202020204" charset="0"/>
      <p:regular r:id="rId4"/>
    </p:embeddedFont>
    <p:embeddedFont>
      <p:font typeface="Roboto Condensed" panose="02000000000000000000" pitchFamily="2" charset="0"/>
      <p:regular r:id="rId5"/>
      <p:bold r:id="rId6"/>
      <p:italic r:id="rId7"/>
      <p:boldItalic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513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6" d="100"/>
          <a:sy n="66" d="100"/>
        </p:scale>
        <p:origin x="20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8E75B-70E9-4A86-ADB4-F4DD310B279F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" y="1143000"/>
            <a:ext cx="6616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B5AB2-0591-4F6C-8122-50FAD6FC287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9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EB5AB2-0591-4F6C-8122-50FAD6FC287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54627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7487900" cy="8162925"/>
          </a:xfrm>
          <a:custGeom>
            <a:avLst/>
            <a:gdLst/>
            <a:ahLst/>
            <a:cxnLst/>
            <a:rect l="l" t="t" r="r" b="b"/>
            <a:pathLst>
              <a:path w="17487900" h="8162925">
                <a:moveTo>
                  <a:pt x="0" y="0"/>
                </a:moveTo>
                <a:lnTo>
                  <a:pt x="17487900" y="0"/>
                </a:lnTo>
                <a:lnTo>
                  <a:pt x="17487900" y="8162925"/>
                </a:lnTo>
                <a:lnTo>
                  <a:pt x="0" y="81629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 dirty="0"/>
          </a:p>
        </p:txBody>
      </p:sp>
      <p:sp>
        <p:nvSpPr>
          <p:cNvPr id="3" name="Freeform 3"/>
          <p:cNvSpPr/>
          <p:nvPr/>
        </p:nvSpPr>
        <p:spPr>
          <a:xfrm>
            <a:off x="4933950" y="361950"/>
            <a:ext cx="771525" cy="381000"/>
          </a:xfrm>
          <a:custGeom>
            <a:avLst/>
            <a:gdLst/>
            <a:ahLst/>
            <a:cxnLst/>
            <a:rect l="l" t="t" r="r" b="b"/>
            <a:pathLst>
              <a:path w="771525" h="381000">
                <a:moveTo>
                  <a:pt x="0" y="0"/>
                </a:moveTo>
                <a:lnTo>
                  <a:pt x="771525" y="0"/>
                </a:lnTo>
                <a:lnTo>
                  <a:pt x="7715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349758" y="303282"/>
            <a:ext cx="12696215" cy="473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8"/>
              </a:lnSpc>
            </a:pPr>
            <a:r>
              <a:rPr lang="en-US" sz="3648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Sectoral Cyber Analysis — Standard Structure Across 22 Sectors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49758" y="990393"/>
            <a:ext cx="13745489" cy="235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69"/>
              </a:lnSpc>
            </a:pPr>
            <a:r>
              <a:rPr lang="en-US" sz="1769">
                <a:solidFill>
                  <a:srgbClr val="73737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Each sector deck follows the same framework, providing Senior Corporate Officers with a consistent sector lens alongside the client cyber questionnaire.</a:t>
            </a:r>
          </a:p>
        </p:txBody>
      </p:sp>
      <p:sp>
        <p:nvSpPr>
          <p:cNvPr id="6" name="Freeform 6"/>
          <p:cNvSpPr/>
          <p:nvPr/>
        </p:nvSpPr>
        <p:spPr>
          <a:xfrm>
            <a:off x="180975" y="1666875"/>
            <a:ext cx="3629025" cy="190500"/>
          </a:xfrm>
          <a:custGeom>
            <a:avLst/>
            <a:gdLst/>
            <a:ahLst/>
            <a:cxnLst/>
            <a:rect l="l" t="t" r="r" b="b"/>
            <a:pathLst>
              <a:path w="3629025" h="190500">
                <a:moveTo>
                  <a:pt x="0" y="0"/>
                </a:moveTo>
                <a:lnTo>
                  <a:pt x="3629025" y="0"/>
                </a:lnTo>
                <a:lnTo>
                  <a:pt x="3629025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3759898" y="1659752"/>
            <a:ext cx="4844148" cy="235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9"/>
              </a:lnSpc>
            </a:pPr>
            <a:r>
              <a:rPr lang="en-US" sz="176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STANDARD STRUCTURE OF EVERY SECTOR DECK</a:t>
            </a:r>
          </a:p>
        </p:txBody>
      </p:sp>
      <p:sp>
        <p:nvSpPr>
          <p:cNvPr id="8" name="Freeform 8"/>
          <p:cNvSpPr/>
          <p:nvPr/>
        </p:nvSpPr>
        <p:spPr>
          <a:xfrm>
            <a:off x="8553450" y="1666875"/>
            <a:ext cx="3238500" cy="190500"/>
          </a:xfrm>
          <a:custGeom>
            <a:avLst/>
            <a:gdLst/>
            <a:ahLst/>
            <a:cxnLst/>
            <a:rect l="l" t="t" r="r" b="b"/>
            <a:pathLst>
              <a:path w="3238500" h="190500">
                <a:moveTo>
                  <a:pt x="0" y="0"/>
                </a:moveTo>
                <a:lnTo>
                  <a:pt x="3238500" y="0"/>
                </a:lnTo>
                <a:lnTo>
                  <a:pt x="32385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80975" y="2219325"/>
            <a:ext cx="2295525" cy="3533775"/>
          </a:xfrm>
          <a:custGeom>
            <a:avLst/>
            <a:gdLst/>
            <a:ahLst/>
            <a:cxnLst/>
            <a:rect l="l" t="t" r="r" b="b"/>
            <a:pathLst>
              <a:path w="2295525" h="3533775">
                <a:moveTo>
                  <a:pt x="0" y="0"/>
                </a:moveTo>
                <a:lnTo>
                  <a:pt x="2295525" y="0"/>
                </a:lnTo>
                <a:lnTo>
                  <a:pt x="2295525" y="3533775"/>
                </a:lnTo>
                <a:lnTo>
                  <a:pt x="0" y="35337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1133475" y="2038350"/>
            <a:ext cx="581025" cy="561975"/>
          </a:xfrm>
          <a:custGeom>
            <a:avLst/>
            <a:gdLst/>
            <a:ahLst/>
            <a:cxnLst/>
            <a:rect l="l" t="t" r="r" b="b"/>
            <a:pathLst>
              <a:path w="581025" h="561975">
                <a:moveTo>
                  <a:pt x="0" y="0"/>
                </a:moveTo>
                <a:lnTo>
                  <a:pt x="581025" y="0"/>
                </a:lnTo>
                <a:lnTo>
                  <a:pt x="58102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>
            <a:off x="942975" y="2590800"/>
            <a:ext cx="771525" cy="942975"/>
          </a:xfrm>
          <a:custGeom>
            <a:avLst/>
            <a:gdLst/>
            <a:ahLst/>
            <a:cxnLst/>
            <a:rect l="l" t="t" r="r" b="b"/>
            <a:pathLst>
              <a:path w="771525" h="942975">
                <a:moveTo>
                  <a:pt x="0" y="0"/>
                </a:moveTo>
                <a:lnTo>
                  <a:pt x="771525" y="0"/>
                </a:lnTo>
                <a:lnTo>
                  <a:pt x="7715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TextBox 12"/>
          <p:cNvSpPr txBox="1"/>
          <p:nvPr/>
        </p:nvSpPr>
        <p:spPr>
          <a:xfrm>
            <a:off x="856907" y="3709309"/>
            <a:ext cx="1031786" cy="45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9"/>
              </a:lnSpc>
            </a:pPr>
            <a:r>
              <a:rPr lang="en-US" sz="176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Threat</a:t>
            </a:r>
          </a:p>
          <a:p>
            <a:pPr algn="ctr">
              <a:lnSpc>
                <a:spcPts val="1769"/>
              </a:lnSpc>
            </a:pPr>
            <a:r>
              <a:rPr lang="en-US" sz="176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Landscape</a:t>
            </a:r>
          </a:p>
        </p:txBody>
      </p:sp>
      <p:sp>
        <p:nvSpPr>
          <p:cNvPr id="13" name="Freeform 13"/>
          <p:cNvSpPr/>
          <p:nvPr/>
        </p:nvSpPr>
        <p:spPr>
          <a:xfrm>
            <a:off x="371475" y="4257675"/>
            <a:ext cx="1914525" cy="200025"/>
          </a:xfrm>
          <a:custGeom>
            <a:avLst/>
            <a:gdLst/>
            <a:ahLst/>
            <a:cxnLst/>
            <a:rect l="l" t="t" r="r" b="b"/>
            <a:pathLst>
              <a:path w="1914525" h="200025">
                <a:moveTo>
                  <a:pt x="0" y="0"/>
                </a:moveTo>
                <a:lnTo>
                  <a:pt x="1914525" y="0"/>
                </a:lnTo>
                <a:lnTo>
                  <a:pt x="1914525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4" name="TextBox 14"/>
          <p:cNvSpPr txBox="1"/>
          <p:nvPr/>
        </p:nvSpPr>
        <p:spPr>
          <a:xfrm>
            <a:off x="524637" y="4551455"/>
            <a:ext cx="1696326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40"/>
              </a:lnSpc>
            </a:pPr>
            <a:r>
              <a:rPr lang="en-US" sz="1450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Key sector cyber threats, attack patterns and threat trends</a:t>
            </a:r>
          </a:p>
        </p:txBody>
      </p:sp>
      <p:sp>
        <p:nvSpPr>
          <p:cNvPr id="15" name="Freeform 15"/>
          <p:cNvSpPr/>
          <p:nvPr/>
        </p:nvSpPr>
        <p:spPr>
          <a:xfrm>
            <a:off x="2657475" y="2219325"/>
            <a:ext cx="2286000" cy="3533775"/>
          </a:xfrm>
          <a:custGeom>
            <a:avLst/>
            <a:gdLst/>
            <a:ahLst/>
            <a:cxnLst/>
            <a:rect l="l" t="t" r="r" b="b"/>
            <a:pathLst>
              <a:path w="2286000" h="3533775">
                <a:moveTo>
                  <a:pt x="0" y="0"/>
                </a:moveTo>
                <a:lnTo>
                  <a:pt x="2286000" y="0"/>
                </a:lnTo>
                <a:lnTo>
                  <a:pt x="2286000" y="3533775"/>
                </a:lnTo>
                <a:lnTo>
                  <a:pt x="0" y="3533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6" name="Freeform 16"/>
          <p:cNvSpPr/>
          <p:nvPr/>
        </p:nvSpPr>
        <p:spPr>
          <a:xfrm>
            <a:off x="3419475" y="2038350"/>
            <a:ext cx="581025" cy="561975"/>
          </a:xfrm>
          <a:custGeom>
            <a:avLst/>
            <a:gdLst/>
            <a:ahLst/>
            <a:cxnLst/>
            <a:rect l="l" t="t" r="r" b="b"/>
            <a:pathLst>
              <a:path w="581025" h="561975">
                <a:moveTo>
                  <a:pt x="0" y="0"/>
                </a:moveTo>
                <a:lnTo>
                  <a:pt x="581025" y="0"/>
                </a:lnTo>
                <a:lnTo>
                  <a:pt x="58102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7" name="Freeform 17"/>
          <p:cNvSpPr/>
          <p:nvPr/>
        </p:nvSpPr>
        <p:spPr>
          <a:xfrm>
            <a:off x="3228975" y="2590800"/>
            <a:ext cx="962025" cy="942975"/>
          </a:xfrm>
          <a:custGeom>
            <a:avLst/>
            <a:gdLst/>
            <a:ahLst/>
            <a:cxnLst/>
            <a:rect l="l" t="t" r="r" b="b"/>
            <a:pathLst>
              <a:path w="962025" h="942975">
                <a:moveTo>
                  <a:pt x="0" y="0"/>
                </a:moveTo>
                <a:lnTo>
                  <a:pt x="962025" y="0"/>
                </a:lnTo>
                <a:lnTo>
                  <a:pt x="9620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8"/>
          <p:cNvSpPr txBox="1"/>
          <p:nvPr/>
        </p:nvSpPr>
        <p:spPr>
          <a:xfrm>
            <a:off x="2868016" y="3719734"/>
            <a:ext cx="1818742" cy="433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8"/>
              </a:lnSpc>
            </a:pPr>
            <a:r>
              <a:rPr lang="en-US" sz="1698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Financial &amp; Operational Impact</a:t>
            </a:r>
          </a:p>
        </p:txBody>
      </p:sp>
      <p:sp>
        <p:nvSpPr>
          <p:cNvPr id="19" name="Freeform 19"/>
          <p:cNvSpPr/>
          <p:nvPr/>
        </p:nvSpPr>
        <p:spPr>
          <a:xfrm>
            <a:off x="2847975" y="4257675"/>
            <a:ext cx="1905000" cy="200025"/>
          </a:xfrm>
          <a:custGeom>
            <a:avLst/>
            <a:gdLst/>
            <a:ahLst/>
            <a:cxnLst/>
            <a:rect l="l" t="t" r="r" b="b"/>
            <a:pathLst>
              <a:path w="1905000" h="200025">
                <a:moveTo>
                  <a:pt x="0" y="0"/>
                </a:moveTo>
                <a:lnTo>
                  <a:pt x="1905000" y="0"/>
                </a:lnTo>
                <a:lnTo>
                  <a:pt x="190500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TextBox 20"/>
          <p:cNvSpPr txBox="1"/>
          <p:nvPr/>
        </p:nvSpPr>
        <p:spPr>
          <a:xfrm>
            <a:off x="2972943" y="4551455"/>
            <a:ext cx="1626375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3"/>
              </a:lnSpc>
            </a:pPr>
            <a:r>
              <a:rPr lang="en-US" sz="1486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Typical breach costs, disruption impact and recovery implications</a:t>
            </a:r>
          </a:p>
        </p:txBody>
      </p:sp>
      <p:sp>
        <p:nvSpPr>
          <p:cNvPr id="21" name="Freeform 21"/>
          <p:cNvSpPr/>
          <p:nvPr/>
        </p:nvSpPr>
        <p:spPr>
          <a:xfrm>
            <a:off x="5124450" y="2219325"/>
            <a:ext cx="2105025" cy="3533775"/>
          </a:xfrm>
          <a:custGeom>
            <a:avLst/>
            <a:gdLst/>
            <a:ahLst/>
            <a:cxnLst/>
            <a:rect l="l" t="t" r="r" b="b"/>
            <a:pathLst>
              <a:path w="2105025" h="3533775">
                <a:moveTo>
                  <a:pt x="0" y="0"/>
                </a:moveTo>
                <a:lnTo>
                  <a:pt x="2105025" y="0"/>
                </a:lnTo>
                <a:lnTo>
                  <a:pt x="2105025" y="3533775"/>
                </a:lnTo>
                <a:lnTo>
                  <a:pt x="0" y="3533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Freeform 22"/>
          <p:cNvSpPr/>
          <p:nvPr/>
        </p:nvSpPr>
        <p:spPr>
          <a:xfrm>
            <a:off x="5886450" y="2038350"/>
            <a:ext cx="581025" cy="561975"/>
          </a:xfrm>
          <a:custGeom>
            <a:avLst/>
            <a:gdLst/>
            <a:ahLst/>
            <a:cxnLst/>
            <a:rect l="l" t="t" r="r" b="b"/>
            <a:pathLst>
              <a:path w="581025" h="561975">
                <a:moveTo>
                  <a:pt x="0" y="0"/>
                </a:moveTo>
                <a:lnTo>
                  <a:pt x="581025" y="0"/>
                </a:lnTo>
                <a:lnTo>
                  <a:pt x="58102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3" name="Freeform 23"/>
          <p:cNvSpPr/>
          <p:nvPr/>
        </p:nvSpPr>
        <p:spPr>
          <a:xfrm>
            <a:off x="5695950" y="2590800"/>
            <a:ext cx="962025" cy="942975"/>
          </a:xfrm>
          <a:custGeom>
            <a:avLst/>
            <a:gdLst/>
            <a:ahLst/>
            <a:cxnLst/>
            <a:rect l="l" t="t" r="r" b="b"/>
            <a:pathLst>
              <a:path w="962025" h="942975">
                <a:moveTo>
                  <a:pt x="0" y="0"/>
                </a:moveTo>
                <a:lnTo>
                  <a:pt x="962025" y="0"/>
                </a:lnTo>
                <a:lnTo>
                  <a:pt x="9620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4" name="TextBox 24"/>
          <p:cNvSpPr txBox="1"/>
          <p:nvPr/>
        </p:nvSpPr>
        <p:spPr>
          <a:xfrm>
            <a:off x="5403761" y="3709309"/>
            <a:ext cx="1573911" cy="45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9"/>
              </a:lnSpc>
            </a:pPr>
            <a:r>
              <a:rPr lang="en-US" sz="176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Major Incident / Case Study</a:t>
            </a:r>
          </a:p>
        </p:txBody>
      </p:sp>
      <p:sp>
        <p:nvSpPr>
          <p:cNvPr id="25" name="Freeform 25"/>
          <p:cNvSpPr/>
          <p:nvPr/>
        </p:nvSpPr>
        <p:spPr>
          <a:xfrm>
            <a:off x="5314950" y="4257675"/>
            <a:ext cx="1724025" cy="200025"/>
          </a:xfrm>
          <a:custGeom>
            <a:avLst/>
            <a:gdLst/>
            <a:ahLst/>
            <a:cxnLst/>
            <a:rect l="l" t="t" r="r" b="b"/>
            <a:pathLst>
              <a:path w="1724025" h="200025">
                <a:moveTo>
                  <a:pt x="0" y="0"/>
                </a:moveTo>
                <a:lnTo>
                  <a:pt x="1724025" y="0"/>
                </a:lnTo>
                <a:lnTo>
                  <a:pt x="1724025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6" name="TextBox 26"/>
          <p:cNvSpPr txBox="1"/>
          <p:nvPr/>
        </p:nvSpPr>
        <p:spPr>
          <a:xfrm>
            <a:off x="5473713" y="4568442"/>
            <a:ext cx="1416520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3"/>
              </a:lnSpc>
            </a:pPr>
            <a:r>
              <a:rPr lang="en-US" sz="1486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Illustrative sector incident, business impact and lessons learned</a:t>
            </a:r>
          </a:p>
        </p:txBody>
      </p:sp>
      <p:sp>
        <p:nvSpPr>
          <p:cNvPr id="27" name="Freeform 27"/>
          <p:cNvSpPr/>
          <p:nvPr/>
        </p:nvSpPr>
        <p:spPr>
          <a:xfrm>
            <a:off x="7410450" y="2219325"/>
            <a:ext cx="2095500" cy="3533775"/>
          </a:xfrm>
          <a:custGeom>
            <a:avLst/>
            <a:gdLst/>
            <a:ahLst/>
            <a:cxnLst/>
            <a:rect l="l" t="t" r="r" b="b"/>
            <a:pathLst>
              <a:path w="2095500" h="3533775">
                <a:moveTo>
                  <a:pt x="0" y="0"/>
                </a:moveTo>
                <a:lnTo>
                  <a:pt x="2095500" y="0"/>
                </a:lnTo>
                <a:lnTo>
                  <a:pt x="2095500" y="3533775"/>
                </a:lnTo>
                <a:lnTo>
                  <a:pt x="0" y="353377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8" name="Freeform 28"/>
          <p:cNvSpPr/>
          <p:nvPr/>
        </p:nvSpPr>
        <p:spPr>
          <a:xfrm>
            <a:off x="8172450" y="2038350"/>
            <a:ext cx="571500" cy="561975"/>
          </a:xfrm>
          <a:custGeom>
            <a:avLst/>
            <a:gdLst/>
            <a:ahLst/>
            <a:cxnLst/>
            <a:rect l="l" t="t" r="r" b="b"/>
            <a:pathLst>
              <a:path w="571500" h="561975">
                <a:moveTo>
                  <a:pt x="0" y="0"/>
                </a:moveTo>
                <a:lnTo>
                  <a:pt x="571500" y="0"/>
                </a:lnTo>
                <a:lnTo>
                  <a:pt x="571500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9" name="Freeform 29"/>
          <p:cNvSpPr/>
          <p:nvPr/>
        </p:nvSpPr>
        <p:spPr>
          <a:xfrm>
            <a:off x="7981950" y="2590800"/>
            <a:ext cx="952500" cy="942975"/>
          </a:xfrm>
          <a:custGeom>
            <a:avLst/>
            <a:gdLst/>
            <a:ahLst/>
            <a:cxnLst/>
            <a:rect l="l" t="t" r="r" b="b"/>
            <a:pathLst>
              <a:path w="952500" h="942975">
                <a:moveTo>
                  <a:pt x="0" y="0"/>
                </a:moveTo>
                <a:lnTo>
                  <a:pt x="952500" y="0"/>
                </a:lnTo>
                <a:lnTo>
                  <a:pt x="952500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TextBox 30"/>
          <p:cNvSpPr txBox="1"/>
          <p:nvPr/>
        </p:nvSpPr>
        <p:spPr>
          <a:xfrm>
            <a:off x="7852067" y="3709309"/>
            <a:ext cx="1171689" cy="45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69"/>
              </a:lnSpc>
            </a:pPr>
            <a:r>
              <a:rPr lang="en-US" sz="176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Worst-Case Scenarios</a:t>
            </a:r>
          </a:p>
        </p:txBody>
      </p:sp>
      <p:sp>
        <p:nvSpPr>
          <p:cNvPr id="31" name="Freeform 31"/>
          <p:cNvSpPr/>
          <p:nvPr/>
        </p:nvSpPr>
        <p:spPr>
          <a:xfrm>
            <a:off x="7600950" y="4257675"/>
            <a:ext cx="1714500" cy="200025"/>
          </a:xfrm>
          <a:custGeom>
            <a:avLst/>
            <a:gdLst/>
            <a:ahLst/>
            <a:cxnLst/>
            <a:rect l="l" t="t" r="r" b="b"/>
            <a:pathLst>
              <a:path w="1714500" h="200025">
                <a:moveTo>
                  <a:pt x="0" y="0"/>
                </a:moveTo>
                <a:lnTo>
                  <a:pt x="1714500" y="0"/>
                </a:lnTo>
                <a:lnTo>
                  <a:pt x="1714500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2" name="TextBox 32"/>
          <p:cNvSpPr txBox="1"/>
          <p:nvPr/>
        </p:nvSpPr>
        <p:spPr>
          <a:xfrm>
            <a:off x="7659700" y="4587492"/>
            <a:ext cx="1573911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55"/>
              </a:lnSpc>
            </a:pPr>
            <a:r>
              <a:rPr lang="en-US" sz="1379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Severe sector-relevant cyber scenarios and likely business consequences</a:t>
            </a:r>
          </a:p>
        </p:txBody>
      </p:sp>
      <p:sp>
        <p:nvSpPr>
          <p:cNvPr id="33" name="Freeform 33"/>
          <p:cNvSpPr/>
          <p:nvPr/>
        </p:nvSpPr>
        <p:spPr>
          <a:xfrm>
            <a:off x="9686925" y="2219325"/>
            <a:ext cx="2105025" cy="3533775"/>
          </a:xfrm>
          <a:custGeom>
            <a:avLst/>
            <a:gdLst/>
            <a:ahLst/>
            <a:cxnLst/>
            <a:rect l="l" t="t" r="r" b="b"/>
            <a:pathLst>
              <a:path w="2105025" h="3533775">
                <a:moveTo>
                  <a:pt x="0" y="0"/>
                </a:moveTo>
                <a:lnTo>
                  <a:pt x="2105025" y="0"/>
                </a:lnTo>
                <a:lnTo>
                  <a:pt x="2105025" y="3533775"/>
                </a:lnTo>
                <a:lnTo>
                  <a:pt x="0" y="353377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4" name="Freeform 34"/>
          <p:cNvSpPr/>
          <p:nvPr/>
        </p:nvSpPr>
        <p:spPr>
          <a:xfrm>
            <a:off x="10448925" y="2038350"/>
            <a:ext cx="581025" cy="561975"/>
          </a:xfrm>
          <a:custGeom>
            <a:avLst/>
            <a:gdLst/>
            <a:ahLst/>
            <a:cxnLst/>
            <a:rect l="l" t="t" r="r" b="b"/>
            <a:pathLst>
              <a:path w="581025" h="561975">
                <a:moveTo>
                  <a:pt x="0" y="0"/>
                </a:moveTo>
                <a:lnTo>
                  <a:pt x="581025" y="0"/>
                </a:lnTo>
                <a:lnTo>
                  <a:pt x="58102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5" name="Freeform 35"/>
          <p:cNvSpPr/>
          <p:nvPr/>
        </p:nvSpPr>
        <p:spPr>
          <a:xfrm>
            <a:off x="10258425" y="2590800"/>
            <a:ext cx="962025" cy="942975"/>
          </a:xfrm>
          <a:custGeom>
            <a:avLst/>
            <a:gdLst/>
            <a:ahLst/>
            <a:cxnLst/>
            <a:rect l="l" t="t" r="r" b="b"/>
            <a:pathLst>
              <a:path w="962025" h="942975">
                <a:moveTo>
                  <a:pt x="0" y="0"/>
                </a:moveTo>
                <a:lnTo>
                  <a:pt x="962025" y="0"/>
                </a:lnTo>
                <a:lnTo>
                  <a:pt x="962025" y="942975"/>
                </a:lnTo>
                <a:lnTo>
                  <a:pt x="0" y="94297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6" name="TextBox 36"/>
          <p:cNvSpPr txBox="1"/>
          <p:nvPr/>
        </p:nvSpPr>
        <p:spPr>
          <a:xfrm>
            <a:off x="10212934" y="3719734"/>
            <a:ext cx="979322" cy="433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8"/>
              </a:lnSpc>
            </a:pPr>
            <a:r>
              <a:rPr lang="en-US" sz="1698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Mitigation Priorities</a:t>
            </a:r>
          </a:p>
        </p:txBody>
      </p:sp>
      <p:sp>
        <p:nvSpPr>
          <p:cNvPr id="37" name="Freeform 37"/>
          <p:cNvSpPr/>
          <p:nvPr/>
        </p:nvSpPr>
        <p:spPr>
          <a:xfrm>
            <a:off x="9877425" y="4257675"/>
            <a:ext cx="1724025" cy="200025"/>
          </a:xfrm>
          <a:custGeom>
            <a:avLst/>
            <a:gdLst/>
            <a:ahLst/>
            <a:cxnLst/>
            <a:rect l="l" t="t" r="r" b="b"/>
            <a:pathLst>
              <a:path w="1724025" h="200025">
                <a:moveTo>
                  <a:pt x="0" y="0"/>
                </a:moveTo>
                <a:lnTo>
                  <a:pt x="1724025" y="0"/>
                </a:lnTo>
                <a:lnTo>
                  <a:pt x="1724025" y="200025"/>
                </a:lnTo>
                <a:lnTo>
                  <a:pt x="0" y="20002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8" name="TextBox 38"/>
          <p:cNvSpPr txBox="1"/>
          <p:nvPr/>
        </p:nvSpPr>
        <p:spPr>
          <a:xfrm>
            <a:off x="9968103" y="4568442"/>
            <a:ext cx="1434008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40"/>
              </a:lnSpc>
            </a:pPr>
            <a:r>
              <a:rPr lang="en-US" sz="1450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Priority controls, frameworks and practical mitigation measures</a:t>
            </a:r>
          </a:p>
        </p:txBody>
      </p:sp>
      <p:sp>
        <p:nvSpPr>
          <p:cNvPr id="39" name="Freeform 39"/>
          <p:cNvSpPr/>
          <p:nvPr/>
        </p:nvSpPr>
        <p:spPr>
          <a:xfrm>
            <a:off x="2276475" y="2962275"/>
            <a:ext cx="581025" cy="381000"/>
          </a:xfrm>
          <a:custGeom>
            <a:avLst/>
            <a:gdLst/>
            <a:ahLst/>
            <a:cxnLst/>
            <a:rect l="l" t="t" r="r" b="b"/>
            <a:pathLst>
              <a:path w="581025" h="381000">
                <a:moveTo>
                  <a:pt x="0" y="0"/>
                </a:moveTo>
                <a:lnTo>
                  <a:pt x="581025" y="0"/>
                </a:lnTo>
                <a:lnTo>
                  <a:pt x="5810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0" name="Freeform 40"/>
          <p:cNvSpPr/>
          <p:nvPr/>
        </p:nvSpPr>
        <p:spPr>
          <a:xfrm>
            <a:off x="4743450" y="2962275"/>
            <a:ext cx="390525" cy="381000"/>
          </a:xfrm>
          <a:custGeom>
            <a:avLst/>
            <a:gdLst/>
            <a:ahLst/>
            <a:cxnLst/>
            <a:rect l="l" t="t" r="r" b="b"/>
            <a:pathLst>
              <a:path w="390525" h="381000">
                <a:moveTo>
                  <a:pt x="0" y="0"/>
                </a:moveTo>
                <a:lnTo>
                  <a:pt x="390525" y="0"/>
                </a:lnTo>
                <a:lnTo>
                  <a:pt x="3905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1" name="Freeform 41"/>
          <p:cNvSpPr/>
          <p:nvPr/>
        </p:nvSpPr>
        <p:spPr>
          <a:xfrm>
            <a:off x="7029450" y="2962275"/>
            <a:ext cx="581025" cy="381000"/>
          </a:xfrm>
          <a:custGeom>
            <a:avLst/>
            <a:gdLst/>
            <a:ahLst/>
            <a:cxnLst/>
            <a:rect l="l" t="t" r="r" b="b"/>
            <a:pathLst>
              <a:path w="581025" h="381000">
                <a:moveTo>
                  <a:pt x="0" y="0"/>
                </a:moveTo>
                <a:lnTo>
                  <a:pt x="581025" y="0"/>
                </a:lnTo>
                <a:lnTo>
                  <a:pt x="5810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2" name="Freeform 42"/>
          <p:cNvSpPr/>
          <p:nvPr/>
        </p:nvSpPr>
        <p:spPr>
          <a:xfrm>
            <a:off x="9305925" y="2962275"/>
            <a:ext cx="581025" cy="381000"/>
          </a:xfrm>
          <a:custGeom>
            <a:avLst/>
            <a:gdLst/>
            <a:ahLst/>
            <a:cxnLst/>
            <a:rect l="l" t="t" r="r" b="b"/>
            <a:pathLst>
              <a:path w="581025" h="381000">
                <a:moveTo>
                  <a:pt x="0" y="0"/>
                </a:moveTo>
                <a:lnTo>
                  <a:pt x="581025" y="0"/>
                </a:lnTo>
                <a:lnTo>
                  <a:pt x="5810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3" name="Freeform 43"/>
          <p:cNvSpPr/>
          <p:nvPr/>
        </p:nvSpPr>
        <p:spPr>
          <a:xfrm>
            <a:off x="349758" y="6026920"/>
            <a:ext cx="4762500" cy="1123950"/>
          </a:xfrm>
          <a:custGeom>
            <a:avLst/>
            <a:gdLst/>
            <a:ahLst/>
            <a:cxnLst/>
            <a:rect l="l" t="t" r="r" b="b"/>
            <a:pathLst>
              <a:path w="4762500" h="1123950">
                <a:moveTo>
                  <a:pt x="0" y="0"/>
                </a:moveTo>
                <a:lnTo>
                  <a:pt x="4762500" y="0"/>
                </a:lnTo>
                <a:lnTo>
                  <a:pt x="4762500" y="1123950"/>
                </a:lnTo>
                <a:lnTo>
                  <a:pt x="0" y="112395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4" name="TextBox 44"/>
          <p:cNvSpPr txBox="1"/>
          <p:nvPr/>
        </p:nvSpPr>
        <p:spPr>
          <a:xfrm>
            <a:off x="1364056" y="2191042"/>
            <a:ext cx="122415" cy="25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2"/>
              </a:lnSpc>
            </a:pPr>
            <a:r>
              <a:rPr lang="en-US" sz="1982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707435" y="2191042"/>
            <a:ext cx="157391" cy="25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2"/>
              </a:lnSpc>
            </a:pPr>
            <a:r>
              <a:rPr lang="en-US" sz="1982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068301" y="2191042"/>
            <a:ext cx="157391" cy="25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2"/>
              </a:lnSpc>
            </a:pPr>
            <a:r>
              <a:rPr lang="en-US" sz="1982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359216" y="2191042"/>
            <a:ext cx="157391" cy="25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2"/>
              </a:lnSpc>
            </a:pPr>
            <a:r>
              <a:rPr lang="en-US" sz="1982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615155" y="2191042"/>
            <a:ext cx="157391" cy="259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82"/>
              </a:lnSpc>
            </a:pPr>
            <a:r>
              <a:rPr lang="en-US" sz="1982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486361" y="1799185"/>
            <a:ext cx="4336999" cy="201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7"/>
              </a:lnSpc>
            </a:pPr>
            <a:r>
              <a:rPr lang="en-US" sz="1557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Why it complements the Cyber Risk Questionnaire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3045973" y="2448835"/>
            <a:ext cx="237835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1"/>
              </a:lnSpc>
            </a:pPr>
            <a:r>
              <a:rPr lang="en-US" sz="1592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Adds sector context to client questionnaire responses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3045973" y="3338593"/>
            <a:ext cx="278057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1"/>
              </a:lnSpc>
            </a:pPr>
            <a:r>
              <a:rPr lang="en-US" sz="1592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Helps Senior Corporate Officers interpret answers more effectively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3045973" y="4228352"/>
            <a:ext cx="3602507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1"/>
              </a:lnSpc>
            </a:pPr>
            <a:r>
              <a:rPr lang="en-US" sz="1592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Supports more informed client engagement and follow-up discussion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045973" y="5118111"/>
            <a:ext cx="278057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1"/>
              </a:lnSpc>
            </a:pPr>
            <a:r>
              <a:rPr lang="en-US" sz="1592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Highlights sector-relevant impact scenarios and red flags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3045973" y="6007870"/>
            <a:ext cx="3042895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1"/>
              </a:lnSpc>
            </a:pPr>
            <a:r>
              <a:rPr lang="en-US" sz="1592">
                <a:solidFill>
                  <a:srgbClr val="00492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Improves consistency across sectors and across client assessments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908734" y="6349061"/>
            <a:ext cx="1801254" cy="411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2"/>
              </a:lnSpc>
            </a:pPr>
            <a:r>
              <a:rPr lang="en-US" sz="1592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Cyber Questionnaire</a:t>
            </a:r>
          </a:p>
          <a:p>
            <a:pPr algn="l">
              <a:lnSpc>
                <a:spcPts val="1592"/>
              </a:lnSpc>
            </a:pPr>
            <a:r>
              <a:rPr lang="en-US" sz="1592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= client-specific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736031" y="6331845"/>
            <a:ext cx="1696326" cy="358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9"/>
              </a:lnSpc>
            </a:pPr>
            <a:r>
              <a:rPr lang="en-US" sz="137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Sector Analysis</a:t>
            </a:r>
          </a:p>
          <a:p>
            <a:pPr algn="l">
              <a:lnSpc>
                <a:spcPts val="1379"/>
              </a:lnSpc>
            </a:pPr>
            <a:r>
              <a:rPr lang="en-US" sz="1379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= sector-wide context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899802" y="6248896"/>
            <a:ext cx="437198" cy="566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2"/>
              </a:lnSpc>
            </a:pPr>
            <a:r>
              <a:rPr lang="en-US" sz="4322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+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817091" y="6248896"/>
            <a:ext cx="437198" cy="566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2"/>
              </a:lnSpc>
            </a:pPr>
            <a:r>
              <a:rPr lang="en-US" sz="4322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=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670809" y="6227588"/>
            <a:ext cx="1573911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lang="en-US" sz="1238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Together</a:t>
            </a:r>
          </a:p>
          <a:p>
            <a:pPr algn="l">
              <a:lnSpc>
                <a:spcPts val="1485"/>
              </a:lnSpc>
            </a:pPr>
            <a:r>
              <a:rPr lang="en-US" sz="1238">
                <a:solidFill>
                  <a:srgbClr val="00492C"/>
                </a:solidFill>
                <a:latin typeface="Alatsi"/>
                <a:ea typeface="Alatsi"/>
                <a:cs typeface="Alatsi"/>
                <a:sym typeface="Alatsi"/>
              </a:rPr>
              <a:t>= better interpretation and engagement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411510" y="7549679"/>
            <a:ext cx="9530906" cy="19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6"/>
              </a:lnSpc>
            </a:pPr>
            <a:r>
              <a:rPr lang="en-US" sz="1486" dirty="0">
                <a:solidFill>
                  <a:srgbClr val="FFFFFF"/>
                </a:solidFill>
                <a:latin typeface="Alatsi"/>
                <a:ea typeface="Alatsi"/>
                <a:cs typeface="Alatsi"/>
                <a:sym typeface="Alatsi"/>
              </a:rPr>
              <a:t>Applied consistently across 22 sectors to support repeatable, comparable and sector-informed client engagement.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6945775" y="7525517"/>
            <a:ext cx="17487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3"/>
              </a:lnSpc>
            </a:pPr>
            <a:r>
              <a:rPr lang="en-US" sz="1486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AEFE33B-5B8B-C2FA-4E30-9AA720F759A1}"/>
              </a:ext>
            </a:extLst>
          </p:cNvPr>
          <p:cNvSpPr/>
          <p:nvPr/>
        </p:nvSpPr>
        <p:spPr>
          <a:xfrm>
            <a:off x="11069477" y="7333114"/>
            <a:ext cx="6034056" cy="565818"/>
          </a:xfrm>
          <a:prstGeom prst="rect">
            <a:avLst/>
          </a:prstGeom>
          <a:solidFill>
            <a:srgbClr val="095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181</Words>
  <Application>Microsoft Office PowerPoint</Application>
  <PresentationFormat>Custom</PresentationFormat>
  <Paragraphs>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Alatsi</vt:lpstr>
      <vt:lpstr>Calibri</vt:lpstr>
      <vt:lpstr>Arial</vt:lpstr>
      <vt:lpstr>Roboto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Pagna Disso, Jules</cp:lastModifiedBy>
  <cp:revision>2</cp:revision>
  <dcterms:created xsi:type="dcterms:W3CDTF">2006-08-16T00:00:00Z</dcterms:created>
  <dcterms:modified xsi:type="dcterms:W3CDTF">2026-08-18T11:08:42Z</dcterms:modified>
  <dc:identifier>DAHSoZvDVbA</dc:identifier>
</cp:coreProperties>
</file>