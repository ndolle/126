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7487900" cy="8153400"/>
  <p:notesSz cx="6858000" cy="9144000"/>
  <p:embeddedFontLst>
    <p:embeddedFont>
      <p:font typeface="Alatsi" charset="1" panose="00000500000000000000"/>
      <p:regular r:id="rId7"/>
    </p:embeddedFont>
    <p:embeddedFont>
      <p:font typeface="Roboto Condensed" charset="1" panose="02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png" Type="http://schemas.openxmlformats.org/officeDocument/2006/relationships/image"/><Relationship Id="rId25" Target="../media/image24.png" Type="http://schemas.openxmlformats.org/officeDocument/2006/relationships/image"/><Relationship Id="rId26" Target="../media/image25.png" Type="http://schemas.openxmlformats.org/officeDocument/2006/relationships/image"/><Relationship Id="rId27" Target="../media/image26.png" Type="http://schemas.openxmlformats.org/officeDocument/2006/relationships/image"/><Relationship Id="rId28" Target="../media/image27.pn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87900" cy="8162925"/>
          </a:xfrm>
          <a:custGeom>
            <a:avLst/>
            <a:gdLst/>
            <a:ahLst/>
            <a:cxnLst/>
            <a:rect r="r" b="b" t="t" l="l"/>
            <a:pathLst>
              <a:path h="8162925" w="17487900">
                <a:moveTo>
                  <a:pt x="0" y="0"/>
                </a:moveTo>
                <a:lnTo>
                  <a:pt x="17487900" y="0"/>
                </a:lnTo>
                <a:lnTo>
                  <a:pt x="17487900" y="8162925"/>
                </a:lnTo>
                <a:lnTo>
                  <a:pt x="0" y="8162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33950" y="361950"/>
            <a:ext cx="771525" cy="381000"/>
          </a:xfrm>
          <a:custGeom>
            <a:avLst/>
            <a:gdLst/>
            <a:ahLst/>
            <a:cxnLst/>
            <a:rect r="r" b="b" t="t" l="l"/>
            <a:pathLst>
              <a:path h="381000" w="771525">
                <a:moveTo>
                  <a:pt x="0" y="0"/>
                </a:moveTo>
                <a:lnTo>
                  <a:pt x="771525" y="0"/>
                </a:lnTo>
                <a:lnTo>
                  <a:pt x="771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9758" y="303282"/>
            <a:ext cx="12696215" cy="47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3648">
                <a:solidFill>
                  <a:srgbClr val="00492C"/>
                </a:solidFill>
                <a:latin typeface="Alatsi"/>
                <a:ea typeface="Alatsi"/>
                <a:cs typeface="Alatsi"/>
                <a:sym typeface="Alatsi"/>
              </a:rPr>
              <a:t>Sectoral Cyber Analysis — Standard Structure Across 22 Sectors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9758" y="990393"/>
            <a:ext cx="13745489" cy="23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769">
                <a:solidFill>
                  <a:srgbClr val="73737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Each sector deck follows the same framework, providing Senior Corporate Officers with a consistent sector lens alongside the client cyber questionnaire.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80975" y="1666875"/>
            <a:ext cx="3629025" cy="190500"/>
          </a:xfrm>
          <a:custGeom>
            <a:avLst/>
            <a:gdLst/>
            <a:ahLst/>
            <a:cxnLst/>
            <a:rect r="r" b="b" t="t" l="l"/>
            <a:pathLst>
              <a:path h="190500" w="3629025">
                <a:moveTo>
                  <a:pt x="0" y="0"/>
                </a:moveTo>
                <a:lnTo>
                  <a:pt x="3629025" y="0"/>
                </a:lnTo>
                <a:lnTo>
                  <a:pt x="3629025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59898" y="1659752"/>
            <a:ext cx="4844148" cy="23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9"/>
              </a:lnSpc>
            </a:pPr>
            <a:r>
              <a:rPr lang="en-US" sz="1769">
                <a:solidFill>
                  <a:srgbClr val="00492C"/>
                </a:solidFill>
                <a:latin typeface="Alatsi"/>
                <a:ea typeface="Alatsi"/>
                <a:cs typeface="Alatsi"/>
                <a:sym typeface="Alatsi"/>
              </a:rPr>
              <a:t>STANDARD STRUCTURE OF EVERY SECTOR DECK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553450" y="1666875"/>
            <a:ext cx="3238500" cy="190500"/>
          </a:xfrm>
          <a:custGeom>
            <a:avLst/>
            <a:gdLst/>
            <a:ahLst/>
            <a:cxnLst/>
            <a:rect r="r" b="b" t="t" l="l"/>
            <a:pathLst>
              <a:path h="190500" w="3238500">
                <a:moveTo>
                  <a:pt x="0" y="0"/>
                </a:moveTo>
                <a:lnTo>
                  <a:pt x="3238500" y="0"/>
                </a:lnTo>
                <a:lnTo>
                  <a:pt x="3238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0975" y="2219325"/>
            <a:ext cx="2295525" cy="3533775"/>
          </a:xfrm>
          <a:custGeom>
            <a:avLst/>
            <a:gdLst/>
            <a:ahLst/>
            <a:cxnLst/>
            <a:rect r="r" b="b" t="t" l="l"/>
            <a:pathLst>
              <a:path h="3533775" w="2295525">
                <a:moveTo>
                  <a:pt x="0" y="0"/>
                </a:moveTo>
                <a:lnTo>
                  <a:pt x="2295525" y="0"/>
                </a:lnTo>
                <a:lnTo>
                  <a:pt x="2295525" y="3533775"/>
                </a:lnTo>
                <a:lnTo>
                  <a:pt x="0" y="3533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3475" y="2038350"/>
            <a:ext cx="581025" cy="561975"/>
          </a:xfrm>
          <a:custGeom>
            <a:avLst/>
            <a:gdLst/>
            <a:ahLst/>
            <a:cxnLst/>
            <a:rect r="r" b="b" t="t" l="l"/>
            <a:pathLst>
              <a:path h="561975" w="581025">
                <a:moveTo>
                  <a:pt x="0" y="0"/>
                </a:moveTo>
                <a:lnTo>
                  <a:pt x="581025" y="0"/>
                </a:lnTo>
                <a:lnTo>
                  <a:pt x="58102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42975" y="2590800"/>
            <a:ext cx="771525" cy="942975"/>
          </a:xfrm>
          <a:custGeom>
            <a:avLst/>
            <a:gdLst/>
            <a:ahLst/>
            <a:cxnLst/>
            <a:rect r="r" b="b" t="t" l="l"/>
            <a:pathLst>
              <a:path h="942975" w="771525">
                <a:moveTo>
                  <a:pt x="0" y="0"/>
                </a:moveTo>
                <a:lnTo>
                  <a:pt x="771525" y="0"/>
                </a:lnTo>
                <a:lnTo>
                  <a:pt x="7715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56907" y="3709309"/>
            <a:ext cx="1031786" cy="454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9"/>
              </a:lnSpc>
            </a:pPr>
            <a:r>
              <a:rPr lang="en-US" sz="1769">
                <a:solidFill>
                  <a:srgbClr val="00492C"/>
                </a:solidFill>
                <a:latin typeface="Alatsi"/>
                <a:ea typeface="Alatsi"/>
                <a:cs typeface="Alatsi"/>
                <a:sym typeface="Alatsi"/>
              </a:rPr>
              <a:t>Threat</a:t>
            </a:r>
          </a:p>
          <a:p>
            <a:pPr algn="ctr">
              <a:lnSpc>
                <a:spcPts val="1769"/>
              </a:lnSpc>
            </a:pPr>
            <a:r>
              <a:rPr lang="en-US" sz="1769">
                <a:solidFill>
                  <a:srgbClr val="00492C"/>
                </a:solidFill>
                <a:latin typeface="Alatsi"/>
                <a:ea typeface="Alatsi"/>
                <a:cs typeface="Alatsi"/>
                <a:sym typeface="Alatsi"/>
              </a:rPr>
              <a:t>Landscape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71475" y="4257675"/>
            <a:ext cx="1914525" cy="200025"/>
          </a:xfrm>
          <a:custGeom>
            <a:avLst/>
            <a:gdLst/>
            <a:ahLst/>
            <a:cxnLst/>
            <a:rect r="r" b="b" t="t" l="l"/>
            <a:pathLst>
              <a:path h="200025" w="1914525">
                <a:moveTo>
                  <a:pt x="0" y="0"/>
                </a:moveTo>
                <a:lnTo>
                  <a:pt x="1914525" y="0"/>
                </a:lnTo>
                <a:lnTo>
                  <a:pt x="19145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24637" y="4551455"/>
            <a:ext cx="1696326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450">
                <a:solidFill>
                  <a:srgbClr val="00492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Key sector cyber threats, attack patterns and threat trends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657475" y="2219325"/>
            <a:ext cx="2286000" cy="3533775"/>
          </a:xfrm>
          <a:custGeom>
            <a:avLst/>
            <a:gdLst/>
            <a:ahLst/>
            <a:cxnLst/>
            <a:rect r="r" b="b" t="t" l="l"/>
            <a:pathLst>
              <a:path h="3533775" w="2286000">
                <a:moveTo>
                  <a:pt x="0" y="0"/>
                </a:moveTo>
                <a:lnTo>
                  <a:pt x="2286000" y="0"/>
                </a:lnTo>
                <a:lnTo>
                  <a:pt x="2286000" y="3533775"/>
                </a:lnTo>
                <a:lnTo>
                  <a:pt x="0" y="3533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419475" y="2038350"/>
            <a:ext cx="581025" cy="561975"/>
          </a:xfrm>
          <a:custGeom>
            <a:avLst/>
            <a:gdLst/>
            <a:ahLst/>
            <a:cxnLst/>
            <a:rect r="r" b="b" t="t" l="l"/>
            <a:pathLst>
              <a:path h="561975" w="581025">
                <a:moveTo>
                  <a:pt x="0" y="0"/>
                </a:moveTo>
                <a:lnTo>
                  <a:pt x="581025" y="0"/>
                </a:lnTo>
                <a:lnTo>
                  <a:pt x="58102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228975" y="2590800"/>
            <a:ext cx="962025" cy="942975"/>
          </a:xfrm>
          <a:custGeom>
            <a:avLst/>
            <a:gdLst/>
            <a:ahLst/>
            <a:cxnLst/>
            <a:rect r="r" b="b" t="t" l="l"/>
            <a:pathLst>
              <a:path h="942975" w="96202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868016" y="3719734"/>
            <a:ext cx="1818742" cy="433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98"/>
              </a:lnSpc>
            </a:pPr>
            <a:r>
              <a:rPr lang="en-US" sz="1698">
                <a:solidFill>
                  <a:srgbClr val="00492C"/>
                </a:solidFill>
                <a:latin typeface="Alatsi"/>
                <a:ea typeface="Alatsi"/>
                <a:cs typeface="Alatsi"/>
                <a:sym typeface="Alatsi"/>
              </a:rPr>
              <a:t>Financial &amp; Operational Impact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847975" y="4257675"/>
            <a:ext cx="1905000" cy="200025"/>
          </a:xfrm>
          <a:custGeom>
            <a:avLst/>
            <a:gdLst/>
            <a:ahLst/>
            <a:cxnLst/>
            <a:rect r="r" b="b" t="t" l="l"/>
            <a:pathLst>
              <a:path h="200025" w="1905000">
                <a:moveTo>
                  <a:pt x="0" y="0"/>
                </a:moveTo>
                <a:lnTo>
                  <a:pt x="1905000" y="0"/>
                </a:lnTo>
                <a:lnTo>
                  <a:pt x="190500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972943" y="4551455"/>
            <a:ext cx="1626375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3"/>
              </a:lnSpc>
            </a:pPr>
            <a:r>
              <a:rPr lang="en-US" sz="1486">
                <a:solidFill>
                  <a:srgbClr val="00492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Typical breach costs, disruption impact and recovery implications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5124450" y="2219325"/>
            <a:ext cx="2105025" cy="3533775"/>
          </a:xfrm>
          <a:custGeom>
            <a:avLst/>
            <a:gdLst/>
            <a:ahLst/>
            <a:cxnLst/>
            <a:rect r="r" b="b" t="t" l="l"/>
            <a:pathLst>
              <a:path h="3533775" w="2105025">
                <a:moveTo>
                  <a:pt x="0" y="0"/>
                </a:moveTo>
                <a:lnTo>
                  <a:pt x="2105025" y="0"/>
                </a:lnTo>
                <a:lnTo>
                  <a:pt x="2105025" y="3533775"/>
                </a:lnTo>
                <a:lnTo>
                  <a:pt x="0" y="3533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886450" y="2038350"/>
            <a:ext cx="581025" cy="561975"/>
          </a:xfrm>
          <a:custGeom>
            <a:avLst/>
            <a:gdLst/>
            <a:ahLst/>
            <a:cxnLst/>
            <a:rect r="r" b="b" t="t" l="l"/>
            <a:pathLst>
              <a:path h="561975" w="581025">
                <a:moveTo>
                  <a:pt x="0" y="0"/>
                </a:moveTo>
                <a:lnTo>
                  <a:pt x="581025" y="0"/>
                </a:lnTo>
                <a:lnTo>
                  <a:pt x="58102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695950" y="2590800"/>
            <a:ext cx="962025" cy="942975"/>
          </a:xfrm>
          <a:custGeom>
            <a:avLst/>
            <a:gdLst/>
            <a:ahLst/>
            <a:cxnLst/>
            <a:rect r="r" b="b" t="t" l="l"/>
            <a:pathLst>
              <a:path h="942975" w="96202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403761" y="3709309"/>
            <a:ext cx="1573911" cy="454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9"/>
              </a:lnSpc>
            </a:pPr>
            <a:r>
              <a:rPr lang="en-US" sz="1769">
                <a:solidFill>
                  <a:srgbClr val="00492C"/>
                </a:solidFill>
                <a:latin typeface="Alatsi"/>
                <a:ea typeface="Alatsi"/>
                <a:cs typeface="Alatsi"/>
                <a:sym typeface="Alatsi"/>
              </a:rPr>
              <a:t>Major Incident / Case Study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5314950" y="4257675"/>
            <a:ext cx="1724025" cy="200025"/>
          </a:xfrm>
          <a:custGeom>
            <a:avLst/>
            <a:gdLst/>
            <a:ahLst/>
            <a:cxnLst/>
            <a:rect r="r" b="b" t="t" l="l"/>
            <a:pathLst>
              <a:path h="200025" w="1724025">
                <a:moveTo>
                  <a:pt x="0" y="0"/>
                </a:moveTo>
                <a:lnTo>
                  <a:pt x="1724025" y="0"/>
                </a:lnTo>
                <a:lnTo>
                  <a:pt x="17240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473713" y="4568442"/>
            <a:ext cx="141652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3"/>
              </a:lnSpc>
            </a:pPr>
            <a:r>
              <a:rPr lang="en-US" sz="1486">
                <a:solidFill>
                  <a:srgbClr val="00492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Illustrative sector incident, business impact and lessons learned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7410450" y="2219325"/>
            <a:ext cx="2095500" cy="3533775"/>
          </a:xfrm>
          <a:custGeom>
            <a:avLst/>
            <a:gdLst/>
            <a:ahLst/>
            <a:cxnLst/>
            <a:rect r="r" b="b" t="t" l="l"/>
            <a:pathLst>
              <a:path h="3533775" w="2095500">
                <a:moveTo>
                  <a:pt x="0" y="0"/>
                </a:moveTo>
                <a:lnTo>
                  <a:pt x="2095500" y="0"/>
                </a:lnTo>
                <a:lnTo>
                  <a:pt x="2095500" y="3533775"/>
                </a:lnTo>
                <a:lnTo>
                  <a:pt x="0" y="35337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172450" y="2038350"/>
            <a:ext cx="571500" cy="561975"/>
          </a:xfrm>
          <a:custGeom>
            <a:avLst/>
            <a:gdLst/>
            <a:ahLst/>
            <a:cxnLst/>
            <a:rect r="r" b="b" t="t" l="l"/>
            <a:pathLst>
              <a:path h="561975" w="571500">
                <a:moveTo>
                  <a:pt x="0" y="0"/>
                </a:moveTo>
                <a:lnTo>
                  <a:pt x="571500" y="0"/>
                </a:lnTo>
                <a:lnTo>
                  <a:pt x="571500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981950" y="2590800"/>
            <a:ext cx="952500" cy="942975"/>
          </a:xfrm>
          <a:custGeom>
            <a:avLst/>
            <a:gdLst/>
            <a:ahLst/>
            <a:cxnLst/>
            <a:rect r="r" b="b" t="t" l="l"/>
            <a:pathLst>
              <a:path h="942975" w="952500">
                <a:moveTo>
                  <a:pt x="0" y="0"/>
                </a:moveTo>
                <a:lnTo>
                  <a:pt x="952500" y="0"/>
                </a:lnTo>
                <a:lnTo>
                  <a:pt x="9525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852067" y="3709309"/>
            <a:ext cx="1171689" cy="454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9"/>
              </a:lnSpc>
            </a:pPr>
            <a:r>
              <a:rPr lang="en-US" sz="1769">
                <a:solidFill>
                  <a:srgbClr val="00492C"/>
                </a:solidFill>
                <a:latin typeface="Alatsi"/>
                <a:ea typeface="Alatsi"/>
                <a:cs typeface="Alatsi"/>
                <a:sym typeface="Alatsi"/>
              </a:rPr>
              <a:t>Worst-Case Scenarios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7600950" y="4257675"/>
            <a:ext cx="1714500" cy="200025"/>
          </a:xfrm>
          <a:custGeom>
            <a:avLst/>
            <a:gdLst/>
            <a:ahLst/>
            <a:cxnLst/>
            <a:rect r="r" b="b" t="t" l="l"/>
            <a:pathLst>
              <a:path h="200025" w="1714500">
                <a:moveTo>
                  <a:pt x="0" y="0"/>
                </a:moveTo>
                <a:lnTo>
                  <a:pt x="1714500" y="0"/>
                </a:lnTo>
                <a:lnTo>
                  <a:pt x="171450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7659700" y="4587492"/>
            <a:ext cx="1573911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5"/>
              </a:lnSpc>
            </a:pPr>
            <a:r>
              <a:rPr lang="en-US" sz="1379">
                <a:solidFill>
                  <a:srgbClr val="00492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Severe sector-relevant cyber scenarios and likely business consequences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9686925" y="2219325"/>
            <a:ext cx="2105025" cy="3533775"/>
          </a:xfrm>
          <a:custGeom>
            <a:avLst/>
            <a:gdLst/>
            <a:ahLst/>
            <a:cxnLst/>
            <a:rect r="r" b="b" t="t" l="l"/>
            <a:pathLst>
              <a:path h="3533775" w="2105025">
                <a:moveTo>
                  <a:pt x="0" y="0"/>
                </a:moveTo>
                <a:lnTo>
                  <a:pt x="2105025" y="0"/>
                </a:lnTo>
                <a:lnTo>
                  <a:pt x="2105025" y="3533775"/>
                </a:lnTo>
                <a:lnTo>
                  <a:pt x="0" y="35337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448925" y="2038350"/>
            <a:ext cx="581025" cy="561975"/>
          </a:xfrm>
          <a:custGeom>
            <a:avLst/>
            <a:gdLst/>
            <a:ahLst/>
            <a:cxnLst/>
            <a:rect r="r" b="b" t="t" l="l"/>
            <a:pathLst>
              <a:path h="561975" w="581025">
                <a:moveTo>
                  <a:pt x="0" y="0"/>
                </a:moveTo>
                <a:lnTo>
                  <a:pt x="581025" y="0"/>
                </a:lnTo>
                <a:lnTo>
                  <a:pt x="58102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0258425" y="2590800"/>
            <a:ext cx="962025" cy="942975"/>
          </a:xfrm>
          <a:custGeom>
            <a:avLst/>
            <a:gdLst/>
            <a:ahLst/>
            <a:cxnLst/>
            <a:rect r="r" b="b" t="t" l="l"/>
            <a:pathLst>
              <a:path h="942975" w="96202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0212934" y="3719734"/>
            <a:ext cx="979322" cy="433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98"/>
              </a:lnSpc>
            </a:pPr>
            <a:r>
              <a:rPr lang="en-US" sz="1698">
                <a:solidFill>
                  <a:srgbClr val="00492C"/>
                </a:solidFill>
                <a:latin typeface="Alatsi"/>
                <a:ea typeface="Alatsi"/>
                <a:cs typeface="Alatsi"/>
                <a:sym typeface="Alatsi"/>
              </a:rPr>
              <a:t>Mitigation Priorities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9877425" y="4257675"/>
            <a:ext cx="1724025" cy="200025"/>
          </a:xfrm>
          <a:custGeom>
            <a:avLst/>
            <a:gdLst/>
            <a:ahLst/>
            <a:cxnLst/>
            <a:rect r="r" b="b" t="t" l="l"/>
            <a:pathLst>
              <a:path h="200025" w="1724025">
                <a:moveTo>
                  <a:pt x="0" y="0"/>
                </a:moveTo>
                <a:lnTo>
                  <a:pt x="1724025" y="0"/>
                </a:lnTo>
                <a:lnTo>
                  <a:pt x="17240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9968103" y="4568442"/>
            <a:ext cx="143400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450">
                <a:solidFill>
                  <a:srgbClr val="00492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Priority controls, frameworks and practical mitigation measures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2276475" y="2962275"/>
            <a:ext cx="581025" cy="381000"/>
          </a:xfrm>
          <a:custGeom>
            <a:avLst/>
            <a:gdLst/>
            <a:ahLst/>
            <a:cxnLst/>
            <a:rect r="r" b="b" t="t" l="l"/>
            <a:pathLst>
              <a:path h="381000" w="581025">
                <a:moveTo>
                  <a:pt x="0" y="0"/>
                </a:moveTo>
                <a:lnTo>
                  <a:pt x="581025" y="0"/>
                </a:lnTo>
                <a:lnTo>
                  <a:pt x="5810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4743450" y="2962275"/>
            <a:ext cx="390525" cy="381000"/>
          </a:xfrm>
          <a:custGeom>
            <a:avLst/>
            <a:gdLst/>
            <a:ahLst/>
            <a:cxnLst/>
            <a:rect r="r" b="b" t="t" l="l"/>
            <a:pathLst>
              <a:path h="381000" w="390525">
                <a:moveTo>
                  <a:pt x="0" y="0"/>
                </a:moveTo>
                <a:lnTo>
                  <a:pt x="390525" y="0"/>
                </a:lnTo>
                <a:lnTo>
                  <a:pt x="390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7029450" y="2962275"/>
            <a:ext cx="581025" cy="381000"/>
          </a:xfrm>
          <a:custGeom>
            <a:avLst/>
            <a:gdLst/>
            <a:ahLst/>
            <a:cxnLst/>
            <a:rect r="r" b="b" t="t" l="l"/>
            <a:pathLst>
              <a:path h="381000" w="581025">
                <a:moveTo>
                  <a:pt x="0" y="0"/>
                </a:moveTo>
                <a:lnTo>
                  <a:pt x="581025" y="0"/>
                </a:lnTo>
                <a:lnTo>
                  <a:pt x="5810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9305925" y="2962275"/>
            <a:ext cx="581025" cy="381000"/>
          </a:xfrm>
          <a:custGeom>
            <a:avLst/>
            <a:gdLst/>
            <a:ahLst/>
            <a:cxnLst/>
            <a:rect r="r" b="b" t="t" l="l"/>
            <a:pathLst>
              <a:path h="381000" w="581025">
                <a:moveTo>
                  <a:pt x="0" y="0"/>
                </a:moveTo>
                <a:lnTo>
                  <a:pt x="581025" y="0"/>
                </a:lnTo>
                <a:lnTo>
                  <a:pt x="5810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349758" y="6026920"/>
            <a:ext cx="4762500" cy="1123950"/>
          </a:xfrm>
          <a:custGeom>
            <a:avLst/>
            <a:gdLst/>
            <a:ahLst/>
            <a:cxnLst/>
            <a:rect r="r" b="b" t="t" l="l"/>
            <a:pathLst>
              <a:path h="1123950" w="4762500">
                <a:moveTo>
                  <a:pt x="0" y="0"/>
                </a:moveTo>
                <a:lnTo>
                  <a:pt x="4762500" y="0"/>
                </a:lnTo>
                <a:lnTo>
                  <a:pt x="4762500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364056" y="2191042"/>
            <a:ext cx="122415" cy="259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2"/>
              </a:lnSpc>
            </a:pPr>
            <a:r>
              <a:rPr lang="en-US" sz="1982">
                <a:solidFill>
                  <a:srgbClr val="FFFFFF"/>
                </a:solidFill>
                <a:latin typeface="Alatsi"/>
                <a:ea typeface="Alatsi"/>
                <a:cs typeface="Alatsi"/>
                <a:sym typeface="Alatsi"/>
              </a:rPr>
              <a:t>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707435" y="2191042"/>
            <a:ext cx="157391" cy="259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2"/>
              </a:lnSpc>
            </a:pPr>
            <a:r>
              <a:rPr lang="en-US" sz="1982">
                <a:solidFill>
                  <a:srgbClr val="FFFFFF"/>
                </a:solidFill>
                <a:latin typeface="Alatsi"/>
                <a:ea typeface="Alatsi"/>
                <a:cs typeface="Alatsi"/>
                <a:sym typeface="Alatsi"/>
              </a:rPr>
              <a:t>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068301" y="2191042"/>
            <a:ext cx="157391" cy="259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2"/>
              </a:lnSpc>
            </a:pPr>
            <a:r>
              <a:rPr lang="en-US" sz="1982">
                <a:solidFill>
                  <a:srgbClr val="FFFFFF"/>
                </a:solidFill>
                <a:latin typeface="Alatsi"/>
                <a:ea typeface="Alatsi"/>
                <a:cs typeface="Alatsi"/>
                <a:sym typeface="Alatsi"/>
              </a:rPr>
              <a:t>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359216" y="2191042"/>
            <a:ext cx="157391" cy="259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2"/>
              </a:lnSpc>
            </a:pPr>
            <a:r>
              <a:rPr lang="en-US" sz="1982">
                <a:solidFill>
                  <a:srgbClr val="FFFFFF"/>
                </a:solidFill>
                <a:latin typeface="Alatsi"/>
                <a:ea typeface="Alatsi"/>
                <a:cs typeface="Alatsi"/>
                <a:sym typeface="Alatsi"/>
              </a:rPr>
              <a:t>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615155" y="2191042"/>
            <a:ext cx="157391" cy="259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2"/>
              </a:lnSpc>
            </a:pPr>
            <a:r>
              <a:rPr lang="en-US" sz="1982">
                <a:solidFill>
                  <a:srgbClr val="FFFFFF"/>
                </a:solidFill>
                <a:latin typeface="Alatsi"/>
                <a:ea typeface="Alatsi"/>
                <a:cs typeface="Alatsi"/>
                <a:sym typeface="Alatsi"/>
              </a:rPr>
              <a:t>5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486361" y="1799185"/>
            <a:ext cx="4336999" cy="20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7"/>
              </a:lnSpc>
            </a:pPr>
            <a:r>
              <a:rPr lang="en-US" sz="1557">
                <a:solidFill>
                  <a:srgbClr val="FFFFFF"/>
                </a:solidFill>
                <a:latin typeface="Alatsi"/>
                <a:ea typeface="Alatsi"/>
                <a:cs typeface="Alatsi"/>
                <a:sym typeface="Alatsi"/>
              </a:rPr>
              <a:t>Why it complements the Cyber Risk Questionnaire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045973" y="2448835"/>
            <a:ext cx="237835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>
                <a:solidFill>
                  <a:srgbClr val="00492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Adds sector context to client questionnaire responses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045973" y="3338593"/>
            <a:ext cx="278057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>
                <a:solidFill>
                  <a:srgbClr val="00492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Helps Senior Corporate Officers interpret answers more effectively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045973" y="4228352"/>
            <a:ext cx="360250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>
                <a:solidFill>
                  <a:srgbClr val="00492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Supports more informed client engagement and follow-up discussion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045973" y="5118111"/>
            <a:ext cx="278057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>
                <a:solidFill>
                  <a:srgbClr val="00492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Highlights sector-relevant impact scenarios and red flags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045973" y="6007870"/>
            <a:ext cx="304289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>
                <a:solidFill>
                  <a:srgbClr val="00492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Improves consistency across sectors and across client assessments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908734" y="6349061"/>
            <a:ext cx="1801254" cy="41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"/>
              </a:lnSpc>
            </a:pPr>
            <a:r>
              <a:rPr lang="en-US" sz="1592">
                <a:solidFill>
                  <a:srgbClr val="00492C"/>
                </a:solidFill>
                <a:latin typeface="Alatsi"/>
                <a:ea typeface="Alatsi"/>
                <a:cs typeface="Alatsi"/>
                <a:sym typeface="Alatsi"/>
              </a:rPr>
              <a:t>Cyber Questionnaire</a:t>
            </a:r>
          </a:p>
          <a:p>
            <a:pPr algn="l">
              <a:lnSpc>
                <a:spcPts val="1592"/>
              </a:lnSpc>
            </a:pPr>
            <a:r>
              <a:rPr lang="en-US" sz="1592">
                <a:solidFill>
                  <a:srgbClr val="00492C"/>
                </a:solidFill>
                <a:latin typeface="Alatsi"/>
                <a:ea typeface="Alatsi"/>
                <a:cs typeface="Alatsi"/>
                <a:sym typeface="Alatsi"/>
              </a:rPr>
              <a:t>= client-specific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736031" y="6331845"/>
            <a:ext cx="1696326" cy="35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9"/>
              </a:lnSpc>
            </a:pPr>
            <a:r>
              <a:rPr lang="en-US" sz="1379">
                <a:solidFill>
                  <a:srgbClr val="00492C"/>
                </a:solidFill>
                <a:latin typeface="Alatsi"/>
                <a:ea typeface="Alatsi"/>
                <a:cs typeface="Alatsi"/>
                <a:sym typeface="Alatsi"/>
              </a:rPr>
              <a:t>Sector Analysis</a:t>
            </a:r>
          </a:p>
          <a:p>
            <a:pPr algn="l">
              <a:lnSpc>
                <a:spcPts val="1379"/>
              </a:lnSpc>
            </a:pPr>
            <a:r>
              <a:rPr lang="en-US" sz="1379">
                <a:solidFill>
                  <a:srgbClr val="00492C"/>
                </a:solidFill>
                <a:latin typeface="Alatsi"/>
                <a:ea typeface="Alatsi"/>
                <a:cs typeface="Alatsi"/>
                <a:sym typeface="Alatsi"/>
              </a:rPr>
              <a:t>= sector-wide context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899802" y="6248896"/>
            <a:ext cx="437198" cy="56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2"/>
              </a:lnSpc>
            </a:pPr>
            <a:r>
              <a:rPr lang="en-US" sz="4322">
                <a:solidFill>
                  <a:srgbClr val="00492C"/>
                </a:solidFill>
                <a:latin typeface="Alatsi"/>
                <a:ea typeface="Alatsi"/>
                <a:cs typeface="Alatsi"/>
                <a:sym typeface="Alatsi"/>
              </a:rPr>
              <a:t>+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817091" y="6248896"/>
            <a:ext cx="437198" cy="56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2"/>
              </a:lnSpc>
            </a:pPr>
            <a:r>
              <a:rPr lang="en-US" sz="4322">
                <a:solidFill>
                  <a:srgbClr val="00492C"/>
                </a:solidFill>
                <a:latin typeface="Alatsi"/>
                <a:ea typeface="Alatsi"/>
                <a:cs typeface="Alatsi"/>
                <a:sym typeface="Alatsi"/>
              </a:rPr>
              <a:t>=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670809" y="6227588"/>
            <a:ext cx="157391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8">
                <a:solidFill>
                  <a:srgbClr val="00492C"/>
                </a:solidFill>
                <a:latin typeface="Alatsi"/>
                <a:ea typeface="Alatsi"/>
                <a:cs typeface="Alatsi"/>
                <a:sym typeface="Alatsi"/>
              </a:rPr>
              <a:t>Together</a:t>
            </a:r>
          </a:p>
          <a:p>
            <a:pPr algn="l">
              <a:lnSpc>
                <a:spcPts val="1485"/>
              </a:lnSpc>
            </a:pPr>
            <a:r>
              <a:rPr lang="en-US" sz="1238">
                <a:solidFill>
                  <a:srgbClr val="00492C"/>
                </a:solidFill>
                <a:latin typeface="Alatsi"/>
                <a:ea typeface="Alatsi"/>
                <a:cs typeface="Alatsi"/>
                <a:sym typeface="Alatsi"/>
              </a:rPr>
              <a:t>= better interpretation and engagement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11510" y="7549679"/>
            <a:ext cx="9530906" cy="19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6"/>
              </a:lnSpc>
            </a:pPr>
            <a:r>
              <a:rPr lang="en-US" sz="1486">
                <a:solidFill>
                  <a:srgbClr val="FFFFFF"/>
                </a:solidFill>
                <a:latin typeface="Alatsi"/>
                <a:ea typeface="Alatsi"/>
                <a:cs typeface="Alatsi"/>
                <a:sym typeface="Alatsi"/>
              </a:rPr>
              <a:t>Applied consistently across 22 sectors to support repeatable, comparable and sector-informed client engagement.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786845" y="7525517"/>
            <a:ext cx="50714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3"/>
              </a:lnSpc>
            </a:pPr>
            <a:r>
              <a:rPr lang="en-US" sz="148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Retail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416409" y="7525517"/>
            <a:ext cx="55961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3"/>
              </a:lnSpc>
            </a:pPr>
            <a:r>
              <a:rPr lang="en-US" sz="148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Energy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308292" y="7525517"/>
            <a:ext cx="69951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3"/>
              </a:lnSpc>
            </a:pPr>
            <a:r>
              <a:rPr lang="en-US" sz="148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Oil &amp; Gas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340078" y="7535042"/>
            <a:ext cx="115420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3"/>
              </a:lnSpc>
            </a:pPr>
            <a:r>
              <a:rPr lang="en-US" sz="134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Pharmaceuticals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5844037" y="7539804"/>
            <a:ext cx="75198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8"/>
              </a:lnSpc>
            </a:pPr>
            <a:r>
              <a:rPr lang="en-US" sz="127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Automotive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945775" y="7525517"/>
            <a:ext cx="17487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3"/>
              </a:lnSpc>
            </a:pPr>
            <a:r>
              <a:rPr lang="en-US" sz="148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DAHSoZvDVbA</dc:identifier>
  <dcterms:modified xsi:type="dcterms:W3CDTF">2011-08-01T06:04:30Z</dcterms:modified>
  <cp:revision>1</cp:revision>
  <dc:title>sectorial analysis</dc:title>
</cp:coreProperties>
</file>