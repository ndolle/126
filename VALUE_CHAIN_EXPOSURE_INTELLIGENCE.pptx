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7487900" cy="8153400"/>
  <p:notesSz cx="6858000" cy="9144000"/>
  <p:embeddedFontLst>
    <p:embeddedFont>
      <p:font typeface="Arial MT Pro" charset="1" panose="020B0502020202020204"/>
      <p:regular r:id="rId7"/>
    </p:embeddedFont>
    <p:embeddedFont>
      <p:font typeface="Calibri (MS)" charset="1" panose="020F0502020204030204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7487900" cy="8162925"/>
          </a:xfrm>
          <a:custGeom>
            <a:avLst/>
            <a:gdLst/>
            <a:ahLst/>
            <a:cxnLst/>
            <a:rect r="r" b="b" t="t" l="l"/>
            <a:pathLst>
              <a:path h="8162925" w="17487900">
                <a:moveTo>
                  <a:pt x="0" y="0"/>
                </a:moveTo>
                <a:lnTo>
                  <a:pt x="17487900" y="0"/>
                </a:lnTo>
                <a:lnTo>
                  <a:pt x="17487900" y="8162925"/>
                </a:lnTo>
                <a:lnTo>
                  <a:pt x="0" y="81629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8" t="0" r="-58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33890" y="22548"/>
            <a:ext cx="11839575" cy="1028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26"/>
              </a:lnSpc>
            </a:pPr>
            <a:r>
              <a:rPr lang="en-US" sz="4519" spc="13">
                <a:solidFill>
                  <a:srgbClr val="414A4D"/>
                </a:solidFill>
                <a:latin typeface="Arial MT Pro"/>
                <a:ea typeface="Arial MT Pro"/>
                <a:cs typeface="Arial MT Pro"/>
                <a:sym typeface="Arial MT Pro"/>
              </a:rPr>
              <a:t>From Attack Surface to Value Chain Exposure</a:t>
            </a:r>
          </a:p>
          <a:p>
            <a:pPr algn="l">
              <a:lnSpc>
                <a:spcPts val="2477"/>
              </a:lnSpc>
            </a:pPr>
            <a:r>
              <a:rPr lang="en-US" sz="2273" spc="86">
                <a:solidFill>
                  <a:srgbClr val="6C7E7F"/>
                </a:solidFill>
                <a:latin typeface="Arial MT Pro"/>
                <a:ea typeface="Arial MT Pro"/>
                <a:cs typeface="Arial MT Pro"/>
                <a:sym typeface="Arial MT Pro"/>
              </a:rPr>
              <a:t>Turning external insights into actionable risk intelligence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23643" y="1404003"/>
            <a:ext cx="3209925" cy="588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5"/>
              </a:lnSpc>
            </a:pPr>
            <a:r>
              <a:rPr lang="en-US" sz="3089" spc="64">
                <a:solidFill>
                  <a:srgbClr val="414A4D"/>
                </a:solidFill>
                <a:latin typeface="Arial MT Pro"/>
                <a:ea typeface="Arial MT Pro"/>
                <a:cs typeface="Arial MT Pro"/>
                <a:sym typeface="Arial MT Pro"/>
              </a:rPr>
              <a:t>Ⓒ My Positioning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19103" y="2535433"/>
            <a:ext cx="3324225" cy="623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22"/>
              </a:lnSpc>
            </a:pPr>
            <a:r>
              <a:rPr lang="en-US" sz="1546" spc="27">
                <a:solidFill>
                  <a:srgbClr val="414A4D"/>
                </a:solidFill>
                <a:latin typeface="Arial MT Pro"/>
                <a:ea typeface="Arial MT Pro"/>
                <a:cs typeface="Arial MT Pro"/>
                <a:sym typeface="Arial MT Pro"/>
              </a:rPr>
              <a:t>1. Unique Perspective &amp; Capabilities</a:t>
            </a:r>
          </a:p>
          <a:p>
            <a:pPr algn="ctr">
              <a:lnSpc>
                <a:spcPts val="2422"/>
              </a:lnSpc>
            </a:pPr>
            <a:r>
              <a:rPr lang="en-US" sz="1546" spc="27">
                <a:solidFill>
                  <a:srgbClr val="414A4D"/>
                </a:solidFill>
                <a:latin typeface="Arial MT Pro"/>
                <a:ea typeface="Arial MT Pro"/>
                <a:cs typeface="Arial MT Pro"/>
                <a:sym typeface="Arial MT Pro"/>
              </a:rPr>
              <a:t>Modern EASM approach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47775" y="3237719"/>
            <a:ext cx="2724150" cy="520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03"/>
              </a:lnSpc>
            </a:pPr>
            <a:r>
              <a:rPr lang="en-US" sz="1062" spc="15">
                <a:solidFill>
                  <a:srgbClr val="414A4D"/>
                </a:solidFill>
                <a:latin typeface="Arial MT Pro"/>
                <a:ea typeface="Arial MT Pro"/>
                <a:cs typeface="Arial MT Pro"/>
                <a:sym typeface="Arial MT Pro"/>
              </a:rPr>
              <a:t>Using Al (e.g. Gemini) to go beyond domain</a:t>
            </a:r>
          </a:p>
          <a:p>
            <a:pPr algn="l">
              <a:lnSpc>
                <a:spcPts val="1303"/>
              </a:lnSpc>
            </a:pPr>
            <a:r>
              <a:rPr lang="en-US" sz="1062" spc="15">
                <a:solidFill>
                  <a:srgbClr val="414A4D"/>
                </a:solidFill>
                <a:latin typeface="Arial MT Pro"/>
                <a:ea typeface="Arial MT Pro"/>
                <a:cs typeface="Arial MT Pro"/>
                <a:sym typeface="Arial MT Pro"/>
              </a:rPr>
              <a:t>inventory and map real digital relationships</a:t>
            </a:r>
          </a:p>
          <a:p>
            <a:pPr algn="l">
              <a:lnSpc>
                <a:spcPts val="1303"/>
              </a:lnSpc>
            </a:pPr>
            <a:r>
              <a:rPr lang="en-US" sz="1062" spc="15">
                <a:solidFill>
                  <a:srgbClr val="414A4D"/>
                </a:solidFill>
                <a:latin typeface="Arial MT Pro"/>
                <a:ea typeface="Arial MT Pro"/>
                <a:cs typeface="Arial MT Pro"/>
                <a:sym typeface="Arial MT Pro"/>
              </a:rPr>
              <a:t>across clients, suppliers and third parties.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47040" y="4104110"/>
            <a:ext cx="2847975" cy="757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5"/>
              </a:lnSpc>
            </a:pPr>
            <a:r>
              <a:rPr lang="en-US" sz="1094" spc="20">
                <a:solidFill>
                  <a:srgbClr val="414A4D"/>
                </a:solidFill>
                <a:latin typeface="Arial MT Pro"/>
                <a:ea typeface="Arial MT Pro"/>
                <a:cs typeface="Arial MT Pro"/>
                <a:sym typeface="Arial MT Pro"/>
              </a:rPr>
              <a:t>Dependency discovery</a:t>
            </a:r>
          </a:p>
          <a:p>
            <a:pPr algn="l">
              <a:lnSpc>
                <a:spcPts val="1425"/>
              </a:lnSpc>
            </a:pPr>
            <a:r>
              <a:rPr lang="en-US" sz="1094" spc="20">
                <a:solidFill>
                  <a:srgbClr val="414A4D"/>
                </a:solidFill>
                <a:latin typeface="Arial MT Pro"/>
                <a:ea typeface="Arial MT Pro"/>
                <a:cs typeface="Arial MT Pro"/>
                <a:sym typeface="Arial MT Pro"/>
              </a:rPr>
              <a:t>Identify technologies, SaaS, cloud, trackers,</a:t>
            </a:r>
          </a:p>
          <a:p>
            <a:pPr algn="l">
              <a:lnSpc>
                <a:spcPts val="1425"/>
              </a:lnSpc>
            </a:pPr>
            <a:r>
              <a:rPr lang="en-US" sz="1094" spc="20">
                <a:solidFill>
                  <a:srgbClr val="414A4D"/>
                </a:solidFill>
                <a:latin typeface="Arial MT Pro"/>
                <a:ea typeface="Arial MT Pro"/>
                <a:cs typeface="Arial MT Pro"/>
                <a:sym typeface="Arial MT Pro"/>
              </a:rPr>
              <a:t>identity providers and infrastructure links</a:t>
            </a:r>
          </a:p>
          <a:p>
            <a:pPr algn="l">
              <a:lnSpc>
                <a:spcPts val="1425"/>
              </a:lnSpc>
            </a:pPr>
            <a:r>
              <a:rPr lang="en-US" sz="1094" spc="20">
                <a:solidFill>
                  <a:srgbClr val="414A4D"/>
                </a:solidFill>
                <a:latin typeface="Arial MT Pro"/>
                <a:ea typeface="Arial MT Pro"/>
                <a:cs typeface="Arial MT Pro"/>
                <a:sym typeface="Arial MT Pro"/>
              </a:rPr>
              <a:t>from externally observable signals.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47775" y="5209528"/>
            <a:ext cx="2714625" cy="743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6"/>
              </a:lnSpc>
            </a:pPr>
            <a:r>
              <a:rPr lang="en-US" sz="1135" spc="5">
                <a:solidFill>
                  <a:srgbClr val="414A4D"/>
                </a:solidFill>
                <a:latin typeface="Arial MT Pro"/>
                <a:ea typeface="Arial MT Pro"/>
                <a:cs typeface="Arial MT Pro"/>
                <a:sym typeface="Arial MT Pro"/>
              </a:rPr>
              <a:t>Contextual risk intelligence</a:t>
            </a:r>
          </a:p>
          <a:p>
            <a:pPr algn="l">
              <a:lnSpc>
                <a:spcPts val="1436"/>
              </a:lnSpc>
            </a:pPr>
            <a:r>
              <a:rPr lang="en-US" sz="1135" spc="5">
                <a:solidFill>
                  <a:srgbClr val="414A4D"/>
                </a:solidFill>
                <a:latin typeface="Arial MT Pro"/>
                <a:ea typeface="Arial MT Pro"/>
                <a:cs typeface="Arial MT Pro"/>
                <a:sym typeface="Arial MT Pro"/>
              </a:rPr>
              <a:t>Combine external telemetry with internal</a:t>
            </a:r>
          </a:p>
          <a:p>
            <a:pPr algn="l">
              <a:lnSpc>
                <a:spcPts val="1436"/>
              </a:lnSpc>
            </a:pPr>
            <a:r>
              <a:rPr lang="en-US" sz="1135" spc="5">
                <a:solidFill>
                  <a:srgbClr val="414A4D"/>
                </a:solidFill>
                <a:latin typeface="Arial MT Pro"/>
                <a:ea typeface="Arial MT Pro"/>
                <a:cs typeface="Arial MT Pro"/>
                <a:sym typeface="Arial MT Pro"/>
              </a:rPr>
              <a:t>knowledge (e.g. procurement, credit, CTI)</a:t>
            </a:r>
          </a:p>
          <a:p>
            <a:pPr algn="l">
              <a:lnSpc>
                <a:spcPts val="1436"/>
              </a:lnSpc>
            </a:pPr>
            <a:r>
              <a:rPr lang="en-US" sz="1135" spc="5">
                <a:solidFill>
                  <a:srgbClr val="414A4D"/>
                </a:solidFill>
                <a:latin typeface="Arial MT Pro"/>
                <a:ea typeface="Arial MT Pro"/>
                <a:cs typeface="Arial MT Pro"/>
                <a:sym typeface="Arial MT Pro"/>
              </a:rPr>
              <a:t>to highlight what really matters.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47775" y="6287855"/>
            <a:ext cx="2962275" cy="738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8"/>
              </a:lnSpc>
            </a:pPr>
            <a:r>
              <a:rPr lang="en-US" sz="1103" spc="16">
                <a:solidFill>
                  <a:srgbClr val="414A4D"/>
                </a:solidFill>
                <a:latin typeface="Arial MT Pro"/>
                <a:ea typeface="Arial MT Pro"/>
                <a:cs typeface="Arial MT Pro"/>
                <a:sym typeface="Arial MT Pro"/>
              </a:rPr>
              <a:t>Practical and action-oriented</a:t>
            </a:r>
          </a:p>
          <a:p>
            <a:pPr algn="l">
              <a:lnSpc>
                <a:spcPts val="1438"/>
              </a:lnSpc>
            </a:pPr>
            <a:r>
              <a:rPr lang="en-US" sz="1103" spc="16">
                <a:solidFill>
                  <a:srgbClr val="414A4D"/>
                </a:solidFill>
                <a:latin typeface="Arial MT Pro"/>
                <a:ea typeface="Arial MT Pro"/>
                <a:cs typeface="Arial MT Pro"/>
                <a:sym typeface="Arial MT Pro"/>
              </a:rPr>
              <a:t>Translate complex data into clear insights</a:t>
            </a:r>
          </a:p>
          <a:p>
            <a:pPr algn="l">
              <a:lnSpc>
                <a:spcPts val="1438"/>
              </a:lnSpc>
            </a:pPr>
            <a:r>
              <a:rPr lang="en-US" sz="1103" spc="16">
                <a:solidFill>
                  <a:srgbClr val="414A4D"/>
                </a:solidFill>
                <a:latin typeface="Arial MT Pro"/>
                <a:ea typeface="Arial MT Pro"/>
                <a:cs typeface="Arial MT Pro"/>
                <a:sym typeface="Arial MT Pro"/>
              </a:rPr>
              <a:t>and visualisations that support Risk, Business</a:t>
            </a:r>
          </a:p>
          <a:p>
            <a:pPr algn="l">
              <a:lnSpc>
                <a:spcPts val="1438"/>
              </a:lnSpc>
            </a:pPr>
            <a:r>
              <a:rPr lang="en-US" sz="1103" spc="16">
                <a:solidFill>
                  <a:srgbClr val="414A4D"/>
                </a:solidFill>
                <a:latin typeface="Arial MT Pro"/>
                <a:ea typeface="Arial MT Pro"/>
                <a:cs typeface="Arial MT Pro"/>
                <a:sym typeface="Arial MT Pro"/>
              </a:rPr>
              <a:t>and Compliance teams.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305300" y="1301971"/>
            <a:ext cx="10210800" cy="906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5"/>
              </a:lnSpc>
            </a:pPr>
            <a:r>
              <a:rPr lang="en-US" sz="1396" spc="48">
                <a:solidFill>
                  <a:srgbClr val="414A4D"/>
                </a:solidFill>
                <a:latin typeface="Arial MT Pro"/>
                <a:ea typeface="Arial MT Pro"/>
                <a:cs typeface="Arial MT Pro"/>
                <a:sym typeface="Arial MT Pro"/>
              </a:rPr>
              <a:t>I bring a cybersecurity lens combined with a different approach to External Attack Surface Management (EASM),</a:t>
            </a:r>
          </a:p>
          <a:p>
            <a:pPr algn="l">
              <a:lnSpc>
                <a:spcPts val="1735"/>
              </a:lnSpc>
            </a:pPr>
            <a:r>
              <a:rPr lang="en-US" sz="1396" spc="48">
                <a:solidFill>
                  <a:srgbClr val="414A4D"/>
                </a:solidFill>
                <a:latin typeface="Arial MT Pro"/>
                <a:ea typeface="Arial MT Pro"/>
                <a:cs typeface="Arial MT Pro"/>
                <a:sym typeface="Arial MT Pro"/>
              </a:rPr>
              <a:t>focused on understanding real-world dependencies and ecosystem relationships.</a:t>
            </a:r>
          </a:p>
          <a:p>
            <a:pPr algn="l">
              <a:lnSpc>
                <a:spcPts val="1735"/>
              </a:lnSpc>
            </a:pPr>
            <a:r>
              <a:rPr lang="en-US" sz="1396" spc="48">
                <a:solidFill>
                  <a:srgbClr val="414A4D"/>
                </a:solidFill>
                <a:latin typeface="Arial MT Pro"/>
                <a:ea typeface="Arial MT Pro"/>
                <a:cs typeface="Arial MT Pro"/>
                <a:sym typeface="Arial MT Pro"/>
              </a:rPr>
              <a:t>This aligns directly with the Value Chain initiative and can help turn dispersed data into meaningful exposure intelligence</a:t>
            </a:r>
          </a:p>
          <a:p>
            <a:pPr algn="l">
              <a:lnSpc>
                <a:spcPts val="1735"/>
              </a:lnSpc>
            </a:pPr>
            <a:r>
              <a:rPr lang="en-US" sz="1396" spc="48">
                <a:solidFill>
                  <a:srgbClr val="414A4D"/>
                </a:solidFill>
                <a:latin typeface="Arial MT Pro"/>
                <a:ea typeface="Arial MT Pro"/>
                <a:cs typeface="Arial MT Pro"/>
                <a:sym typeface="Arial MT Pro"/>
              </a:rPr>
              <a:t>for risk management, business analysis, compliance and strategic decision-making.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633912" y="2518797"/>
            <a:ext cx="3000375" cy="344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32"/>
              </a:lnSpc>
            </a:pPr>
            <a:r>
              <a:rPr lang="en-US" sz="1808" spc="52">
                <a:solidFill>
                  <a:srgbClr val="414A4D"/>
                </a:solidFill>
                <a:latin typeface="Arial MT Pro"/>
                <a:ea typeface="Arial MT Pro"/>
                <a:cs typeface="Arial MT Pro"/>
                <a:sym typeface="Arial MT Pro"/>
              </a:rPr>
              <a:t>2. From Data to Decisions -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467350" y="3144844"/>
            <a:ext cx="723900" cy="343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99"/>
              </a:lnSpc>
            </a:pPr>
            <a:r>
              <a:rPr lang="en-US" sz="1024" spc="64">
                <a:solidFill>
                  <a:srgbClr val="414A4D"/>
                </a:solidFill>
                <a:latin typeface="Arial MT Pro"/>
                <a:ea typeface="Arial MT Pro"/>
                <a:cs typeface="Arial MT Pro"/>
                <a:sym typeface="Arial MT Pro"/>
              </a:rPr>
              <a:t>1. INGEST</a:t>
            </a:r>
          </a:p>
          <a:p>
            <a:pPr algn="l">
              <a:lnSpc>
                <a:spcPts val="1299"/>
              </a:lnSpc>
            </a:pPr>
            <a:r>
              <a:rPr lang="en-US" sz="1024" spc="64">
                <a:solidFill>
                  <a:srgbClr val="414A4D"/>
                </a:solidFill>
                <a:latin typeface="Arial MT Pro"/>
                <a:ea typeface="Arial MT Pro"/>
                <a:cs typeface="Arial MT Pro"/>
                <a:sym typeface="Arial MT Pro"/>
              </a:rPr>
              <a:t>&amp; MAP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819650" y="3894774"/>
            <a:ext cx="1628775" cy="1055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64"/>
              </a:lnSpc>
            </a:pPr>
            <a:r>
              <a:rPr lang="en-US" sz="1064" spc="23">
                <a:solidFill>
                  <a:srgbClr val="414A4D"/>
                </a:solidFill>
                <a:latin typeface="Arial MT Pro"/>
                <a:ea typeface="Arial MT Pro"/>
                <a:cs typeface="Arial MT Pro"/>
                <a:sym typeface="Arial MT Pro"/>
              </a:rPr>
              <a:t>Collect external</a:t>
            </a:r>
          </a:p>
          <a:p>
            <a:pPr algn="l">
              <a:lnSpc>
                <a:spcPts val="1364"/>
              </a:lnSpc>
            </a:pPr>
            <a:r>
              <a:rPr lang="en-US" sz="1064" spc="23">
                <a:solidFill>
                  <a:srgbClr val="414A4D"/>
                </a:solidFill>
                <a:latin typeface="Arial MT Pro"/>
                <a:ea typeface="Arial MT Pro"/>
                <a:cs typeface="Arial MT Pro"/>
                <a:sym typeface="Arial MT Pro"/>
              </a:rPr>
              <a:t>attack surface data</a:t>
            </a:r>
          </a:p>
          <a:p>
            <a:pPr algn="l">
              <a:lnSpc>
                <a:spcPts val="1364"/>
              </a:lnSpc>
            </a:pPr>
            <a:r>
              <a:rPr lang="en-US" sz="1064" spc="23">
                <a:solidFill>
                  <a:srgbClr val="414A4D"/>
                </a:solidFill>
                <a:latin typeface="Arial MT Pro"/>
                <a:ea typeface="Arial MT Pro"/>
                <a:cs typeface="Arial MT Pro"/>
                <a:sym typeface="Arial MT Pro"/>
              </a:rPr>
              <a:t>(domains, CNAMES,</a:t>
            </a:r>
          </a:p>
          <a:p>
            <a:pPr algn="l">
              <a:lnSpc>
                <a:spcPts val="1364"/>
              </a:lnSpc>
            </a:pPr>
            <a:r>
              <a:rPr lang="en-US" sz="1064" spc="23">
                <a:solidFill>
                  <a:srgbClr val="414A4D"/>
                </a:solidFill>
                <a:latin typeface="Arial MT Pro"/>
                <a:ea typeface="Arial MT Pro"/>
                <a:cs typeface="Arial MT Pro"/>
                <a:sym typeface="Arial MT Pro"/>
              </a:rPr>
              <a:t>certificates, open</a:t>
            </a:r>
          </a:p>
          <a:p>
            <a:pPr algn="l">
              <a:lnSpc>
                <a:spcPts val="1364"/>
              </a:lnSpc>
            </a:pPr>
            <a:r>
              <a:rPr lang="en-US" sz="1064" spc="23">
                <a:solidFill>
                  <a:srgbClr val="414A4D"/>
                </a:solidFill>
                <a:latin typeface="Arial MT Pro"/>
                <a:ea typeface="Arial MT Pro"/>
                <a:cs typeface="Arial MT Pro"/>
                <a:sym typeface="Arial MT Pro"/>
              </a:rPr>
              <a:t>technologies, trackers,</a:t>
            </a:r>
          </a:p>
          <a:p>
            <a:pPr algn="l">
              <a:lnSpc>
                <a:spcPts val="1364"/>
              </a:lnSpc>
            </a:pPr>
            <a:r>
              <a:rPr lang="en-US" sz="1064" spc="23">
                <a:solidFill>
                  <a:srgbClr val="414A4D"/>
                </a:solidFill>
                <a:latin typeface="Arial MT Pro"/>
                <a:ea typeface="Arial MT Pro"/>
                <a:cs typeface="Arial MT Pro"/>
                <a:sym typeface="Arial MT Pro"/>
              </a:rPr>
              <a:t>third-party services, etc.).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829175" y="5117034"/>
            <a:ext cx="1571625" cy="523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3"/>
              </a:lnSpc>
            </a:pPr>
            <a:r>
              <a:rPr lang="en-US" sz="1091" spc="19">
                <a:solidFill>
                  <a:srgbClr val="414A4D"/>
                </a:solidFill>
                <a:latin typeface="Arial MT Pro"/>
                <a:ea typeface="Arial MT Pro"/>
                <a:cs typeface="Arial MT Pro"/>
                <a:sym typeface="Arial MT Pro"/>
              </a:rPr>
              <a:t>Map digital relationships</a:t>
            </a:r>
          </a:p>
          <a:p>
            <a:pPr algn="l">
              <a:lnSpc>
                <a:spcPts val="1313"/>
              </a:lnSpc>
            </a:pPr>
            <a:r>
              <a:rPr lang="en-US" sz="1091" spc="19">
                <a:solidFill>
                  <a:srgbClr val="414A4D"/>
                </a:solidFill>
                <a:latin typeface="Arial MT Pro"/>
                <a:ea typeface="Arial MT Pro"/>
                <a:cs typeface="Arial MT Pro"/>
                <a:sym typeface="Arial MT Pro"/>
              </a:rPr>
              <a:t>and build an initial</a:t>
            </a:r>
          </a:p>
          <a:p>
            <a:pPr algn="l">
              <a:lnSpc>
                <a:spcPts val="1313"/>
              </a:lnSpc>
            </a:pPr>
            <a:r>
              <a:rPr lang="en-US" sz="1091" spc="19">
                <a:solidFill>
                  <a:srgbClr val="414A4D"/>
                </a:solidFill>
                <a:latin typeface="Arial MT Pro"/>
                <a:ea typeface="Arial MT Pro"/>
                <a:cs typeface="Arial MT Pro"/>
                <a:sym typeface="Arial MT Pro"/>
              </a:rPr>
              <a:t>dependency graph.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748212" y="6013924"/>
            <a:ext cx="1266825" cy="23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04"/>
              </a:lnSpc>
            </a:pPr>
            <a:r>
              <a:rPr lang="en-US" sz="1217" spc="29">
                <a:solidFill>
                  <a:srgbClr val="414A4D"/>
                </a:solidFill>
                <a:latin typeface="Arial MT Pro"/>
                <a:ea typeface="Arial MT Pro"/>
                <a:cs typeface="Arial MT Pro"/>
                <a:sym typeface="Arial MT Pro"/>
              </a:rPr>
              <a:t>Example Outputs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829175" y="6718275"/>
            <a:ext cx="866775" cy="330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9"/>
              </a:lnSpc>
            </a:pPr>
            <a:r>
              <a:rPr lang="en-US" sz="1150" spc="20">
                <a:solidFill>
                  <a:srgbClr val="414A4D"/>
                </a:solidFill>
                <a:latin typeface="Arial MT Pro"/>
                <a:ea typeface="Arial MT Pro"/>
                <a:cs typeface="Arial MT Pro"/>
                <a:sym typeface="Arial MT Pro"/>
              </a:rPr>
              <a:t>Dependency</a:t>
            </a:r>
          </a:p>
          <a:p>
            <a:pPr algn="l">
              <a:lnSpc>
                <a:spcPts val="1249"/>
              </a:lnSpc>
            </a:pPr>
            <a:r>
              <a:rPr lang="en-US" sz="1150" spc="20">
                <a:solidFill>
                  <a:srgbClr val="414A4D"/>
                </a:solidFill>
                <a:latin typeface="Arial MT Pro"/>
                <a:ea typeface="Arial MT Pro"/>
                <a:cs typeface="Arial MT Pro"/>
                <a:sym typeface="Arial MT Pro"/>
              </a:rPr>
              <a:t>graphs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672267" y="2518489"/>
            <a:ext cx="2352675" cy="344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39"/>
              </a:lnSpc>
            </a:pPr>
            <a:r>
              <a:rPr lang="en-US" sz="1813" spc="48">
                <a:solidFill>
                  <a:srgbClr val="414A4D"/>
                </a:solidFill>
                <a:latin typeface="Arial MT Pro"/>
                <a:ea typeface="Arial MT Pro"/>
                <a:cs typeface="Arial MT Pro"/>
                <a:sym typeface="Arial MT Pro"/>
              </a:rPr>
              <a:t>How I Can Contribute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448550" y="3166727"/>
            <a:ext cx="733425" cy="184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72"/>
              </a:lnSpc>
            </a:pPr>
            <a:r>
              <a:rPr lang="en-US" sz="980" spc="78">
                <a:solidFill>
                  <a:srgbClr val="414A4D"/>
                </a:solidFill>
                <a:latin typeface="Arial MT Pro"/>
                <a:ea typeface="Arial MT Pro"/>
                <a:cs typeface="Arial MT Pro"/>
                <a:sym typeface="Arial MT Pro"/>
              </a:rPr>
              <a:t>2. ENRICH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453245" y="3320535"/>
            <a:ext cx="1219200" cy="185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41"/>
              </a:lnSpc>
            </a:pPr>
            <a:r>
              <a:rPr lang="en-US" sz="958" spc="34">
                <a:solidFill>
                  <a:srgbClr val="414A4D"/>
                </a:solidFill>
                <a:latin typeface="Arial MT Pro"/>
                <a:ea typeface="Arial MT Pro"/>
                <a:cs typeface="Arial MT Pro"/>
                <a:sym typeface="Arial MT Pro"/>
              </a:rPr>
              <a:t>&amp; CONTEXTUALISE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929316" y="3871832"/>
            <a:ext cx="1666875" cy="1742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9"/>
              </a:lnSpc>
            </a:pPr>
            <a:r>
              <a:rPr lang="en-US" sz="1069" spc="24">
                <a:solidFill>
                  <a:srgbClr val="414A4D"/>
                </a:solidFill>
                <a:latin typeface="Arial MT Pro"/>
                <a:ea typeface="Arial MT Pro"/>
                <a:cs typeface="Arial MT Pro"/>
                <a:sym typeface="Arial MT Pro"/>
              </a:rPr>
              <a:t>Enrich with internal</a:t>
            </a:r>
          </a:p>
          <a:p>
            <a:pPr algn="l">
              <a:lnSpc>
                <a:spcPts val="1509"/>
              </a:lnSpc>
            </a:pPr>
            <a:r>
              <a:rPr lang="en-US" sz="1069" spc="24">
                <a:solidFill>
                  <a:srgbClr val="414A4D"/>
                </a:solidFill>
                <a:latin typeface="Arial MT Pro"/>
                <a:ea typeface="Arial MT Pro"/>
                <a:cs typeface="Arial MT Pro"/>
                <a:sym typeface="Arial MT Pro"/>
              </a:rPr>
              <a:t>data (e.g. client lists,</a:t>
            </a:r>
          </a:p>
          <a:p>
            <a:pPr algn="l">
              <a:lnSpc>
                <a:spcPts val="1509"/>
              </a:lnSpc>
            </a:pPr>
            <a:r>
              <a:rPr lang="en-US" sz="1069" spc="24">
                <a:solidFill>
                  <a:srgbClr val="414A4D"/>
                </a:solidFill>
                <a:latin typeface="Arial MT Pro"/>
                <a:ea typeface="Arial MT Pro"/>
                <a:cs typeface="Arial MT Pro"/>
                <a:sym typeface="Arial MT Pro"/>
              </a:rPr>
              <a:t>supplier information,</a:t>
            </a:r>
          </a:p>
          <a:p>
            <a:pPr algn="l">
              <a:lnSpc>
                <a:spcPts val="1509"/>
              </a:lnSpc>
            </a:pPr>
            <a:r>
              <a:rPr lang="en-US" sz="1069" spc="24">
                <a:solidFill>
                  <a:srgbClr val="414A4D"/>
                </a:solidFill>
                <a:latin typeface="Arial MT Pro"/>
                <a:ea typeface="Arial MT Pro"/>
                <a:cs typeface="Arial MT Pro"/>
                <a:sym typeface="Arial MT Pro"/>
              </a:rPr>
              <a:t>sector, geography,</a:t>
            </a:r>
          </a:p>
          <a:p>
            <a:pPr algn="l">
              <a:lnSpc>
                <a:spcPts val="1509"/>
              </a:lnSpc>
            </a:pPr>
            <a:r>
              <a:rPr lang="en-US" sz="1069" spc="24">
                <a:solidFill>
                  <a:srgbClr val="414A4D"/>
                </a:solidFill>
                <a:latin typeface="Arial MT Pro"/>
                <a:ea typeface="Arial MT Pro"/>
                <a:cs typeface="Arial MT Pro"/>
                <a:sym typeface="Arial MT Pro"/>
              </a:rPr>
              <a:t>criticality) and external</a:t>
            </a:r>
          </a:p>
          <a:p>
            <a:pPr algn="l">
              <a:lnSpc>
                <a:spcPts val="1509"/>
              </a:lnSpc>
            </a:pPr>
            <a:r>
              <a:rPr lang="en-US" sz="1069" spc="24">
                <a:solidFill>
                  <a:srgbClr val="414A4D"/>
                </a:solidFill>
                <a:latin typeface="Arial MT Pro"/>
                <a:ea typeface="Arial MT Pro"/>
                <a:cs typeface="Arial MT Pro"/>
                <a:sym typeface="Arial MT Pro"/>
              </a:rPr>
              <a:t>threat intelligence.</a:t>
            </a:r>
          </a:p>
          <a:p>
            <a:pPr algn="l">
              <a:lnSpc>
                <a:spcPts val="1509"/>
              </a:lnSpc>
            </a:pPr>
            <a:r>
              <a:rPr lang="en-US" sz="1069" spc="24">
                <a:solidFill>
                  <a:srgbClr val="414A4D"/>
                </a:solidFill>
                <a:latin typeface="Arial MT Pro"/>
                <a:ea typeface="Arial MT Pro"/>
                <a:cs typeface="Arial MT Pro"/>
                <a:sym typeface="Arial MT Pro"/>
              </a:rPr>
              <a:t>Validate and challenge</a:t>
            </a:r>
          </a:p>
          <a:p>
            <a:pPr algn="l">
              <a:lnSpc>
                <a:spcPts val="1509"/>
              </a:lnSpc>
            </a:pPr>
            <a:r>
              <a:rPr lang="en-US" sz="1069" spc="24">
                <a:solidFill>
                  <a:srgbClr val="414A4D"/>
                </a:solidFill>
                <a:latin typeface="Arial MT Pro"/>
                <a:ea typeface="Arial MT Pro"/>
                <a:cs typeface="Arial MT Pro"/>
                <a:sym typeface="Arial MT Pro"/>
              </a:rPr>
              <a:t>declared dependencies</a:t>
            </a:r>
          </a:p>
          <a:p>
            <a:pPr algn="l">
              <a:lnSpc>
                <a:spcPts val="1509"/>
              </a:lnSpc>
            </a:pPr>
            <a:r>
              <a:rPr lang="en-US" sz="1069" spc="24">
                <a:solidFill>
                  <a:srgbClr val="414A4D"/>
                </a:solidFill>
                <a:latin typeface="Arial MT Pro"/>
                <a:ea typeface="Arial MT Pro"/>
                <a:cs typeface="Arial MT Pro"/>
                <a:sym typeface="Arial MT Pro"/>
              </a:rPr>
              <a:t>with observable evidence.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510338" y="6683321"/>
            <a:ext cx="647700" cy="210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1"/>
              </a:lnSpc>
            </a:pPr>
            <a:r>
              <a:rPr lang="en-US" sz="1100" spc="31">
                <a:solidFill>
                  <a:srgbClr val="414A4D"/>
                </a:solidFill>
                <a:latin typeface="Arial MT Pro"/>
                <a:ea typeface="Arial MT Pro"/>
                <a:cs typeface="Arial MT Pro"/>
                <a:sym typeface="Arial MT Pro"/>
              </a:rPr>
              <a:t>Exposure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510878" y="6858949"/>
            <a:ext cx="733425" cy="200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4"/>
              </a:lnSpc>
            </a:pPr>
            <a:r>
              <a:rPr lang="en-US" sz="1110" spc="45">
                <a:solidFill>
                  <a:srgbClr val="414A4D"/>
                </a:solidFill>
                <a:latin typeface="Arial MT Pro"/>
                <a:ea typeface="Arial MT Pro"/>
                <a:cs typeface="Arial MT Pro"/>
                <a:sym typeface="Arial MT Pro"/>
              </a:rPr>
              <a:t>heat maps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615488" y="3155624"/>
            <a:ext cx="828675" cy="193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7"/>
              </a:lnSpc>
            </a:pPr>
            <a:r>
              <a:rPr lang="en-US" sz="1005" spc="60">
                <a:solidFill>
                  <a:srgbClr val="D7E4DD"/>
                </a:solidFill>
                <a:latin typeface="Arial MT Pro"/>
                <a:ea typeface="Arial MT Pro"/>
                <a:cs typeface="Arial MT Pro"/>
                <a:sym typeface="Arial MT Pro"/>
              </a:rPr>
              <a:t>3. ANALYSE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605962" y="3339031"/>
            <a:ext cx="952500" cy="202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8"/>
              </a:lnSpc>
            </a:pPr>
            <a:r>
              <a:rPr lang="en-US" sz="1041" spc="34">
                <a:solidFill>
                  <a:srgbClr val="E2EEE8"/>
                </a:solidFill>
                <a:latin typeface="Arial MT Pro"/>
                <a:ea typeface="Arial MT Pro"/>
                <a:cs typeface="Arial MT Pro"/>
                <a:sym typeface="Arial MT Pro"/>
              </a:rPr>
              <a:t>&amp; PRIORITISE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048750" y="3915638"/>
            <a:ext cx="1704975" cy="670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90"/>
              </a:lnSpc>
            </a:pPr>
            <a:r>
              <a:rPr lang="en-US" sz="1036" spc="30">
                <a:solidFill>
                  <a:srgbClr val="414A4D"/>
                </a:solidFill>
                <a:latin typeface="Arial MT Pro"/>
                <a:ea typeface="Arial MT Pro"/>
                <a:cs typeface="Arial MT Pro"/>
                <a:sym typeface="Arial MT Pro"/>
              </a:rPr>
              <a:t>Identify concentration</a:t>
            </a:r>
          </a:p>
          <a:p>
            <a:pPr algn="l">
              <a:lnSpc>
                <a:spcPts val="1290"/>
              </a:lnSpc>
            </a:pPr>
            <a:r>
              <a:rPr lang="en-US" sz="1036" spc="30">
                <a:solidFill>
                  <a:srgbClr val="414A4D"/>
                </a:solidFill>
                <a:latin typeface="Arial MT Pro"/>
                <a:ea typeface="Arial MT Pro"/>
                <a:cs typeface="Arial MT Pro"/>
                <a:sym typeface="Arial MT Pro"/>
              </a:rPr>
              <a:t>risks, critical dependencies</a:t>
            </a:r>
          </a:p>
          <a:p>
            <a:pPr algn="l">
              <a:lnSpc>
                <a:spcPts val="1290"/>
              </a:lnSpc>
            </a:pPr>
            <a:r>
              <a:rPr lang="en-US" sz="1036" spc="30">
                <a:solidFill>
                  <a:srgbClr val="414A4D"/>
                </a:solidFill>
                <a:latin typeface="Arial MT Pro"/>
                <a:ea typeface="Arial MT Pro"/>
                <a:cs typeface="Arial MT Pro"/>
                <a:sym typeface="Arial MT Pro"/>
              </a:rPr>
              <a:t>and potential blast radius</a:t>
            </a:r>
          </a:p>
          <a:p>
            <a:pPr algn="l">
              <a:lnSpc>
                <a:spcPts val="1290"/>
              </a:lnSpc>
            </a:pPr>
            <a:r>
              <a:rPr lang="en-US" sz="1036" spc="30">
                <a:solidFill>
                  <a:srgbClr val="414A4D"/>
                </a:solidFill>
                <a:latin typeface="Arial MT Pro"/>
                <a:ea typeface="Arial MT Pro"/>
                <a:cs typeface="Arial MT Pro"/>
                <a:sym typeface="Arial MT Pro"/>
              </a:rPr>
              <a:t>scenarios.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043825" y="4781235"/>
            <a:ext cx="1695450" cy="878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5"/>
              </a:lnSpc>
            </a:pPr>
            <a:r>
              <a:rPr lang="en-US" sz="1054" spc="32">
                <a:solidFill>
                  <a:srgbClr val="414A4D"/>
                </a:solidFill>
                <a:latin typeface="Arial MT Pro"/>
                <a:ea typeface="Arial MT Pro"/>
                <a:cs typeface="Arial MT Pro"/>
                <a:sym typeface="Arial MT Pro"/>
              </a:rPr>
              <a:t>Assess materiality</a:t>
            </a:r>
          </a:p>
          <a:p>
            <a:pPr algn="l">
              <a:lnSpc>
                <a:spcPts val="1395"/>
              </a:lnSpc>
            </a:pPr>
            <a:r>
              <a:rPr lang="en-US" sz="1054" spc="32">
                <a:solidFill>
                  <a:srgbClr val="414A4D"/>
                </a:solidFill>
                <a:latin typeface="Arial MT Pro"/>
                <a:ea typeface="Arial MT Pro"/>
                <a:cs typeface="Arial MT Pro"/>
                <a:sym typeface="Arial MT Pro"/>
              </a:rPr>
              <a:t>based on BNPP exposure,</a:t>
            </a:r>
          </a:p>
          <a:p>
            <a:pPr algn="l">
              <a:lnSpc>
                <a:spcPts val="1395"/>
              </a:lnSpc>
            </a:pPr>
            <a:r>
              <a:rPr lang="en-US" sz="1054" spc="32">
                <a:solidFill>
                  <a:srgbClr val="414A4D"/>
                </a:solidFill>
                <a:latin typeface="Arial MT Pro"/>
                <a:ea typeface="Arial MT Pro"/>
                <a:cs typeface="Arial MT Pro"/>
                <a:sym typeface="Arial MT Pro"/>
              </a:rPr>
              <a:t>dependency criticality</a:t>
            </a:r>
          </a:p>
          <a:p>
            <a:pPr algn="l">
              <a:lnSpc>
                <a:spcPts val="1395"/>
              </a:lnSpc>
            </a:pPr>
            <a:r>
              <a:rPr lang="en-US" sz="1054" spc="32">
                <a:solidFill>
                  <a:srgbClr val="414A4D"/>
                </a:solidFill>
                <a:latin typeface="Arial MT Pro"/>
                <a:ea typeface="Arial MT Pro"/>
                <a:cs typeface="Arial MT Pro"/>
                <a:sym typeface="Arial MT Pro"/>
              </a:rPr>
              <a:t>and current threat</a:t>
            </a:r>
          </a:p>
          <a:p>
            <a:pPr algn="l">
              <a:lnSpc>
                <a:spcPts val="1395"/>
              </a:lnSpc>
            </a:pPr>
            <a:r>
              <a:rPr lang="en-US" sz="1054" spc="32">
                <a:solidFill>
                  <a:srgbClr val="414A4D"/>
                </a:solidFill>
                <a:latin typeface="Arial MT Pro"/>
                <a:ea typeface="Arial MT Pro"/>
                <a:cs typeface="Arial MT Pro"/>
                <a:sym typeface="Arial MT Pro"/>
              </a:rPr>
              <a:t>landscape.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105859" y="6719412"/>
            <a:ext cx="895350" cy="334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2"/>
              </a:lnSpc>
            </a:pPr>
            <a:r>
              <a:rPr lang="en-US" sz="1132" spc="27">
                <a:solidFill>
                  <a:srgbClr val="414A4D"/>
                </a:solidFill>
                <a:latin typeface="Arial MT Pro"/>
                <a:ea typeface="Arial MT Pro"/>
                <a:cs typeface="Arial MT Pro"/>
                <a:sym typeface="Arial MT Pro"/>
              </a:rPr>
              <a:t>Event impact</a:t>
            </a:r>
          </a:p>
          <a:p>
            <a:pPr algn="l">
              <a:lnSpc>
                <a:spcPts val="1202"/>
              </a:lnSpc>
            </a:pPr>
            <a:r>
              <a:rPr lang="en-US" sz="1132" spc="27">
                <a:solidFill>
                  <a:srgbClr val="414A4D"/>
                </a:solidFill>
                <a:latin typeface="Arial MT Pro"/>
                <a:ea typeface="Arial MT Pro"/>
                <a:cs typeface="Arial MT Pro"/>
                <a:sym typeface="Arial MT Pro"/>
              </a:rPr>
              <a:t>briefs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887043" y="6670255"/>
            <a:ext cx="952500" cy="354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2"/>
              </a:lnSpc>
            </a:pPr>
            <a:r>
              <a:rPr lang="en-US" sz="1156" spc="11">
                <a:solidFill>
                  <a:srgbClr val="414A4D"/>
                </a:solidFill>
                <a:latin typeface="Arial MT Pro"/>
                <a:ea typeface="Arial MT Pro"/>
                <a:cs typeface="Arial MT Pro"/>
                <a:sym typeface="Arial MT Pro"/>
              </a:rPr>
              <a:t>Concentration</a:t>
            </a:r>
          </a:p>
          <a:p>
            <a:pPr algn="l">
              <a:lnSpc>
                <a:spcPts val="1344"/>
              </a:lnSpc>
            </a:pPr>
            <a:r>
              <a:rPr lang="en-US" sz="1133" spc="74">
                <a:solidFill>
                  <a:srgbClr val="414A4D"/>
                </a:solidFill>
                <a:latin typeface="Calibri (MS)"/>
                <a:ea typeface="Calibri (MS)"/>
                <a:cs typeface="Calibri (MS)"/>
                <a:sym typeface="Calibri (MS)"/>
              </a:rPr>
              <a:t>analysis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692036" y="3149926"/>
            <a:ext cx="762000" cy="202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27"/>
              </a:lnSpc>
            </a:pPr>
            <a:r>
              <a:rPr lang="en-US" sz="1019" spc="76">
                <a:solidFill>
                  <a:srgbClr val="D7E4DD"/>
                </a:solidFill>
                <a:latin typeface="Arial MT Pro"/>
                <a:ea typeface="Arial MT Pro"/>
                <a:cs typeface="Arial MT Pro"/>
                <a:sym typeface="Arial MT Pro"/>
              </a:rPr>
              <a:t>4. ENABLE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701563" y="3357918"/>
            <a:ext cx="895350" cy="184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7"/>
              </a:lnSpc>
            </a:pPr>
            <a:r>
              <a:rPr lang="en-US" sz="969" spc="63">
                <a:solidFill>
                  <a:srgbClr val="D7E4DD"/>
                </a:solidFill>
                <a:latin typeface="Arial MT Pro"/>
                <a:ea typeface="Arial MT Pro"/>
                <a:cs typeface="Arial MT Pro"/>
                <a:sym typeface="Arial MT Pro"/>
              </a:rPr>
              <a:t>RISK ACTION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130278" y="3898746"/>
            <a:ext cx="1628775" cy="1104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95" spc="8">
                <a:solidFill>
                  <a:srgbClr val="414A4D"/>
                </a:solidFill>
                <a:latin typeface="Arial MT Pro"/>
                <a:ea typeface="Arial MT Pro"/>
                <a:cs typeface="Arial MT Pro"/>
                <a:sym typeface="Arial MT Pro"/>
              </a:rPr>
              <a:t>Provide actionable</a:t>
            </a:r>
          </a:p>
          <a:p>
            <a:pPr algn="l">
              <a:lnSpc>
                <a:spcPts val="1470"/>
              </a:lnSpc>
            </a:pPr>
            <a:r>
              <a:rPr lang="en-US" sz="1095" spc="8">
                <a:solidFill>
                  <a:srgbClr val="414A4D"/>
                </a:solidFill>
                <a:latin typeface="Arial MT Pro"/>
                <a:ea typeface="Arial MT Pro"/>
                <a:cs typeface="Arial MT Pro"/>
                <a:sym typeface="Arial MT Pro"/>
              </a:rPr>
              <a:t>insights for:</a:t>
            </a:r>
          </a:p>
          <a:p>
            <a:pPr algn="l">
              <a:lnSpc>
                <a:spcPts val="1470"/>
              </a:lnSpc>
            </a:pPr>
            <a:r>
              <a:rPr lang="en-US" sz="1095" spc="8">
                <a:solidFill>
                  <a:srgbClr val="414A4D"/>
                </a:solidFill>
                <a:latin typeface="Arial MT Pro"/>
                <a:ea typeface="Arial MT Pro"/>
                <a:cs typeface="Arial MT Pro"/>
                <a:sym typeface="Arial MT Pro"/>
              </a:rPr>
              <a:t>Incident response</a:t>
            </a:r>
          </a:p>
          <a:p>
            <a:pPr algn="l">
              <a:lnSpc>
                <a:spcPts val="1470"/>
              </a:lnSpc>
            </a:pPr>
            <a:r>
              <a:rPr lang="en-US" sz="1095" spc="8">
                <a:solidFill>
                  <a:srgbClr val="414A4D"/>
                </a:solidFill>
                <a:latin typeface="Arial MT Pro"/>
                <a:ea typeface="Arial MT Pro"/>
                <a:cs typeface="Arial MT Pro"/>
                <a:sym typeface="Arial MT Pro"/>
              </a:rPr>
              <a:t>⚫ Strategic risk analysis</a:t>
            </a:r>
          </a:p>
          <a:p>
            <a:pPr algn="l">
              <a:lnSpc>
                <a:spcPts val="1470"/>
              </a:lnSpc>
            </a:pPr>
            <a:r>
              <a:rPr lang="en-US" sz="1095" spc="8">
                <a:solidFill>
                  <a:srgbClr val="414A4D"/>
                </a:solidFill>
                <a:latin typeface="Arial MT Pro"/>
                <a:ea typeface="Arial MT Pro"/>
                <a:cs typeface="Arial MT Pro"/>
                <a:sym typeface="Arial MT Pro"/>
              </a:rPr>
              <a:t>• Stress testing</a:t>
            </a:r>
          </a:p>
          <a:p>
            <a:pPr algn="l">
              <a:lnSpc>
                <a:spcPts val="1470"/>
              </a:lnSpc>
            </a:pPr>
            <a:r>
              <a:rPr lang="en-US" sz="1095" spc="8">
                <a:solidFill>
                  <a:srgbClr val="414A4D"/>
                </a:solidFill>
                <a:latin typeface="Arial MT Pro"/>
                <a:ea typeface="Arial MT Pro"/>
                <a:cs typeface="Arial MT Pro"/>
                <a:sym typeface="Arial MT Pro"/>
              </a:rPr>
              <a:t>Compliance validation.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353811" y="2540327"/>
            <a:ext cx="1762125" cy="318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2"/>
              </a:lnSpc>
            </a:pPr>
            <a:r>
              <a:rPr lang="en-US" sz="1694" spc="10">
                <a:solidFill>
                  <a:srgbClr val="414A4D"/>
                </a:solidFill>
                <a:latin typeface="Arial MT Pro"/>
                <a:ea typeface="Arial MT Pro"/>
                <a:cs typeface="Arial MT Pro"/>
                <a:sym typeface="Arial MT Pro"/>
              </a:rPr>
              <a:t>3. Key Use Cases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168062" y="5059292"/>
            <a:ext cx="1485900" cy="202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6"/>
              </a:lnSpc>
            </a:pPr>
            <a:r>
              <a:rPr lang="en-US" sz="1026" spc="51">
                <a:solidFill>
                  <a:srgbClr val="414A4D"/>
                </a:solidFill>
                <a:latin typeface="Arial MT Pro"/>
                <a:ea typeface="Arial MT Pro"/>
                <a:cs typeface="Arial MT Pro"/>
                <a:sym typeface="Arial MT Pro"/>
              </a:rPr>
              <a:t>• Business discussions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439775" y="5224531"/>
            <a:ext cx="114300" cy="26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8"/>
              </a:lnSpc>
            </a:pPr>
            <a:r>
              <a:rPr lang="en-US" sz="1348">
                <a:solidFill>
                  <a:srgbClr val="E2EEE8"/>
                </a:solidFill>
                <a:latin typeface="Arial MT Pro"/>
                <a:ea typeface="Arial MT Pro"/>
                <a:cs typeface="Arial MT Pro"/>
                <a:sym typeface="Arial MT Pro"/>
              </a:rPr>
              <a:t>3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148859" y="5378626"/>
            <a:ext cx="1409700" cy="345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79"/>
              </a:lnSpc>
            </a:pPr>
            <a:r>
              <a:rPr lang="en-US" sz="1021" spc="41">
                <a:solidFill>
                  <a:srgbClr val="414A4D"/>
                </a:solidFill>
                <a:latin typeface="Arial MT Pro"/>
                <a:ea typeface="Arial MT Pro"/>
                <a:cs typeface="Arial MT Pro"/>
                <a:sym typeface="Arial MT Pro"/>
              </a:rPr>
              <a:t>Deliver clear reporting</a:t>
            </a:r>
          </a:p>
          <a:p>
            <a:pPr algn="l">
              <a:lnSpc>
                <a:spcPts val="1279"/>
              </a:lnSpc>
            </a:pPr>
            <a:r>
              <a:rPr lang="en-US" sz="1021" spc="41">
                <a:solidFill>
                  <a:srgbClr val="414A4D"/>
                </a:solidFill>
                <a:latin typeface="Arial MT Pro"/>
                <a:ea typeface="Arial MT Pro"/>
                <a:cs typeface="Arial MT Pro"/>
                <a:sym typeface="Arial MT Pro"/>
              </a:rPr>
              <a:t>and visualisations.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596918" y="6650567"/>
            <a:ext cx="923925" cy="235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38"/>
              </a:lnSpc>
            </a:pPr>
            <a:r>
              <a:rPr lang="en-US" sz="1241" spc="12">
                <a:solidFill>
                  <a:srgbClr val="414A4D"/>
                </a:solidFill>
                <a:latin typeface="Arial MT Pro"/>
                <a:ea typeface="Arial MT Pro"/>
                <a:cs typeface="Arial MT Pro"/>
                <a:sym typeface="Arial MT Pro"/>
              </a:rPr>
              <a:t>Client/sector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606256" y="6859132"/>
            <a:ext cx="819150" cy="200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0"/>
              </a:lnSpc>
            </a:pPr>
            <a:r>
              <a:rPr lang="en-US" sz="1107" spc="36">
                <a:solidFill>
                  <a:srgbClr val="414A4D"/>
                </a:solidFill>
                <a:latin typeface="Arial MT Pro"/>
                <a:ea typeface="Arial MT Pro"/>
                <a:cs typeface="Arial MT Pro"/>
                <a:sym typeface="Arial MT Pro"/>
              </a:rPr>
              <a:t>risk insights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5210370" y="142542"/>
            <a:ext cx="2105025" cy="738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4"/>
              </a:lnSpc>
            </a:pPr>
            <a:r>
              <a:rPr lang="en-US" sz="1131" spc="260">
                <a:solidFill>
                  <a:srgbClr val="6C7E7F"/>
                </a:solidFill>
                <a:latin typeface="Arial MT Pro"/>
                <a:ea typeface="Arial MT Pro"/>
                <a:cs typeface="Arial MT Pro"/>
                <a:sym typeface="Arial MT Pro"/>
              </a:rPr>
              <a:t>CONNECTING</a:t>
            </a:r>
          </a:p>
          <a:p>
            <a:pPr algn="l">
              <a:lnSpc>
                <a:spcPts val="1464"/>
              </a:lnSpc>
            </a:pPr>
            <a:r>
              <a:rPr lang="en-US" sz="1131" spc="260">
                <a:solidFill>
                  <a:srgbClr val="6C7E7F"/>
                </a:solidFill>
                <a:latin typeface="Arial MT Pro"/>
                <a:ea typeface="Arial MT Pro"/>
                <a:cs typeface="Arial MT Pro"/>
                <a:sym typeface="Arial MT Pro"/>
              </a:rPr>
              <a:t>THREATS</a:t>
            </a:r>
          </a:p>
          <a:p>
            <a:pPr algn="l">
              <a:lnSpc>
                <a:spcPts val="1464"/>
              </a:lnSpc>
            </a:pPr>
            <a:r>
              <a:rPr lang="en-US" sz="1131" spc="260">
                <a:solidFill>
                  <a:srgbClr val="6C7E7F"/>
                </a:solidFill>
                <a:latin typeface="Arial MT Pro"/>
                <a:ea typeface="Arial MT Pro"/>
                <a:cs typeface="Arial MT Pro"/>
                <a:sym typeface="Arial MT Pro"/>
              </a:rPr>
              <a:t>DEPENDENCIES</a:t>
            </a:r>
          </a:p>
          <a:p>
            <a:pPr algn="l">
              <a:lnSpc>
                <a:spcPts val="1464"/>
              </a:lnSpc>
            </a:pPr>
            <a:r>
              <a:rPr lang="en-US" sz="1131" spc="260">
                <a:solidFill>
                  <a:srgbClr val="6C7E7F"/>
                </a:solidFill>
                <a:latin typeface="Arial MT Pro"/>
                <a:ea typeface="Arial MT Pro"/>
                <a:cs typeface="Arial MT Pro"/>
                <a:sym typeface="Arial MT Pro"/>
              </a:rPr>
              <a:t>AND OPPORTUNITIES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4428362" y="3029811"/>
            <a:ext cx="2781300" cy="718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13"/>
              </a:lnSpc>
            </a:pPr>
            <a:r>
              <a:rPr lang="en-US" sz="1079" spc="1">
                <a:solidFill>
                  <a:srgbClr val="414A4D"/>
                </a:solidFill>
                <a:latin typeface="Arial MT Pro"/>
                <a:ea typeface="Arial MT Pro"/>
                <a:cs typeface="Arial MT Pro"/>
                <a:sym typeface="Arial MT Pro"/>
              </a:rPr>
              <a:t>Event-driven exposure</a:t>
            </a:r>
          </a:p>
          <a:p>
            <a:pPr algn="l">
              <a:lnSpc>
                <a:spcPts val="1413"/>
              </a:lnSpc>
            </a:pPr>
            <a:r>
              <a:rPr lang="en-US" sz="1079" spc="1">
                <a:solidFill>
                  <a:srgbClr val="414A4D"/>
                </a:solidFill>
                <a:latin typeface="Arial MT Pro"/>
                <a:ea typeface="Arial MT Pro"/>
                <a:cs typeface="Arial MT Pro"/>
                <a:sym typeface="Arial MT Pro"/>
              </a:rPr>
              <a:t>When a major vulnerability or outage occurs,</a:t>
            </a:r>
          </a:p>
          <a:p>
            <a:pPr algn="l">
              <a:lnSpc>
                <a:spcPts val="1413"/>
              </a:lnSpc>
            </a:pPr>
            <a:r>
              <a:rPr lang="en-US" sz="1079" spc="1">
                <a:solidFill>
                  <a:srgbClr val="414A4D"/>
                </a:solidFill>
                <a:latin typeface="Arial MT Pro"/>
                <a:ea typeface="Arial MT Pro"/>
                <a:cs typeface="Arial MT Pro"/>
                <a:sym typeface="Arial MT Pro"/>
              </a:rPr>
              <a:t>identify which clients, suppliers or sectors are</a:t>
            </a:r>
          </a:p>
          <a:p>
            <a:pPr algn="l">
              <a:lnSpc>
                <a:spcPts val="1413"/>
              </a:lnSpc>
            </a:pPr>
            <a:r>
              <a:rPr lang="en-US" sz="1079" spc="1">
                <a:solidFill>
                  <a:srgbClr val="414A4D"/>
                </a:solidFill>
                <a:latin typeface="Arial MT Pro"/>
                <a:ea typeface="Arial MT Pro"/>
                <a:cs typeface="Arial MT Pro"/>
                <a:sym typeface="Arial MT Pro"/>
              </a:rPr>
              <a:t>exposed and the potential impact.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4439900" y="4124977"/>
            <a:ext cx="2505075" cy="703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2"/>
              </a:lnSpc>
            </a:pPr>
            <a:r>
              <a:rPr lang="en-US" sz="1114" spc="17">
                <a:solidFill>
                  <a:srgbClr val="414A4D"/>
                </a:solidFill>
                <a:latin typeface="Arial MT Pro"/>
                <a:ea typeface="Arial MT Pro"/>
                <a:cs typeface="Arial MT Pro"/>
                <a:sym typeface="Arial MT Pro"/>
              </a:rPr>
              <a:t>Third/Nth-party concentration</a:t>
            </a:r>
          </a:p>
          <a:p>
            <a:pPr algn="l">
              <a:lnSpc>
                <a:spcPts val="1422"/>
              </a:lnSpc>
            </a:pPr>
            <a:r>
              <a:rPr lang="en-US" sz="1114" spc="17">
                <a:solidFill>
                  <a:srgbClr val="414A4D"/>
                </a:solidFill>
                <a:latin typeface="Arial MT Pro"/>
                <a:ea typeface="Arial MT Pro"/>
                <a:cs typeface="Arial MT Pro"/>
                <a:sym typeface="Arial MT Pro"/>
              </a:rPr>
              <a:t>Reveal hidden common dependencies</a:t>
            </a:r>
          </a:p>
          <a:p>
            <a:pPr algn="l">
              <a:lnSpc>
                <a:spcPts val="1422"/>
              </a:lnSpc>
            </a:pPr>
            <a:r>
              <a:rPr lang="en-US" sz="1114" spc="17">
                <a:solidFill>
                  <a:srgbClr val="414A4D"/>
                </a:solidFill>
                <a:latin typeface="Arial MT Pro"/>
                <a:ea typeface="Arial MT Pro"/>
                <a:cs typeface="Arial MT Pro"/>
                <a:sym typeface="Arial MT Pro"/>
              </a:rPr>
              <a:t>(e.g. cloud, SaaS, payment providers)</a:t>
            </a:r>
          </a:p>
          <a:p>
            <a:pPr algn="l">
              <a:lnSpc>
                <a:spcPts val="1422"/>
              </a:lnSpc>
            </a:pPr>
            <a:r>
              <a:rPr lang="en-US" sz="1114" spc="17">
                <a:solidFill>
                  <a:srgbClr val="414A4D"/>
                </a:solidFill>
                <a:latin typeface="Arial MT Pro"/>
                <a:ea typeface="Arial MT Pro"/>
                <a:cs typeface="Arial MT Pro"/>
                <a:sym typeface="Arial MT Pro"/>
              </a:rPr>
              <a:t>across apparently diversified clients.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4439900" y="5182092"/>
            <a:ext cx="2619375" cy="738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50"/>
              </a:lnSpc>
            </a:pPr>
            <a:r>
              <a:rPr lang="en-US" sz="1117" spc="26">
                <a:solidFill>
                  <a:srgbClr val="414A4D"/>
                </a:solidFill>
                <a:latin typeface="Arial MT Pro"/>
                <a:ea typeface="Arial MT Pro"/>
                <a:cs typeface="Arial MT Pro"/>
                <a:sym typeface="Arial MT Pro"/>
              </a:rPr>
              <a:t>Geopolitical and supply chain risk</a:t>
            </a:r>
          </a:p>
          <a:p>
            <a:pPr algn="l">
              <a:lnSpc>
                <a:spcPts val="1450"/>
              </a:lnSpc>
            </a:pPr>
            <a:r>
              <a:rPr lang="en-US" sz="1117" spc="26">
                <a:solidFill>
                  <a:srgbClr val="414A4D"/>
                </a:solidFill>
                <a:latin typeface="Arial MT Pro"/>
                <a:ea typeface="Arial MT Pro"/>
                <a:cs typeface="Arial MT Pro"/>
                <a:sym typeface="Arial MT Pro"/>
              </a:rPr>
              <a:t>Understand which value chains depend</a:t>
            </a:r>
          </a:p>
          <a:p>
            <a:pPr algn="l">
              <a:lnSpc>
                <a:spcPts val="1450"/>
              </a:lnSpc>
            </a:pPr>
            <a:r>
              <a:rPr lang="en-US" sz="1117" spc="26">
                <a:solidFill>
                  <a:srgbClr val="414A4D"/>
                </a:solidFill>
                <a:latin typeface="Arial MT Pro"/>
                <a:ea typeface="Arial MT Pro"/>
                <a:cs typeface="Arial MT Pro"/>
                <a:sym typeface="Arial MT Pro"/>
              </a:rPr>
              <a:t>on providers or infrastructure in</a:t>
            </a:r>
          </a:p>
          <a:p>
            <a:pPr algn="l">
              <a:lnSpc>
                <a:spcPts val="1450"/>
              </a:lnSpc>
            </a:pPr>
            <a:r>
              <a:rPr lang="en-US" sz="1117" spc="26">
                <a:solidFill>
                  <a:srgbClr val="414A4D"/>
                </a:solidFill>
                <a:latin typeface="Arial MT Pro"/>
                <a:ea typeface="Arial MT Pro"/>
                <a:cs typeface="Arial MT Pro"/>
                <a:sym typeface="Arial MT Pro"/>
              </a:rPr>
              <a:t>higher-risk regions.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3430250" y="6287528"/>
            <a:ext cx="123825" cy="276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7"/>
              </a:lnSpc>
            </a:pPr>
            <a:r>
              <a:rPr lang="en-US" sz="1483">
                <a:solidFill>
                  <a:srgbClr val="D7E4DD"/>
                </a:solidFill>
                <a:latin typeface="Arial MT Pro"/>
                <a:ea typeface="Arial MT Pro"/>
                <a:cs typeface="Arial MT Pro"/>
                <a:sym typeface="Arial MT Pro"/>
              </a:rPr>
              <a:t>4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4439873" y="6267888"/>
            <a:ext cx="2771775" cy="532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2"/>
              </a:lnSpc>
            </a:pPr>
            <a:r>
              <a:rPr lang="en-US" sz="1118" spc="23">
                <a:solidFill>
                  <a:srgbClr val="414A4D"/>
                </a:solidFill>
                <a:latin typeface="Arial MT Pro"/>
                <a:ea typeface="Arial MT Pro"/>
                <a:cs typeface="Arial MT Pro"/>
                <a:sym typeface="Arial MT Pro"/>
              </a:rPr>
              <a:t>Regulatory and resilience support</a:t>
            </a:r>
          </a:p>
          <a:p>
            <a:pPr algn="l">
              <a:lnSpc>
                <a:spcPts val="1422"/>
              </a:lnSpc>
            </a:pPr>
            <a:r>
              <a:rPr lang="en-US" sz="1118" spc="23">
                <a:solidFill>
                  <a:srgbClr val="414A4D"/>
                </a:solidFill>
                <a:latin typeface="Arial MT Pro"/>
                <a:ea typeface="Arial MT Pro"/>
                <a:cs typeface="Arial MT Pro"/>
                <a:sym typeface="Arial MT Pro"/>
              </a:rPr>
              <a:t>Provide evidence and insights to support</a:t>
            </a:r>
          </a:p>
          <a:p>
            <a:pPr algn="l">
              <a:lnSpc>
                <a:spcPts val="1422"/>
              </a:lnSpc>
            </a:pPr>
            <a:r>
              <a:rPr lang="en-US" sz="1118" spc="23">
                <a:solidFill>
                  <a:srgbClr val="414A4D"/>
                </a:solidFill>
                <a:latin typeface="Arial MT Pro"/>
                <a:ea typeface="Arial MT Pro"/>
                <a:cs typeface="Arial MT Pro"/>
                <a:sym typeface="Arial MT Pro"/>
              </a:rPr>
              <a:t>digital operational resilience requirements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238250" y="7476788"/>
            <a:ext cx="1209675" cy="361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2"/>
              </a:lnSpc>
            </a:pPr>
            <a:r>
              <a:rPr lang="en-US" sz="1880" spc="7">
                <a:solidFill>
                  <a:srgbClr val="E2EEE8"/>
                </a:solidFill>
                <a:latin typeface="Arial MT Pro"/>
                <a:ea typeface="Arial MT Pro"/>
                <a:cs typeface="Arial MT Pro"/>
                <a:sym typeface="Arial MT Pro"/>
              </a:rPr>
              <a:t>Conclusion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3390900" y="7433114"/>
            <a:ext cx="10287000" cy="443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2"/>
              </a:lnSpc>
            </a:pPr>
            <a:r>
              <a:rPr lang="en-US" sz="1368" spc="41">
                <a:solidFill>
                  <a:srgbClr val="ADD6CD"/>
                </a:solidFill>
                <a:latin typeface="Arial MT Pro"/>
                <a:ea typeface="Arial MT Pro"/>
                <a:cs typeface="Arial MT Pro"/>
                <a:sym typeface="Arial MT Pro"/>
              </a:rPr>
              <a:t>By combining an innovative EASM approach with value chain thinking, I can help turn external data into exposure intelligence</a:t>
            </a:r>
          </a:p>
          <a:p>
            <a:pPr algn="l">
              <a:lnSpc>
                <a:spcPts val="1602"/>
              </a:lnSpc>
            </a:pPr>
            <a:r>
              <a:rPr lang="en-US" sz="1368" spc="41">
                <a:solidFill>
                  <a:srgbClr val="ADD6CD"/>
                </a:solidFill>
                <a:latin typeface="Arial MT Pro"/>
                <a:ea typeface="Arial MT Pro"/>
                <a:cs typeface="Arial MT Pro"/>
                <a:sym typeface="Arial MT Pro"/>
              </a:rPr>
              <a:t>that supports better risk management, stronger client discussions and a more resilient and informed organisation.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4425624" y="6827795"/>
            <a:ext cx="2657475" cy="193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sz="1000" spc="35">
                <a:solidFill>
                  <a:srgbClr val="414A4D"/>
                </a:solidFill>
                <a:latin typeface="Arial MT Pro"/>
                <a:ea typeface="Arial MT Pro"/>
                <a:cs typeface="Arial MT Pro"/>
                <a:sym typeface="Arial MT Pro"/>
              </a:rPr>
              <a:t>(e.g. DORA) and internal risk assessments.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5163800" y="7373659"/>
            <a:ext cx="1628775" cy="453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3"/>
              </a:lnSpc>
            </a:pPr>
            <a:r>
              <a:rPr lang="en-US" sz="1029" spc="185">
                <a:solidFill>
                  <a:srgbClr val="C8DCD5"/>
                </a:solidFill>
                <a:latin typeface="Arial MT Pro"/>
                <a:ea typeface="Arial MT Pro"/>
                <a:cs typeface="Arial MT Pro"/>
                <a:sym typeface="Arial MT Pro"/>
              </a:rPr>
              <a:t>INSIGHTS TODAY</a:t>
            </a:r>
          </a:p>
          <a:p>
            <a:pPr algn="l">
              <a:lnSpc>
                <a:spcPts val="1193"/>
              </a:lnSpc>
            </a:pPr>
            <a:r>
              <a:rPr lang="en-US" sz="1029" spc="185">
                <a:solidFill>
                  <a:srgbClr val="C8DCD5"/>
                </a:solidFill>
                <a:latin typeface="Arial MT Pro"/>
                <a:ea typeface="Arial MT Pro"/>
                <a:cs typeface="Arial MT Pro"/>
                <a:sym typeface="Arial MT Pro"/>
              </a:rPr>
              <a:t>A MORE RESILIENT</a:t>
            </a:r>
          </a:p>
          <a:p>
            <a:pPr algn="l">
              <a:lnSpc>
                <a:spcPts val="1193"/>
              </a:lnSpc>
            </a:pPr>
            <a:r>
              <a:rPr lang="en-US" sz="1029" spc="185">
                <a:solidFill>
                  <a:srgbClr val="C8DCD5"/>
                </a:solidFill>
                <a:latin typeface="Arial MT Pro"/>
                <a:ea typeface="Arial MT Pro"/>
                <a:cs typeface="Arial MT Pro"/>
                <a:sym typeface="Arial MT Pro"/>
              </a:rPr>
              <a:t>TOMORROW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DAHUtTG8I68</dc:identifier>
  <dcterms:modified xsi:type="dcterms:W3CDTF">2011-08-01T06:04:30Z</dcterms:modified>
  <cp:revision>1</cp:revision>
</cp:coreProperties>
</file>