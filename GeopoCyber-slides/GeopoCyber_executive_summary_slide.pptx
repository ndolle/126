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a00a0d2bd347e6" /><Relationship Type="http://schemas.openxmlformats.org/officeDocument/2006/relationships/extended-properties" Target="/docProps/app.xml" Id="Re7f6ea87ff004981" /><Relationship Type="http://schemas.openxmlformats.org/officeDocument/2006/relationships/officeDocument" Target="/ppt/presentation.xml" Id="R3479080c683b44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63a06ea3ea4f7a"/>
  </p:sldMasterIdLst>
  <p:notesMasterIdLst>
    <p:notesMasterId xmlns:r="http://schemas.openxmlformats.org/officeDocument/2006/relationships" r:id="R5d8552e2f1374962"/>
  </p:notesMasterIdLst>
  <p:sldIdLst>
    <p:sldId xmlns:r="http://schemas.openxmlformats.org/officeDocument/2006/relationships" id="256" r:id="R4f2c90105c5547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3c23231e9c4ac5" /><Relationship Type="http://schemas.openxmlformats.org/officeDocument/2006/relationships/slideMaster" Target="/ppt/slideMasters/slideMaster1.xml" Id="Rbf63a06ea3ea4f7a" /><Relationship Type="http://schemas.openxmlformats.org/officeDocument/2006/relationships/notesMaster" Target="/ppt/notesMasters/notesMaster1.xml" Id="R5d8552e2f1374962" /><Relationship Type="http://schemas.openxmlformats.org/officeDocument/2006/relationships/presProps" Target="/ppt/presProps.xml" Id="Rff944d1358db4e03" /><Relationship Type="http://schemas.openxmlformats.org/officeDocument/2006/relationships/tableStyles" Target="/ppt/tableStyles.xml" Id="Rd12ccf092f4d49f7" /><Relationship Type="http://schemas.openxmlformats.org/officeDocument/2006/relationships/slide" Target="/ppt/slides/slide1.xml" Id="R4f2c90105c5547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6a37088ccd4f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f34297339740b6" /><Relationship Type="http://schemas.openxmlformats.org/officeDocument/2006/relationships/notesMaster" Target="/ppt/notesMasters/notesMaster1.xml" Id="Rac184999a1d048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a4fea9ab3048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308716ca33445a" /><Relationship Type="http://schemas.openxmlformats.org/officeDocument/2006/relationships/slideLayout" Target="/ppt/slideLayouts/slideLayout1.xml" Id="Rb0d454a844ad4b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d454a844ad4b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0a70c39de421f" /><Relationship Type="http://schemas.openxmlformats.org/officeDocument/2006/relationships/notesSlide" Target="/ppt/notesSlides/notesSlide1.xml" Id="R3d9a345bf2b141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B3B8EB5D-B031-433B-8ECF-15240E1B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C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42A0BBE-0FE7-4FC0-B08B-3E72E353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8A52"/>
                </a:solidFill>
              </a:defRPr>
            </a:pPr>
            <a:r>
              <a:rPr sz="975" b="1">
                <a:solidFill>
                  <a:srgbClr val="168A52"/>
                </a:solidFill>
              </a:rPr>
              <a:t>EXECUTIVE SUMMARY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FE464C-5D73-46AF-A117-8047E946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What executives should remember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C747C6D-79F5-4A5D-90DC-AC4A8EAD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87"/>
                </a:solidFill>
              </a:defRPr>
            </a:pPr>
            <a:r>
              <a:rPr sz="1350">
                <a:solidFill>
                  <a:srgbClr val="657187"/>
                </a:solidFill>
              </a:rPr>
              <a:t>The cyber threat landscape is now a geopolitical operating environment, not a sequence of isolated IT incidents.</a:t>
            </a:r>
          </a:p>
        </p:txBody>
      </p:sp>
      <p:sp>
        <p:nvSpPr>
          <p:cNvPr id="5" name="anchor-band">
            <a:extLst xmlns:a="http://schemas.openxmlformats.org/drawingml/2006/main">
              <a:ext uri="{FF2B5EF4-FFF2-40B4-BE49-F238E27FC236}">
                <a16:creationId xmlns:a16="http://schemas.microsoft.com/office/drawing/2014/main" id="{8A23BC8D-1450-4E20-BD14-FC2FBB73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991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FBF6"/>
          </a:solidFill>
          <a:ln xmlns:a="http://schemas.openxmlformats.org/drawingml/2006/main" w="9525">
            <a:solidFill>
              <a:srgbClr val="CFE6D8"/>
            </a:solidFill>
            <a:prstDash val="solid"/>
          </a:ln>
        </p:spPr>
      </p:sp>
      <p:sp>
        <p:nvSpPr>
          <p:cNvPr id="6" name="anchor-band-text">
            <a:extLst xmlns:a="http://schemas.openxmlformats.org/drawingml/2006/main">
              <a:ext uri="{FF2B5EF4-FFF2-40B4-BE49-F238E27FC236}">
                <a16:creationId xmlns:a16="http://schemas.microsoft.com/office/drawing/2014/main" id="{6D4B1166-FCF2-4595-A615-4993076F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A52"/>
                </a:solidFill>
              </a:defRPr>
            </a:pPr>
            <a:r>
              <a:rPr sz="1275" b="1">
                <a:solidFill>
                  <a:srgbClr val="168A52"/>
                </a:solidFill>
              </a:rPr>
              <a:t>The lesson: attackers are using cyber operations to create leverage before, during and after a crisis.</a:t>
            </a:r>
          </a:p>
        </p:txBody>
      </p:sp>
      <p:sp>
        <p:nvSpPr>
          <p:cNvPr id="7" name="remember-heading">
            <a:extLst xmlns:a="http://schemas.openxmlformats.org/drawingml/2006/main">
              <a:ext uri="{FF2B5EF4-FFF2-40B4-BE49-F238E27FC236}">
                <a16:creationId xmlns:a16="http://schemas.microsoft.com/office/drawing/2014/main" id="{18082A70-BFD2-443A-9EC0-8C880B03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95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8A52"/>
                </a:solidFill>
              </a:defRPr>
            </a:pPr>
            <a:r>
              <a:rPr sz="1200" b="1">
                <a:solidFill>
                  <a:srgbClr val="168A52"/>
                </a:solidFill>
              </a:rPr>
              <a:t>What they should remember</a:t>
            </a:r>
          </a:p>
        </p:txBody>
      </p:sp>
      <p:sp>
        <p:nvSpPr>
          <p:cNvPr id="8" name="means-heading">
            <a:extLst xmlns:a="http://schemas.openxmlformats.org/drawingml/2006/main">
              <a:ext uri="{FF2B5EF4-FFF2-40B4-BE49-F238E27FC236}">
                <a16:creationId xmlns:a16="http://schemas.microsoft.com/office/drawing/2014/main" id="{D61EE5B9-F81E-4075-B47F-564681DF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8A52"/>
                </a:solidFill>
              </a:defRPr>
            </a:pPr>
            <a:r>
              <a:rPr sz="1200" b="1">
                <a:solidFill>
                  <a:srgbClr val="168A52"/>
                </a:solidFill>
              </a:rPr>
              <a:t>What it means</a:t>
            </a:r>
          </a:p>
        </p:txBody>
      </p:sp>
      <p:sp>
        <p:nvSpPr>
          <p:cNvPr id="9" name="memory-1">
            <a:extLst xmlns:a="http://schemas.openxmlformats.org/drawingml/2006/main">
              <a:ext uri="{FF2B5EF4-FFF2-40B4-BE49-F238E27FC236}">
                <a16:creationId xmlns:a16="http://schemas.microsoft.com/office/drawing/2014/main" id="{C922440F-CAE0-4171-8B29-41BE7520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0991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2"/>
            </a:solidFill>
            <a:prstDash val="solid"/>
          </a:ln>
        </p:spPr>
      </p:sp>
      <p:sp>
        <p:nvSpPr>
          <p:cNvPr id="10" name="memory-1-rule">
            <a:extLst xmlns:a="http://schemas.openxmlformats.org/drawingml/2006/main">
              <a:ext uri="{FF2B5EF4-FFF2-40B4-BE49-F238E27FC236}">
                <a16:creationId xmlns:a16="http://schemas.microsoft.com/office/drawing/2014/main" id="{94D9E12E-2026-47DD-AC36-3F41C128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mory-1-icon">
            <a:extLst xmlns:a="http://schemas.openxmlformats.org/drawingml/2006/main">
              <a:ext uri="{FF2B5EF4-FFF2-40B4-BE49-F238E27FC236}">
                <a16:creationId xmlns:a16="http://schemas.microsoft.com/office/drawing/2014/main" id="{496983FF-72D0-4F57-8158-20D01A67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mory-1-icon-text">
            <a:extLst xmlns:a="http://schemas.openxmlformats.org/drawingml/2006/main">
              <a:ext uri="{FF2B5EF4-FFF2-40B4-BE49-F238E27FC236}">
                <a16:creationId xmlns:a16="http://schemas.microsoft.com/office/drawing/2014/main" id="{EABF3E3D-959E-4A1A-A132-63954EC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memory-1-title">
            <a:extLst xmlns:a="http://schemas.openxmlformats.org/drawingml/2006/main">
              <a:ext uri="{FF2B5EF4-FFF2-40B4-BE49-F238E27FC236}">
                <a16:creationId xmlns:a16="http://schemas.microsoft.com/office/drawing/2014/main" id="{6E80560C-9A49-439D-8AF2-D3168DFA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431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Actors are ecosystems</a:t>
            </a:r>
          </a:p>
        </p:txBody>
      </p:sp>
      <p:sp>
        <p:nvSpPr>
          <p:cNvPr id="14" name="memory-1-remember">
            <a:extLst xmlns:a="http://schemas.openxmlformats.org/drawingml/2006/main">
              <a:ext uri="{FF2B5EF4-FFF2-40B4-BE49-F238E27FC236}">
                <a16:creationId xmlns:a16="http://schemas.microsoft.com/office/drawing/2014/main" id="{3BEBF983-620C-46F5-8857-125DBBB6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81300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7323A"/>
                </a:solidFill>
              </a:defRPr>
            </a:pPr>
            <a:r>
              <a:rPr sz="1200">
                <a:solidFill>
                  <a:srgbClr val="27323A"/>
                </a:solidFill>
              </a:rPr>
              <a:t>State groups, proxies and criminals increasingly share objectives, tools and infrastructure.</a:t>
            </a:r>
          </a:p>
        </p:txBody>
      </p:sp>
      <p:sp>
        <p:nvSpPr>
          <p:cNvPr id="15" name="memory-1-means">
            <a:extLst xmlns:a="http://schemas.openxmlformats.org/drawingml/2006/main">
              <a:ext uri="{FF2B5EF4-FFF2-40B4-BE49-F238E27FC236}">
                <a16:creationId xmlns:a16="http://schemas.microsoft.com/office/drawing/2014/main" id="{AD5FCF8E-C2C9-4598-B3E0-E751038C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98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Treat campaigns as strategic behavior, not isolated technical events.</a:t>
            </a:r>
          </a:p>
        </p:txBody>
      </p:sp>
      <p:sp>
        <p:nvSpPr>
          <p:cNvPr id="16" name="memory-2">
            <a:extLst xmlns:a="http://schemas.openxmlformats.org/drawingml/2006/main">
              <a:ext uri="{FF2B5EF4-FFF2-40B4-BE49-F238E27FC236}">
                <a16:creationId xmlns:a16="http://schemas.microsoft.com/office/drawing/2014/main" id="{6BE7AAEC-31AA-47EC-A3B4-D225E913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10991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2"/>
            </a:solidFill>
            <a:prstDash val="solid"/>
          </a:ln>
        </p:spPr>
      </p:sp>
      <p:sp>
        <p:nvSpPr>
          <p:cNvPr id="17" name="memory-2-rule">
            <a:extLst xmlns:a="http://schemas.openxmlformats.org/drawingml/2006/main">
              <a:ext uri="{FF2B5EF4-FFF2-40B4-BE49-F238E27FC236}">
                <a16:creationId xmlns:a16="http://schemas.microsoft.com/office/drawing/2014/main" id="{28F38CEE-402F-4E0D-A077-63504CEA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mory-2-icon">
            <a:extLst xmlns:a="http://schemas.openxmlformats.org/drawingml/2006/main">
              <a:ext uri="{FF2B5EF4-FFF2-40B4-BE49-F238E27FC236}">
                <a16:creationId xmlns:a16="http://schemas.microsoft.com/office/drawing/2014/main" id="{C860FADF-60D9-4423-BEBC-151168F6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mory-2-icon-text">
            <a:extLst xmlns:a="http://schemas.openxmlformats.org/drawingml/2006/main">
              <a:ext uri="{FF2B5EF4-FFF2-40B4-BE49-F238E27FC236}">
                <a16:creationId xmlns:a16="http://schemas.microsoft.com/office/drawing/2014/main" id="{01522E62-E0C5-45E9-BA0C-7F7C7BCB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0" name="memory-2-title">
            <a:extLst xmlns:a="http://schemas.openxmlformats.org/drawingml/2006/main">
              <a:ext uri="{FF2B5EF4-FFF2-40B4-BE49-F238E27FC236}">
                <a16:creationId xmlns:a16="http://schemas.microsoft.com/office/drawing/2014/main" id="{FB4BFF1F-0973-4F57-8EB8-56008FE4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242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Access is the product</a:t>
            </a:r>
          </a:p>
        </p:txBody>
      </p:sp>
      <p:sp>
        <p:nvSpPr>
          <p:cNvPr id="21" name="memory-2-remember">
            <a:extLst xmlns:a="http://schemas.openxmlformats.org/drawingml/2006/main">
              <a:ext uri="{FF2B5EF4-FFF2-40B4-BE49-F238E27FC236}">
                <a16:creationId xmlns:a16="http://schemas.microsoft.com/office/drawing/2014/main" id="{4FF84954-B674-41BF-ABCB-E56C3A4A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62350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7323A"/>
                </a:solidFill>
              </a:defRPr>
            </a:pPr>
            <a:r>
              <a:rPr sz="1200">
                <a:solidFill>
                  <a:srgbClr val="27323A"/>
                </a:solidFill>
              </a:rPr>
              <a:t>The modern attacker prefers identity, edge devices and trusted suppliers over noisy malware.</a:t>
            </a:r>
          </a:p>
        </p:txBody>
      </p:sp>
      <p:sp>
        <p:nvSpPr>
          <p:cNvPr id="22" name="memory-2-means">
            <a:extLst xmlns:a="http://schemas.openxmlformats.org/drawingml/2006/main">
              <a:ext uri="{FF2B5EF4-FFF2-40B4-BE49-F238E27FC236}">
                <a16:creationId xmlns:a16="http://schemas.microsoft.com/office/drawing/2014/main" id="{7D0CB7C3-10CD-4626-A0E8-959DBA9D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The first breach may look like normal business activity.</a:t>
            </a:r>
          </a:p>
        </p:txBody>
      </p:sp>
      <p:sp>
        <p:nvSpPr>
          <p:cNvPr id="23" name="memory-3">
            <a:extLst xmlns:a="http://schemas.openxmlformats.org/drawingml/2006/main">
              <a:ext uri="{FF2B5EF4-FFF2-40B4-BE49-F238E27FC236}">
                <a16:creationId xmlns:a16="http://schemas.microsoft.com/office/drawing/2014/main" id="{CFD7482F-ABDC-4E28-B4DE-EA0D6A03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10991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2"/>
            </a:solidFill>
            <a:prstDash val="solid"/>
          </a:ln>
        </p:spPr>
      </p:sp>
      <p:sp>
        <p:nvSpPr>
          <p:cNvPr id="24" name="memory-3-rule">
            <a:extLst xmlns:a="http://schemas.openxmlformats.org/drawingml/2006/main">
              <a:ext uri="{FF2B5EF4-FFF2-40B4-BE49-F238E27FC236}">
                <a16:creationId xmlns:a16="http://schemas.microsoft.com/office/drawing/2014/main" id="{1BB29784-A96D-457C-94A5-213FE8FA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emory-3-icon">
            <a:extLst xmlns:a="http://schemas.openxmlformats.org/drawingml/2006/main">
              <a:ext uri="{FF2B5EF4-FFF2-40B4-BE49-F238E27FC236}">
                <a16:creationId xmlns:a16="http://schemas.microsoft.com/office/drawing/2014/main" id="{A048F6E5-EF79-4443-B2AB-E07212CE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memory-3-icon-text">
            <a:extLst xmlns:a="http://schemas.openxmlformats.org/drawingml/2006/main">
              <a:ext uri="{FF2B5EF4-FFF2-40B4-BE49-F238E27FC236}">
                <a16:creationId xmlns:a16="http://schemas.microsoft.com/office/drawing/2014/main" id="{96C68F0C-3F61-4181-A684-6D3C4B60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7" name="memory-3-title">
            <a:extLst xmlns:a="http://schemas.openxmlformats.org/drawingml/2006/main">
              <a:ext uri="{FF2B5EF4-FFF2-40B4-BE49-F238E27FC236}">
                <a16:creationId xmlns:a16="http://schemas.microsoft.com/office/drawing/2014/main" id="{62EDA310-2692-42D8-A558-E052CF55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Pressure is the payload</a:t>
            </a:r>
          </a:p>
        </p:txBody>
      </p:sp>
      <p:sp>
        <p:nvSpPr>
          <p:cNvPr id="28" name="memory-3-remember">
            <a:extLst xmlns:a="http://schemas.openxmlformats.org/drawingml/2006/main">
              <a:ext uri="{FF2B5EF4-FFF2-40B4-BE49-F238E27FC236}">
                <a16:creationId xmlns:a16="http://schemas.microsoft.com/office/drawing/2014/main" id="{12F97834-053A-46E1-A6A2-FB201F1B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7323A"/>
                </a:solidFill>
              </a:defRPr>
            </a:pPr>
            <a:r>
              <a:rPr sz="1200">
                <a:solidFill>
                  <a:srgbClr val="27323A"/>
                </a:solidFill>
              </a:rPr>
              <a:t>Espionage, theft, disruption and public claims are combined to shape decisions.</a:t>
            </a:r>
          </a:p>
        </p:txBody>
      </p:sp>
      <p:sp>
        <p:nvSpPr>
          <p:cNvPr id="29" name="memory-3-means">
            <a:extLst xmlns:a="http://schemas.openxmlformats.org/drawingml/2006/main">
              <a:ext uri="{FF2B5EF4-FFF2-40B4-BE49-F238E27FC236}">
                <a16:creationId xmlns:a16="http://schemas.microsoft.com/office/drawing/2014/main" id="{BF53F57F-2449-40D7-970C-1AE3A3E0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Cyber impact is operational, political and reputational at once.</a:t>
            </a:r>
          </a:p>
        </p:txBody>
      </p:sp>
      <p:sp>
        <p:nvSpPr>
          <p:cNvPr id="30" name="memory-4">
            <a:extLst xmlns:a="http://schemas.openxmlformats.org/drawingml/2006/main">
              <a:ext uri="{FF2B5EF4-FFF2-40B4-BE49-F238E27FC236}">
                <a16:creationId xmlns:a16="http://schemas.microsoft.com/office/drawing/2014/main" id="{DE17FC1B-2892-4904-84DB-4272334C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10991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7E2"/>
            </a:solidFill>
            <a:prstDash val="solid"/>
          </a:ln>
        </p:spPr>
      </p:sp>
      <p:sp>
        <p:nvSpPr>
          <p:cNvPr id="31" name="memory-4-rule">
            <a:extLst xmlns:a="http://schemas.openxmlformats.org/drawingml/2006/main">
              <a:ext uri="{FF2B5EF4-FFF2-40B4-BE49-F238E27FC236}">
                <a16:creationId xmlns:a16="http://schemas.microsoft.com/office/drawing/2014/main" id="{DEE5B36A-0F6A-4CB1-B3D7-938DCBD8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memory-4-icon">
            <a:extLst xmlns:a="http://schemas.openxmlformats.org/drawingml/2006/main">
              <a:ext uri="{FF2B5EF4-FFF2-40B4-BE49-F238E27FC236}">
                <a16:creationId xmlns:a16="http://schemas.microsoft.com/office/drawing/2014/main" id="{9CA75797-D353-46EB-8037-C50052DC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memory-4-icon-text">
            <a:extLst xmlns:a="http://schemas.openxmlformats.org/drawingml/2006/main">
              <a:ext uri="{FF2B5EF4-FFF2-40B4-BE49-F238E27FC236}">
                <a16:creationId xmlns:a16="http://schemas.microsoft.com/office/drawing/2014/main" id="{3AC4D2F2-C214-48B8-AB69-B57C2985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4" name="memory-4-title">
            <a:extLst xmlns:a="http://schemas.openxmlformats.org/drawingml/2006/main">
              <a:ext uri="{FF2B5EF4-FFF2-40B4-BE49-F238E27FC236}">
                <a16:creationId xmlns:a16="http://schemas.microsoft.com/office/drawing/2014/main" id="{ACFFD2ED-E0CE-43C6-B2F9-C461AF9C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863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AI compresses time</a:t>
            </a:r>
          </a:p>
        </p:txBody>
      </p:sp>
      <p:sp>
        <p:nvSpPr>
          <p:cNvPr id="35" name="memory-4-remember">
            <a:extLst xmlns:a="http://schemas.openxmlformats.org/drawingml/2006/main">
              <a:ext uri="{FF2B5EF4-FFF2-40B4-BE49-F238E27FC236}">
                <a16:creationId xmlns:a16="http://schemas.microsoft.com/office/drawing/2014/main" id="{D949EAA2-D263-42DD-BB8E-CB944F97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24450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7323A"/>
                </a:solidFill>
              </a:defRPr>
            </a:pPr>
            <a:r>
              <a:rPr sz="1200">
                <a:solidFill>
                  <a:srgbClr val="27323A"/>
                </a:solidFill>
              </a:rPr>
              <a:t>Offensive AI scales phishing, reconnaissance, fraud and malware adaptation.</a:t>
            </a:r>
          </a:p>
        </p:txBody>
      </p:sp>
      <p:sp>
        <p:nvSpPr>
          <p:cNvPr id="36" name="memory-4-means">
            <a:extLst xmlns:a="http://schemas.openxmlformats.org/drawingml/2006/main">
              <a:ext uri="{FF2B5EF4-FFF2-40B4-BE49-F238E27FC236}">
                <a16:creationId xmlns:a16="http://schemas.microsoft.com/office/drawing/2014/main" id="{FD10A219-9116-4BB5-94DB-57E3EA08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530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Decision windows shrink from weeks to hours.</a:t>
            </a:r>
          </a:p>
        </p:txBody>
      </p:sp>
      <p:sp>
        <p:nvSpPr>
          <p:cNvPr id="37" name="bottom-callout">
            <a:extLst xmlns:a="http://schemas.openxmlformats.org/drawingml/2006/main">
              <a:ext uri="{FF2B5EF4-FFF2-40B4-BE49-F238E27FC236}">
                <a16:creationId xmlns:a16="http://schemas.microsoft.com/office/drawing/2014/main" id="{72ABBD3E-1E06-4680-8B10-89146003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34050"/>
            <a:ext cx="9677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DE7E2"/>
            </a:solidFill>
            <a:prstDash val="solid"/>
          </a:ln>
        </p:spPr>
      </p:sp>
      <p:sp>
        <p:nvSpPr>
          <p:cNvPr id="38" name="bottom-label">
            <a:extLst xmlns:a="http://schemas.openxmlformats.org/drawingml/2006/main">
              <a:ext uri="{FF2B5EF4-FFF2-40B4-BE49-F238E27FC236}">
                <a16:creationId xmlns:a16="http://schemas.microsoft.com/office/drawing/2014/main" id="{085D6E1D-CEA4-4289-95D2-82362C02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245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68A52"/>
                </a:solidFill>
              </a:defRPr>
            </a:pPr>
            <a:r>
              <a:rPr sz="1050" b="1">
                <a:solidFill>
                  <a:srgbClr val="168A52"/>
                </a:solidFill>
              </a:rPr>
              <a:t>Executive meaning</a:t>
            </a:r>
          </a:p>
        </p:txBody>
      </p:sp>
      <p:sp>
        <p:nvSpPr>
          <p:cNvPr id="39" name="bottom-text">
            <a:extLst xmlns:a="http://schemas.openxmlformats.org/drawingml/2006/main">
              <a:ext uri="{FF2B5EF4-FFF2-40B4-BE49-F238E27FC236}">
                <a16:creationId xmlns:a16="http://schemas.microsoft.com/office/drawing/2014/main" id="{084AEF3A-E49C-45A8-946B-AD020891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8674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Cyber resilience is now a business-survivability question: can critical operations continue when identity, suppliers, infrastructure or trust are under attack?</a:t>
            </a:r>
          </a:p>
        </p:txBody>
      </p:sp>
    </p:spTree>
    <p:extLst>
      <p:ext uri="{BB962C8B-B14F-4D97-AF65-F5344CB8AC3E}">
        <p14:creationId xmlns:p14="http://schemas.microsoft.com/office/powerpoint/2010/main" val="879869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2026-07-10T11:44:14.1970000Z</dcterms:created>
  <dcterms:modified xsi:type="dcterms:W3CDTF">2026-07-10T11:44:14.1970000Z</dcterms:modified>
</coreProperties>
</file>