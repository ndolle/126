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4" r:id="rId2"/>
    <p:sldId id="262" r:id="rId3"/>
    <p:sldId id="263" r:id="rId4"/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slide around attacker ecology: the old split between cybercriminals, spies and soldiers no longer explains how campaigns look in practice.</a:t>
            </a:r>
          </a:p>
          <a:p>
            <a:r>
              <a:t>Pre-positioning: some state-linked actors seek durable access before a geopolitical crisis, especially in telecoms, energy and other strategic infrastructure.</a:t>
            </a:r>
          </a:p>
          <a:p>
            <a:r>
              <a:t>AI asymmetry: the attacker-side knowledge from the Q&amp;A is not hype versus no hype; it is that reconnaissance and phishing economics are changing.</a:t>
            </a:r>
          </a:p>
          <a:p>
            <a:r>
              <a:t>Hybrid model: states can use APTs, criminals and hacktivists to combine capability, scale, public messaging and plausible deniability.</a:t>
            </a:r>
          </a:p>
          <a:p>
            <a:r>
              <a:t>CSIS examples used on this overview slide deliberately avoid the later case studies: ShinyHunters, APT36, NoName057, and Iranian ATG intrusions.</a:t>
            </a:r>
          </a:p>
          <a:p>
            <a:r>
              <a:t>Keep the emphasis on actor types and operating models, leaving Lazarus, Russian proxies, UNC3886 and Handala for the dedicated case-study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 introduces the first half of the Big Four actor model while keeping the focus on adversary behavior, not defensive recommendations.</a:t>
            </a:r>
          </a:p>
          <a:p>
            <a:r>
              <a:t>China should land as patient, stealthy, economically motivated and optimized for long dwell time.</a:t>
            </a:r>
          </a:p>
          <a:p>
            <a:r>
              <a:t>Russia should land as disruptive, proxy-heavy and willing to blur sabotage with criminal-looking operations.</a:t>
            </a:r>
          </a:p>
          <a:p>
            <a:r>
              <a:t>Use the recent markers only as anchors; do not unpack the case-study details here because they return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 completes the Big Four picture with Iran and North Korea, keeping the same card structure as Slide 3.</a:t>
            </a:r>
          </a:p>
          <a:p>
            <a:r>
              <a:t>Iran should land as volatile: speed, retaliation, public messaging and destructive pressure matter as much as technical sophistication.</a:t>
            </a:r>
          </a:p>
          <a:p>
            <a:r>
              <a:t>North Korea should land as transactional: a state actor that behaves like an elite cybercrime syndicate because cyber theft funds the regime.</a:t>
            </a:r>
          </a:p>
          <a:p>
            <a:r>
              <a:t>Use the markers as signposts only; the detailed case-study facts belong on Slides 6 and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Slide 5 as the transition from who the actors are to how they now operate.</a:t>
            </a:r>
          </a:p>
          <a:p>
            <a:r>
              <a:t>Keep unvalidated numerical claims out of the visible slide. The point is the mental model: identity, invisibility,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op-emerald-rule">
            <a:extLst>
              <a:ext uri="{FF2B5EF4-FFF2-40B4-BE49-F238E27FC236}">
                <a16:creationId xmlns:a16="http://schemas.microsoft.com/office/drawing/2014/main" id="{5C609020-8116-442C-AA8D-86E20602C7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7B527DF1-275D-4BC5-932F-AFE1B9D493B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2 | STRATEGIC THREAT CONTEXT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540C7F-DD02-4F7D-B5AD-D3CE9329B61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Attackers now operate as ecosystems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7C2CBF2-4B18-4CAB-8F64-47C102C76DC2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771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Cybercrime, espionage and warfare now share infrastructure, tooling and cover stories.</a:t>
            </a:r>
          </a:p>
        </p:txBody>
      </p:sp>
      <p:sp>
        <p:nvSpPr>
          <p:cNvPr id="5" name="takeaway-panel">
            <a:extLst>
              <a:ext uri="{FF2B5EF4-FFF2-40B4-BE49-F238E27FC236}">
                <a16:creationId xmlns:a16="http://schemas.microsoft.com/office/drawing/2014/main" id="{3374D5B2-9A23-4F1C-92C9-3F3170A8DDC0}"/>
              </a:ext>
            </a:extLst>
          </p:cNvPr>
          <p:cNvSpPr>
            <a:spLocks noGrp="1"/>
          </p:cNvSpPr>
          <p:nvPr/>
        </p:nvSpPr>
        <p:spPr>
          <a:xfrm>
            <a:off x="8620125" y="409575"/>
            <a:ext cx="2914650" cy="1104900"/>
          </a:xfrm>
          <a:prstGeom prst="roundRect">
            <a:avLst>
              <a:gd name="adj" fmla="val 6897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akeaway-label">
            <a:extLst>
              <a:ext uri="{FF2B5EF4-FFF2-40B4-BE49-F238E27FC236}">
                <a16:creationId xmlns:a16="http://schemas.microsoft.com/office/drawing/2014/main" id="{F48854EB-8A71-43FE-904E-9D8E5866839C}"/>
              </a:ext>
            </a:extLst>
          </p:cNvPr>
          <p:cNvSpPr>
            <a:spLocks noGrp="1"/>
          </p:cNvSpPr>
          <p:nvPr/>
        </p:nvSpPr>
        <p:spPr>
          <a:xfrm>
            <a:off x="8839200" y="59055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Attacker logic</a:t>
            </a:r>
          </a:p>
        </p:txBody>
      </p:sp>
      <p:sp>
        <p:nvSpPr>
          <p:cNvPr id="7" name="takeaway-copy">
            <a:extLst>
              <a:ext uri="{FF2B5EF4-FFF2-40B4-BE49-F238E27FC236}">
                <a16:creationId xmlns:a16="http://schemas.microsoft.com/office/drawing/2014/main" id="{66A859E5-3DB2-4DF3-9D2B-62C44FA3C4D3}"/>
              </a:ext>
            </a:extLst>
          </p:cNvPr>
          <p:cNvSpPr>
            <a:spLocks noGrp="1"/>
          </p:cNvSpPr>
          <p:nvPr/>
        </p:nvSpPr>
        <p:spPr>
          <a:xfrm>
            <a:off x="8839200" y="8286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States borrow criminal scale; criminals borrow geopolitical cover.</a:t>
            </a:r>
          </a:p>
        </p:txBody>
      </p:sp>
      <p:sp>
        <p:nvSpPr>
          <p:cNvPr id="8" name="map-header">
            <a:extLst>
              <a:ext uri="{FF2B5EF4-FFF2-40B4-BE49-F238E27FC236}">
                <a16:creationId xmlns:a16="http://schemas.microsoft.com/office/drawing/2014/main" id="{8EA03B36-284B-4CDD-8DE7-BD8F415EA726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The old categories now converge</a:t>
            </a:r>
          </a:p>
        </p:txBody>
      </p:sp>
      <p:sp>
        <p:nvSpPr>
          <p:cNvPr id="9" name="map-sub">
            <a:extLst>
              <a:ext uri="{FF2B5EF4-FFF2-40B4-BE49-F238E27FC236}">
                <a16:creationId xmlns:a16="http://schemas.microsoft.com/office/drawing/2014/main" id="{EEDC819B-DA4B-41A3-9147-0B47C8EFEDF7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Different motives now share infrastructure, tools and cover stories.</a:t>
            </a:r>
          </a:p>
        </p:txBody>
      </p:sp>
      <p:sp>
        <p:nvSpPr>
          <p:cNvPr id="10" name="lane-1">
            <a:extLst>
              <a:ext uri="{FF2B5EF4-FFF2-40B4-BE49-F238E27FC236}">
                <a16:creationId xmlns:a16="http://schemas.microsoft.com/office/drawing/2014/main" id="{6D20117E-3B86-4394-8686-46C0D164D26B}"/>
              </a:ext>
            </a:extLst>
          </p:cNvPr>
          <p:cNvSpPr>
            <a:spLocks noGrp="1"/>
          </p:cNvSpPr>
          <p:nvPr/>
        </p:nvSpPr>
        <p:spPr>
          <a:xfrm>
            <a:off x="590550" y="2552700"/>
            <a:ext cx="2362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lane-1-bar">
            <a:extLst>
              <a:ext uri="{FF2B5EF4-FFF2-40B4-BE49-F238E27FC236}">
                <a16:creationId xmlns:a16="http://schemas.microsoft.com/office/drawing/2014/main" id="{248495C3-E445-43E4-8A0B-3ABA377652BB}"/>
              </a:ext>
            </a:extLst>
          </p:cNvPr>
          <p:cNvSpPr>
            <a:spLocks noGrp="1"/>
          </p:cNvSpPr>
          <p:nvPr/>
        </p:nvSpPr>
        <p:spPr>
          <a:xfrm>
            <a:off x="590550" y="2552700"/>
            <a:ext cx="66675" cy="552450"/>
          </a:xfrm>
          <a:prstGeom prst="rect">
            <a:avLst/>
          </a:prstGeom>
          <a:solidFill>
            <a:srgbClr val="E94F6D"/>
          </a:solidFill>
          <a:ln w="0">
            <a:solidFill>
              <a:srgbClr val="E94F6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lane-1-title">
            <a:extLst>
              <a:ext uri="{FF2B5EF4-FFF2-40B4-BE49-F238E27FC236}">
                <a16:creationId xmlns:a16="http://schemas.microsoft.com/office/drawing/2014/main" id="{4878EB78-18E0-4FFE-BAFF-BEDEAD9009DE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Cybercrime</a:t>
            </a:r>
          </a:p>
        </p:txBody>
      </p:sp>
      <p:sp>
        <p:nvSpPr>
          <p:cNvPr id="13" name="lane-1-detail">
            <a:extLst>
              <a:ext uri="{FF2B5EF4-FFF2-40B4-BE49-F238E27FC236}">
                <a16:creationId xmlns:a16="http://schemas.microsoft.com/office/drawing/2014/main" id="{DBCFA657-2BCD-460E-8A4C-B2366E44D647}"/>
              </a:ext>
            </a:extLst>
          </p:cNvPr>
          <p:cNvSpPr>
            <a:spLocks noGrp="1"/>
          </p:cNvSpPr>
          <p:nvPr/>
        </p:nvSpPr>
        <p:spPr>
          <a:xfrm>
            <a:off x="800100" y="28765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Revenue seeking</a:t>
            </a:r>
          </a:p>
        </p:txBody>
      </p:sp>
      <p:sp>
        <p:nvSpPr>
          <p:cNvPr id="14" name="lane-1-arrow">
            <a:extLst>
              <a:ext uri="{FF2B5EF4-FFF2-40B4-BE49-F238E27FC236}">
                <a16:creationId xmlns:a16="http://schemas.microsoft.com/office/drawing/2014/main" id="{8B466393-160D-45C8-80E0-18CC435C8B9E}"/>
              </a:ext>
            </a:extLst>
          </p:cNvPr>
          <p:cNvSpPr>
            <a:spLocks noGrp="1"/>
          </p:cNvSpPr>
          <p:nvPr/>
        </p:nvSpPr>
        <p:spPr>
          <a:xfrm>
            <a:off x="3086100" y="2828925"/>
            <a:ext cx="781050" cy="885825"/>
          </a:xfrm>
          <a:prstGeom prst="line">
            <a:avLst/>
          </a:prstGeom>
          <a:ln w="19050">
            <a:solidFill>
              <a:srgbClr val="B7C8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lane-2">
            <a:extLst>
              <a:ext uri="{FF2B5EF4-FFF2-40B4-BE49-F238E27FC236}">
                <a16:creationId xmlns:a16="http://schemas.microsoft.com/office/drawing/2014/main" id="{8D00BD04-23FA-4A03-9C6C-3730FCF0C9DF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2362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lane-2-bar">
            <a:extLst>
              <a:ext uri="{FF2B5EF4-FFF2-40B4-BE49-F238E27FC236}">
                <a16:creationId xmlns:a16="http://schemas.microsoft.com/office/drawing/2014/main" id="{11A1CFAD-E020-4571-8D3B-6CC7203BEE58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66675" cy="5524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lane-2-title">
            <a:extLst>
              <a:ext uri="{FF2B5EF4-FFF2-40B4-BE49-F238E27FC236}">
                <a16:creationId xmlns:a16="http://schemas.microsoft.com/office/drawing/2014/main" id="{9C3BB684-08B0-4ABB-BF9A-B0B37A84B14F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Espionage</a:t>
            </a:r>
          </a:p>
        </p:txBody>
      </p:sp>
      <p:sp>
        <p:nvSpPr>
          <p:cNvPr id="18" name="lane-2-detail">
            <a:extLst>
              <a:ext uri="{FF2B5EF4-FFF2-40B4-BE49-F238E27FC236}">
                <a16:creationId xmlns:a16="http://schemas.microsoft.com/office/drawing/2014/main" id="{32656C1D-CA5A-4AC0-B385-B8F302BCA09A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Strategic intelligence</a:t>
            </a:r>
          </a:p>
        </p:txBody>
      </p:sp>
      <p:sp>
        <p:nvSpPr>
          <p:cNvPr id="19" name="lane-2-arrow">
            <a:extLst>
              <a:ext uri="{FF2B5EF4-FFF2-40B4-BE49-F238E27FC236}">
                <a16:creationId xmlns:a16="http://schemas.microsoft.com/office/drawing/2014/main" id="{420FB411-C54A-42DA-AED9-004FE85C6B6B}"/>
              </a:ext>
            </a:extLst>
          </p:cNvPr>
          <p:cNvSpPr>
            <a:spLocks noGrp="1"/>
          </p:cNvSpPr>
          <p:nvPr/>
        </p:nvSpPr>
        <p:spPr>
          <a:xfrm>
            <a:off x="3086100" y="3609975"/>
            <a:ext cx="781050" cy="104775"/>
          </a:xfrm>
          <a:prstGeom prst="line">
            <a:avLst/>
          </a:prstGeom>
          <a:ln w="19050">
            <a:solidFill>
              <a:srgbClr val="B7C8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lane-3">
            <a:extLst>
              <a:ext uri="{FF2B5EF4-FFF2-40B4-BE49-F238E27FC236}">
                <a16:creationId xmlns:a16="http://schemas.microsoft.com/office/drawing/2014/main" id="{D234384A-6C17-454B-8DBF-9B74968BC2CF}"/>
              </a:ext>
            </a:extLst>
          </p:cNvPr>
          <p:cNvSpPr>
            <a:spLocks noGrp="1"/>
          </p:cNvSpPr>
          <p:nvPr/>
        </p:nvSpPr>
        <p:spPr>
          <a:xfrm>
            <a:off x="590550" y="4114800"/>
            <a:ext cx="23622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lane-3-bar">
            <a:extLst>
              <a:ext uri="{FF2B5EF4-FFF2-40B4-BE49-F238E27FC236}">
                <a16:creationId xmlns:a16="http://schemas.microsoft.com/office/drawing/2014/main" id="{F05C3C1C-7770-42C4-A234-70C3FEE9C7C0}"/>
              </a:ext>
            </a:extLst>
          </p:cNvPr>
          <p:cNvSpPr>
            <a:spLocks noGrp="1"/>
          </p:cNvSpPr>
          <p:nvPr/>
        </p:nvSpPr>
        <p:spPr>
          <a:xfrm>
            <a:off x="590550" y="4114800"/>
            <a:ext cx="66675" cy="552450"/>
          </a:xfrm>
          <a:prstGeom prst="rect">
            <a:avLst/>
          </a:prstGeom>
          <a:solidFill>
            <a:srgbClr val="5B6CFF"/>
          </a:solidFill>
          <a:ln w="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lane-3-title">
            <a:extLst>
              <a:ext uri="{FF2B5EF4-FFF2-40B4-BE49-F238E27FC236}">
                <a16:creationId xmlns:a16="http://schemas.microsoft.com/office/drawing/2014/main" id="{6D4608F3-E2CB-431F-8B6B-B2F5FEF44EB9}"/>
              </a:ext>
            </a:extLst>
          </p:cNvPr>
          <p:cNvSpPr>
            <a:spLocks noGrp="1"/>
          </p:cNvSpPr>
          <p:nvPr/>
        </p:nvSpPr>
        <p:spPr>
          <a:xfrm>
            <a:off x="800100" y="42100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Warfare</a:t>
            </a:r>
          </a:p>
        </p:txBody>
      </p:sp>
      <p:sp>
        <p:nvSpPr>
          <p:cNvPr id="23" name="lane-3-detail">
            <a:extLst>
              <a:ext uri="{FF2B5EF4-FFF2-40B4-BE49-F238E27FC236}">
                <a16:creationId xmlns:a16="http://schemas.microsoft.com/office/drawing/2014/main" id="{4A7DEBD2-6DE6-481B-9309-517503FD0596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Disruption leverage</a:t>
            </a:r>
          </a:p>
        </p:txBody>
      </p:sp>
      <p:sp>
        <p:nvSpPr>
          <p:cNvPr id="24" name="lane-3-arrow">
            <a:extLst>
              <a:ext uri="{FF2B5EF4-FFF2-40B4-BE49-F238E27FC236}">
                <a16:creationId xmlns:a16="http://schemas.microsoft.com/office/drawing/2014/main" id="{AB52D6C6-2D4D-47A4-9EEF-53B87A0D1C57}"/>
              </a:ext>
            </a:extLst>
          </p:cNvPr>
          <p:cNvSpPr>
            <a:spLocks noGrp="1"/>
          </p:cNvSpPr>
          <p:nvPr/>
        </p:nvSpPr>
        <p:spPr>
          <a:xfrm>
            <a:off x="3086100" y="4391025"/>
            <a:ext cx="781050" cy="0"/>
          </a:xfrm>
          <a:prstGeom prst="line">
            <a:avLst/>
          </a:prstGeom>
          <a:ln w="19050">
            <a:solidFill>
              <a:srgbClr val="B7C8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hybrid-node">
            <a:extLst>
              <a:ext uri="{FF2B5EF4-FFF2-40B4-BE49-F238E27FC236}">
                <a16:creationId xmlns:a16="http://schemas.microsoft.com/office/drawing/2014/main" id="{65D206B9-1454-4EC1-BA0C-0924CF92D0F8}"/>
              </a:ext>
            </a:extLst>
          </p:cNvPr>
          <p:cNvSpPr>
            <a:spLocks noGrp="1"/>
          </p:cNvSpPr>
          <p:nvPr/>
        </p:nvSpPr>
        <p:spPr>
          <a:xfrm>
            <a:off x="3676650" y="3028950"/>
            <a:ext cx="1466850" cy="146685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hybrid-node-title">
            <a:extLst>
              <a:ext uri="{FF2B5EF4-FFF2-40B4-BE49-F238E27FC236}">
                <a16:creationId xmlns:a16="http://schemas.microsoft.com/office/drawing/2014/main" id="{75A94C77-2132-4710-B123-7580BC2115C6}"/>
              </a:ext>
            </a:extLst>
          </p:cNvPr>
          <p:cNvSpPr>
            <a:spLocks noGrp="1"/>
          </p:cNvSpPr>
          <p:nvPr/>
        </p:nvSpPr>
        <p:spPr>
          <a:xfrm>
            <a:off x="3752850" y="3371850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Hybrid</a:t>
            </a:r>
          </a:p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27" name="hybrid-node-caption">
            <a:extLst>
              <a:ext uri="{FF2B5EF4-FFF2-40B4-BE49-F238E27FC236}">
                <a16:creationId xmlns:a16="http://schemas.microsoft.com/office/drawing/2014/main" id="{2063B971-D9B3-40A1-BE6C-A6DBECBEFF3A}"/>
              </a:ext>
            </a:extLst>
          </p:cNvPr>
          <p:cNvSpPr>
            <a:spLocks noGrp="1"/>
          </p:cNvSpPr>
          <p:nvPr/>
        </p:nvSpPr>
        <p:spPr>
          <a:xfrm>
            <a:off x="3143250" y="46577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Attribution becomes slow, disputed and politically useful.</a:t>
            </a:r>
          </a:p>
        </p:txBody>
      </p:sp>
      <p:sp>
        <p:nvSpPr>
          <p:cNvPr id="28" name="shift-header">
            <a:extLst>
              <a:ext uri="{FF2B5EF4-FFF2-40B4-BE49-F238E27FC236}">
                <a16:creationId xmlns:a16="http://schemas.microsoft.com/office/drawing/2014/main" id="{A6623369-28BC-4687-B277-1BAC962F03D0}"/>
              </a:ext>
            </a:extLst>
          </p:cNvPr>
          <p:cNvSpPr>
            <a:spLocks noGrp="1"/>
          </p:cNvSpPr>
          <p:nvPr/>
        </p:nvSpPr>
        <p:spPr>
          <a:xfrm>
            <a:off x="5810250" y="173355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Three shifts define the baseline</a:t>
            </a:r>
          </a:p>
        </p:txBody>
      </p:sp>
      <p:sp>
        <p:nvSpPr>
          <p:cNvPr id="29" name="shift-1-box">
            <a:extLst>
              <a:ext uri="{FF2B5EF4-FFF2-40B4-BE49-F238E27FC236}">
                <a16:creationId xmlns:a16="http://schemas.microsoft.com/office/drawing/2014/main" id="{485B0B4E-8B38-4D37-8187-39616A27ADAC}"/>
              </a:ext>
            </a:extLst>
          </p:cNvPr>
          <p:cNvSpPr>
            <a:spLocks noGrp="1"/>
          </p:cNvSpPr>
          <p:nvPr/>
        </p:nvSpPr>
        <p:spPr>
          <a:xfrm>
            <a:off x="5810250" y="2209800"/>
            <a:ext cx="3095625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DE9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ift-1-accent">
            <a:extLst>
              <a:ext uri="{FF2B5EF4-FFF2-40B4-BE49-F238E27FC236}">
                <a16:creationId xmlns:a16="http://schemas.microsoft.com/office/drawing/2014/main" id="{FE8D4445-38E2-4F83-BE2B-EA20DE096D9C}"/>
              </a:ext>
            </a:extLst>
          </p:cNvPr>
          <p:cNvSpPr>
            <a:spLocks noGrp="1"/>
          </p:cNvSpPr>
          <p:nvPr/>
        </p:nvSpPr>
        <p:spPr>
          <a:xfrm>
            <a:off x="5810250" y="2209800"/>
            <a:ext cx="76200" cy="9334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ift-1-icon">
            <a:extLst>
              <a:ext uri="{FF2B5EF4-FFF2-40B4-BE49-F238E27FC236}">
                <a16:creationId xmlns:a16="http://schemas.microsoft.com/office/drawing/2014/main" id="{ADC34A47-F584-4D01-AADC-DD2EDD232751}"/>
              </a:ext>
            </a:extLst>
          </p:cNvPr>
          <p:cNvSpPr>
            <a:spLocks noGrp="1"/>
          </p:cNvSpPr>
          <p:nvPr/>
        </p:nvSpPr>
        <p:spPr>
          <a:xfrm>
            <a:off x="6019800" y="2400300"/>
            <a:ext cx="419100" cy="4191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ift-1-icon-text">
            <a:extLst>
              <a:ext uri="{FF2B5EF4-FFF2-40B4-BE49-F238E27FC236}">
                <a16:creationId xmlns:a16="http://schemas.microsoft.com/office/drawing/2014/main" id="{E53AA392-EA3A-403D-AC28-43623632E9EA}"/>
              </a:ext>
            </a:extLst>
          </p:cNvPr>
          <p:cNvSpPr>
            <a:spLocks noGrp="1"/>
          </p:cNvSpPr>
          <p:nvPr/>
        </p:nvSpPr>
        <p:spPr>
          <a:xfrm>
            <a:off x="6019800" y="24860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3" name="shift-1-title">
            <a:extLst>
              <a:ext uri="{FF2B5EF4-FFF2-40B4-BE49-F238E27FC236}">
                <a16:creationId xmlns:a16="http://schemas.microsoft.com/office/drawing/2014/main" id="{10B5F5CD-8DF9-4C61-82D6-6949AB65FB3E}"/>
              </a:ext>
            </a:extLst>
          </p:cNvPr>
          <p:cNvSpPr>
            <a:spLocks noGrp="1"/>
          </p:cNvSpPr>
          <p:nvPr/>
        </p:nvSpPr>
        <p:spPr>
          <a:xfrm>
            <a:off x="6591300" y="2352675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Pre-positioning</a:t>
            </a:r>
          </a:p>
        </p:txBody>
      </p:sp>
      <p:sp>
        <p:nvSpPr>
          <p:cNvPr id="34" name="shift-1-body">
            <a:extLst>
              <a:ext uri="{FF2B5EF4-FFF2-40B4-BE49-F238E27FC236}">
                <a16:creationId xmlns:a16="http://schemas.microsoft.com/office/drawing/2014/main" id="{35C180E9-33B8-4007-9AEE-74B671794DE0}"/>
              </a:ext>
            </a:extLst>
          </p:cNvPr>
          <p:cNvSpPr>
            <a:spLocks noGrp="1"/>
          </p:cNvSpPr>
          <p:nvPr/>
        </p:nvSpPr>
        <p:spPr>
          <a:xfrm>
            <a:off x="6591300" y="2638425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Dormant access gives states options before crisis.</a:t>
            </a:r>
          </a:p>
        </p:txBody>
      </p:sp>
      <p:sp>
        <p:nvSpPr>
          <p:cNvPr id="35" name="shift-2-box">
            <a:extLst>
              <a:ext uri="{FF2B5EF4-FFF2-40B4-BE49-F238E27FC236}">
                <a16:creationId xmlns:a16="http://schemas.microsoft.com/office/drawing/2014/main" id="{F6A83D25-EFFB-4FB1-A691-093995546C3D}"/>
              </a:ext>
            </a:extLst>
          </p:cNvPr>
          <p:cNvSpPr>
            <a:spLocks noGrp="1"/>
          </p:cNvSpPr>
          <p:nvPr/>
        </p:nvSpPr>
        <p:spPr>
          <a:xfrm>
            <a:off x="5810250" y="3276600"/>
            <a:ext cx="3095625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DE9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ift-2-accent">
            <a:extLst>
              <a:ext uri="{FF2B5EF4-FFF2-40B4-BE49-F238E27FC236}">
                <a16:creationId xmlns:a16="http://schemas.microsoft.com/office/drawing/2014/main" id="{839ED768-2F43-4369-BB41-1B889150712B}"/>
              </a:ext>
            </a:extLst>
          </p:cNvPr>
          <p:cNvSpPr>
            <a:spLocks noGrp="1"/>
          </p:cNvSpPr>
          <p:nvPr/>
        </p:nvSpPr>
        <p:spPr>
          <a:xfrm>
            <a:off x="5810250" y="3276600"/>
            <a:ext cx="76200" cy="9334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ift-2-icon">
            <a:extLst>
              <a:ext uri="{FF2B5EF4-FFF2-40B4-BE49-F238E27FC236}">
                <a16:creationId xmlns:a16="http://schemas.microsoft.com/office/drawing/2014/main" id="{393D56EA-28CA-42B1-89EC-B5349CC1B302}"/>
              </a:ext>
            </a:extLst>
          </p:cNvPr>
          <p:cNvSpPr>
            <a:spLocks noGrp="1"/>
          </p:cNvSpPr>
          <p:nvPr/>
        </p:nvSpPr>
        <p:spPr>
          <a:xfrm>
            <a:off x="6019800" y="3467100"/>
            <a:ext cx="419100" cy="41910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ift-2-icon-text">
            <a:extLst>
              <a:ext uri="{FF2B5EF4-FFF2-40B4-BE49-F238E27FC236}">
                <a16:creationId xmlns:a16="http://schemas.microsoft.com/office/drawing/2014/main" id="{B71B344F-80B5-4D32-AF5B-BEF553E6C9E9}"/>
              </a:ext>
            </a:extLst>
          </p:cNvPr>
          <p:cNvSpPr>
            <a:spLocks noGrp="1"/>
          </p:cNvSpPr>
          <p:nvPr/>
        </p:nvSpPr>
        <p:spPr>
          <a:xfrm>
            <a:off x="6019800" y="35528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9" name="shift-2-title">
            <a:extLst>
              <a:ext uri="{FF2B5EF4-FFF2-40B4-BE49-F238E27FC236}">
                <a16:creationId xmlns:a16="http://schemas.microsoft.com/office/drawing/2014/main" id="{E50BA75A-82C1-4972-9F7E-00E21C100590}"/>
              </a:ext>
            </a:extLst>
          </p:cNvPr>
          <p:cNvSpPr>
            <a:spLocks noGrp="1"/>
          </p:cNvSpPr>
          <p:nvPr/>
        </p:nvSpPr>
        <p:spPr>
          <a:xfrm>
            <a:off x="6591300" y="3419475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AI asymmetry</a:t>
            </a:r>
          </a:p>
        </p:txBody>
      </p:sp>
      <p:sp>
        <p:nvSpPr>
          <p:cNvPr id="40" name="shift-2-body">
            <a:extLst>
              <a:ext uri="{FF2B5EF4-FFF2-40B4-BE49-F238E27FC236}">
                <a16:creationId xmlns:a16="http://schemas.microsoft.com/office/drawing/2014/main" id="{D5987B00-F3E9-4C3A-B1BE-82409BDB8C1C}"/>
              </a:ext>
            </a:extLst>
          </p:cNvPr>
          <p:cNvSpPr>
            <a:spLocks noGrp="1"/>
          </p:cNvSpPr>
          <p:nvPr/>
        </p:nvSpPr>
        <p:spPr>
          <a:xfrm>
            <a:off x="6591300" y="3705225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AI compresses recon and phishing from days to minutes.</a:t>
            </a:r>
          </a:p>
        </p:txBody>
      </p:sp>
      <p:sp>
        <p:nvSpPr>
          <p:cNvPr id="41" name="shift-3-box">
            <a:extLst>
              <a:ext uri="{FF2B5EF4-FFF2-40B4-BE49-F238E27FC236}">
                <a16:creationId xmlns:a16="http://schemas.microsoft.com/office/drawing/2014/main" id="{5DA53989-F754-443B-B89D-7E92DB3DCF4A}"/>
              </a:ext>
            </a:extLst>
          </p:cNvPr>
          <p:cNvSpPr>
            <a:spLocks noGrp="1"/>
          </p:cNvSpPr>
          <p:nvPr/>
        </p:nvSpPr>
        <p:spPr>
          <a:xfrm>
            <a:off x="5810250" y="4343400"/>
            <a:ext cx="3095625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DE9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ift-3-accent">
            <a:extLst>
              <a:ext uri="{FF2B5EF4-FFF2-40B4-BE49-F238E27FC236}">
                <a16:creationId xmlns:a16="http://schemas.microsoft.com/office/drawing/2014/main" id="{85A26AE9-DCDD-43EB-BBE2-A39C58FD923A}"/>
              </a:ext>
            </a:extLst>
          </p:cNvPr>
          <p:cNvSpPr>
            <a:spLocks noGrp="1"/>
          </p:cNvSpPr>
          <p:nvPr/>
        </p:nvSpPr>
        <p:spPr>
          <a:xfrm>
            <a:off x="5810250" y="4343400"/>
            <a:ext cx="76200" cy="933450"/>
          </a:xfrm>
          <a:prstGeom prst="rect">
            <a:avLst/>
          </a:prstGeom>
          <a:solidFill>
            <a:srgbClr val="5B6CFF"/>
          </a:solidFill>
          <a:ln w="0">
            <a:solidFill>
              <a:srgbClr val="5B6C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ift-3-icon">
            <a:extLst>
              <a:ext uri="{FF2B5EF4-FFF2-40B4-BE49-F238E27FC236}">
                <a16:creationId xmlns:a16="http://schemas.microsoft.com/office/drawing/2014/main" id="{CF3C952E-C167-4A74-803A-F0582B40A9B8}"/>
              </a:ext>
            </a:extLst>
          </p:cNvPr>
          <p:cNvSpPr>
            <a:spLocks noGrp="1"/>
          </p:cNvSpPr>
          <p:nvPr/>
        </p:nvSpPr>
        <p:spPr>
          <a:xfrm>
            <a:off x="6019800" y="4533900"/>
            <a:ext cx="419100" cy="419100"/>
          </a:xfrm>
          <a:prstGeom prst="ellipse">
            <a:avLst/>
          </a:prstGeom>
          <a:solidFill>
            <a:srgbClr val="5B6C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ift-3-icon-text">
            <a:extLst>
              <a:ext uri="{FF2B5EF4-FFF2-40B4-BE49-F238E27FC236}">
                <a16:creationId xmlns:a16="http://schemas.microsoft.com/office/drawing/2014/main" id="{4AC0E528-EF4D-48F9-B2C2-23E2D68535D5}"/>
              </a:ext>
            </a:extLst>
          </p:cNvPr>
          <p:cNvSpPr>
            <a:spLocks noGrp="1"/>
          </p:cNvSpPr>
          <p:nvPr/>
        </p:nvSpPr>
        <p:spPr>
          <a:xfrm>
            <a:off x="6019800" y="4619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APT</a:t>
            </a:r>
          </a:p>
        </p:txBody>
      </p:sp>
      <p:sp>
        <p:nvSpPr>
          <p:cNvPr id="45" name="shift-3-title">
            <a:extLst>
              <a:ext uri="{FF2B5EF4-FFF2-40B4-BE49-F238E27FC236}">
                <a16:creationId xmlns:a16="http://schemas.microsoft.com/office/drawing/2014/main" id="{0FA81F7A-ED49-4A23-951E-5D2F61175EE0}"/>
              </a:ext>
            </a:extLst>
          </p:cNvPr>
          <p:cNvSpPr>
            <a:spLocks noGrp="1"/>
          </p:cNvSpPr>
          <p:nvPr/>
        </p:nvSpPr>
        <p:spPr>
          <a:xfrm>
            <a:off x="6591300" y="4486275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The hybrid model</a:t>
            </a:r>
          </a:p>
        </p:txBody>
      </p:sp>
      <p:sp>
        <p:nvSpPr>
          <p:cNvPr id="46" name="shift-3-body">
            <a:extLst>
              <a:ext uri="{FF2B5EF4-FFF2-40B4-BE49-F238E27FC236}">
                <a16:creationId xmlns:a16="http://schemas.microsoft.com/office/drawing/2014/main" id="{C36DA15F-EB09-4F3B-821B-4D95352FD086}"/>
              </a:ext>
            </a:extLst>
          </p:cNvPr>
          <p:cNvSpPr>
            <a:spLocks noGrp="1"/>
          </p:cNvSpPr>
          <p:nvPr/>
        </p:nvSpPr>
        <p:spPr>
          <a:xfrm>
            <a:off x="6591300" y="4772025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Deniable proxies blur ownership and attribution.</a:t>
            </a:r>
          </a:p>
        </p:txBody>
      </p:sp>
      <p:sp>
        <p:nvSpPr>
          <p:cNvPr id="47" name="incidents-panel">
            <a:extLst>
              <a:ext uri="{FF2B5EF4-FFF2-40B4-BE49-F238E27FC236}">
                <a16:creationId xmlns:a16="http://schemas.microsoft.com/office/drawing/2014/main" id="{61799F15-AE0C-4FFF-9E87-1357F410399A}"/>
              </a:ext>
            </a:extLst>
          </p:cNvPr>
          <p:cNvSpPr>
            <a:spLocks noGrp="1"/>
          </p:cNvSpPr>
          <p:nvPr/>
        </p:nvSpPr>
        <p:spPr>
          <a:xfrm>
            <a:off x="552450" y="5353050"/>
            <a:ext cx="10991850" cy="1352550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incidents-title">
            <a:extLst>
              <a:ext uri="{FF2B5EF4-FFF2-40B4-BE49-F238E27FC236}">
                <a16:creationId xmlns:a16="http://schemas.microsoft.com/office/drawing/2014/main" id="{71C4DA8D-4760-493C-825B-1AFDEA238332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Observed signals</a:t>
            </a:r>
          </a:p>
        </p:txBody>
      </p:sp>
      <p:sp>
        <p:nvSpPr>
          <p:cNvPr id="49" name="incidents-source">
            <a:extLst>
              <a:ext uri="{FF2B5EF4-FFF2-40B4-BE49-F238E27FC236}">
                <a16:creationId xmlns:a16="http://schemas.microsoft.com/office/drawing/2014/main" id="{490A7201-6025-436A-972F-3B6BFA42A87C}"/>
              </a:ext>
            </a:extLst>
          </p:cNvPr>
          <p:cNvSpPr>
            <a:spLocks noGrp="1"/>
          </p:cNvSpPr>
          <p:nvPr/>
        </p:nvSpPr>
        <p:spPr>
          <a:xfrm>
            <a:off x="781050" y="60198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Verified examples from the CSIS significant cyber incidents timeline</a:t>
            </a:r>
          </a:p>
        </p:txBody>
      </p:sp>
      <p:sp>
        <p:nvSpPr>
          <p:cNvPr id="50" name="incident-1-dot">
            <a:extLst>
              <a:ext uri="{FF2B5EF4-FFF2-40B4-BE49-F238E27FC236}">
                <a16:creationId xmlns:a16="http://schemas.microsoft.com/office/drawing/2014/main" id="{B9DC436F-7605-485D-B85F-5B1643422458}"/>
              </a:ext>
            </a:extLst>
          </p:cNvPr>
          <p:cNvSpPr>
            <a:spLocks noGrp="1"/>
          </p:cNvSpPr>
          <p:nvPr/>
        </p:nvSpPr>
        <p:spPr>
          <a:xfrm>
            <a:off x="3314700" y="5600700"/>
            <a:ext cx="133350" cy="13335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incident-1-label">
            <a:extLst>
              <a:ext uri="{FF2B5EF4-FFF2-40B4-BE49-F238E27FC236}">
                <a16:creationId xmlns:a16="http://schemas.microsoft.com/office/drawing/2014/main" id="{241CD3CF-0E39-457C-9A0F-A48C0CBCC686}"/>
              </a:ext>
            </a:extLst>
          </p:cNvPr>
          <p:cNvSpPr>
            <a:spLocks noGrp="1"/>
          </p:cNvSpPr>
          <p:nvPr/>
        </p:nvSpPr>
        <p:spPr>
          <a:xfrm>
            <a:off x="3543300" y="55530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Criminal syndicates</a:t>
            </a:r>
          </a:p>
        </p:txBody>
      </p:sp>
      <p:sp>
        <p:nvSpPr>
          <p:cNvPr id="52" name="incident-1-actor">
            <a:extLst>
              <a:ext uri="{FF2B5EF4-FFF2-40B4-BE49-F238E27FC236}">
                <a16:creationId xmlns:a16="http://schemas.microsoft.com/office/drawing/2014/main" id="{552E5FC8-38A2-4A44-8C2D-6A04D7DC8F56}"/>
              </a:ext>
            </a:extLst>
          </p:cNvPr>
          <p:cNvSpPr>
            <a:spLocks noGrp="1"/>
          </p:cNvSpPr>
          <p:nvPr/>
        </p:nvSpPr>
        <p:spPr>
          <a:xfrm>
            <a:off x="3543300" y="5762625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SaaS and data theft</a:t>
            </a:r>
          </a:p>
        </p:txBody>
      </p:sp>
      <p:sp>
        <p:nvSpPr>
          <p:cNvPr id="53" name="incident-1-detail">
            <a:extLst>
              <a:ext uri="{FF2B5EF4-FFF2-40B4-BE49-F238E27FC236}">
                <a16:creationId xmlns:a16="http://schemas.microsoft.com/office/drawing/2014/main" id="{E23880CD-19DD-445E-AA35-E074F4A84D7D}"/>
              </a:ext>
            </a:extLst>
          </p:cNvPr>
          <p:cNvSpPr>
            <a:spLocks noGrp="1"/>
          </p:cNvSpPr>
          <p:nvPr/>
        </p:nvSpPr>
        <p:spPr>
          <a:xfrm>
            <a:off x="3543300" y="60960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ShinyHunters shows how cloud and third-party data become leverage.</a:t>
            </a:r>
          </a:p>
        </p:txBody>
      </p:sp>
      <p:sp>
        <p:nvSpPr>
          <p:cNvPr id="54" name="incident-2-dot">
            <a:extLst>
              <a:ext uri="{FF2B5EF4-FFF2-40B4-BE49-F238E27FC236}">
                <a16:creationId xmlns:a16="http://schemas.microsoft.com/office/drawing/2014/main" id="{293FE9AF-99AE-4472-8DC2-AA7876C3634E}"/>
              </a:ext>
            </a:extLst>
          </p:cNvPr>
          <p:cNvSpPr>
            <a:spLocks noGrp="1"/>
          </p:cNvSpPr>
          <p:nvPr/>
        </p:nvSpPr>
        <p:spPr>
          <a:xfrm>
            <a:off x="5429250" y="5600700"/>
            <a:ext cx="133350" cy="13335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incident-2-label">
            <a:extLst>
              <a:ext uri="{FF2B5EF4-FFF2-40B4-BE49-F238E27FC236}">
                <a16:creationId xmlns:a16="http://schemas.microsoft.com/office/drawing/2014/main" id="{FCFA0C26-5128-4FD7-9894-16F8FE40B32B}"/>
              </a:ext>
            </a:extLst>
          </p:cNvPr>
          <p:cNvSpPr>
            <a:spLocks noGrp="1"/>
          </p:cNvSpPr>
          <p:nvPr/>
        </p:nvSpPr>
        <p:spPr>
          <a:xfrm>
            <a:off x="5657850" y="55530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🇵🇰 Regional APTs</a:t>
            </a:r>
          </a:p>
        </p:txBody>
      </p:sp>
      <p:sp>
        <p:nvSpPr>
          <p:cNvPr id="56" name="incident-2-actor">
            <a:extLst>
              <a:ext uri="{FF2B5EF4-FFF2-40B4-BE49-F238E27FC236}">
                <a16:creationId xmlns:a16="http://schemas.microsoft.com/office/drawing/2014/main" id="{DEEFFF43-A062-4C4C-B2E5-D862FA4AFD5E}"/>
              </a:ext>
            </a:extLst>
          </p:cNvPr>
          <p:cNvSpPr>
            <a:spLocks noGrp="1"/>
          </p:cNvSpPr>
          <p:nvPr/>
        </p:nvSpPr>
        <p:spPr>
          <a:xfrm>
            <a:off x="5657850" y="5762625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Persistent surveillance</a:t>
            </a:r>
          </a:p>
        </p:txBody>
      </p:sp>
      <p:sp>
        <p:nvSpPr>
          <p:cNvPr id="57" name="incident-2-detail">
            <a:extLst>
              <a:ext uri="{FF2B5EF4-FFF2-40B4-BE49-F238E27FC236}">
                <a16:creationId xmlns:a16="http://schemas.microsoft.com/office/drawing/2014/main" id="{42009D61-8994-4409-B5FF-86C5D0D14FB3}"/>
              </a:ext>
            </a:extLst>
          </p:cNvPr>
          <p:cNvSpPr>
            <a:spLocks noGrp="1"/>
          </p:cNvSpPr>
          <p:nvPr/>
        </p:nvSpPr>
        <p:spPr>
          <a:xfrm>
            <a:off x="5657850" y="60960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APT36 targeted Indian government, academic and strategic bodies.</a:t>
            </a:r>
          </a:p>
        </p:txBody>
      </p:sp>
      <p:sp>
        <p:nvSpPr>
          <p:cNvPr id="58" name="incident-3-dot">
            <a:extLst>
              <a:ext uri="{FF2B5EF4-FFF2-40B4-BE49-F238E27FC236}">
                <a16:creationId xmlns:a16="http://schemas.microsoft.com/office/drawing/2014/main" id="{5214D792-7530-403C-B2A4-1D7DF7932377}"/>
              </a:ext>
            </a:extLst>
          </p:cNvPr>
          <p:cNvSpPr>
            <a:spLocks noGrp="1"/>
          </p:cNvSpPr>
          <p:nvPr/>
        </p:nvSpPr>
        <p:spPr>
          <a:xfrm>
            <a:off x="7486650" y="5600700"/>
            <a:ext cx="133350" cy="133350"/>
          </a:xfrm>
          <a:prstGeom prst="ellipse">
            <a:avLst/>
          </a:prstGeom>
          <a:solidFill>
            <a:srgbClr val="F5A62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incident-3-label">
            <a:extLst>
              <a:ext uri="{FF2B5EF4-FFF2-40B4-BE49-F238E27FC236}">
                <a16:creationId xmlns:a16="http://schemas.microsoft.com/office/drawing/2014/main" id="{4FFF8333-8AD8-462C-AAD3-66EC919BFCDA}"/>
              </a:ext>
            </a:extLst>
          </p:cNvPr>
          <p:cNvSpPr>
            <a:spLocks noGrp="1"/>
          </p:cNvSpPr>
          <p:nvPr/>
        </p:nvSpPr>
        <p:spPr>
          <a:xfrm>
            <a:off x="7715250" y="55530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🇷🇺 Proxy pressure</a:t>
            </a:r>
          </a:p>
        </p:txBody>
      </p:sp>
      <p:sp>
        <p:nvSpPr>
          <p:cNvPr id="60" name="incident-3-actor">
            <a:extLst>
              <a:ext uri="{FF2B5EF4-FFF2-40B4-BE49-F238E27FC236}">
                <a16:creationId xmlns:a16="http://schemas.microsoft.com/office/drawing/2014/main" id="{3C7B262F-275C-4E5C-A519-476F5D0433AB}"/>
              </a:ext>
            </a:extLst>
          </p:cNvPr>
          <p:cNvSpPr>
            <a:spLocks noGrp="1"/>
          </p:cNvSpPr>
          <p:nvPr/>
        </p:nvSpPr>
        <p:spPr>
          <a:xfrm>
            <a:off x="7715250" y="5762625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Political DDoS</a:t>
            </a:r>
          </a:p>
        </p:txBody>
      </p:sp>
      <p:sp>
        <p:nvSpPr>
          <p:cNvPr id="61" name="incident-3-detail">
            <a:extLst>
              <a:ext uri="{FF2B5EF4-FFF2-40B4-BE49-F238E27FC236}">
                <a16:creationId xmlns:a16="http://schemas.microsoft.com/office/drawing/2014/main" id="{7D8C1F14-F95E-4BC9-9C8D-3B2C04C10605}"/>
              </a:ext>
            </a:extLst>
          </p:cNvPr>
          <p:cNvSpPr>
            <a:spLocks noGrp="1"/>
          </p:cNvSpPr>
          <p:nvPr/>
        </p:nvSpPr>
        <p:spPr>
          <a:xfrm>
            <a:off x="7715250" y="60960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NoName057 hit Belgian telecom, health and defense websites.</a:t>
            </a:r>
          </a:p>
        </p:txBody>
      </p:sp>
      <p:sp>
        <p:nvSpPr>
          <p:cNvPr id="62" name="incident-4-dot">
            <a:extLst>
              <a:ext uri="{FF2B5EF4-FFF2-40B4-BE49-F238E27FC236}">
                <a16:creationId xmlns:a16="http://schemas.microsoft.com/office/drawing/2014/main" id="{6B4E5CF4-4C84-485D-BD77-DD7EAA950DA4}"/>
              </a:ext>
            </a:extLst>
          </p:cNvPr>
          <p:cNvSpPr>
            <a:spLocks noGrp="1"/>
          </p:cNvSpPr>
          <p:nvPr/>
        </p:nvSpPr>
        <p:spPr>
          <a:xfrm>
            <a:off x="9544050" y="5600700"/>
            <a:ext cx="133350" cy="133350"/>
          </a:xfrm>
          <a:prstGeom prst="ellipse">
            <a:avLst/>
          </a:prstGeom>
          <a:solidFill>
            <a:srgbClr val="5B6C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incident-4-label">
            <a:extLst>
              <a:ext uri="{FF2B5EF4-FFF2-40B4-BE49-F238E27FC236}">
                <a16:creationId xmlns:a16="http://schemas.microsoft.com/office/drawing/2014/main" id="{6C074AD9-6002-4AEF-8DB7-AF4E6389CEF9}"/>
              </a:ext>
            </a:extLst>
          </p:cNvPr>
          <p:cNvSpPr>
            <a:spLocks noGrp="1"/>
          </p:cNvSpPr>
          <p:nvPr/>
        </p:nvSpPr>
        <p:spPr>
          <a:xfrm>
            <a:off x="9772650" y="55530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🇮🇷 OT exposure</a:t>
            </a:r>
          </a:p>
        </p:txBody>
      </p:sp>
      <p:sp>
        <p:nvSpPr>
          <p:cNvPr id="64" name="incident-4-actor">
            <a:extLst>
              <a:ext uri="{FF2B5EF4-FFF2-40B4-BE49-F238E27FC236}">
                <a16:creationId xmlns:a16="http://schemas.microsoft.com/office/drawing/2014/main" id="{CF28B7DD-4049-4526-BD85-D124F5C9F409}"/>
              </a:ext>
            </a:extLst>
          </p:cNvPr>
          <p:cNvSpPr>
            <a:spLocks noGrp="1"/>
          </p:cNvSpPr>
          <p:nvPr/>
        </p:nvSpPr>
        <p:spPr>
          <a:xfrm>
            <a:off x="9772650" y="5762625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Fuel-system access</a:t>
            </a:r>
          </a:p>
        </p:txBody>
      </p:sp>
      <p:sp>
        <p:nvSpPr>
          <p:cNvPr id="65" name="incident-4-detail">
            <a:extLst>
              <a:ext uri="{FF2B5EF4-FFF2-40B4-BE49-F238E27FC236}">
                <a16:creationId xmlns:a16="http://schemas.microsoft.com/office/drawing/2014/main" id="{B7F2884F-B8F3-4E89-8D31-A42D6847729C}"/>
              </a:ext>
            </a:extLst>
          </p:cNvPr>
          <p:cNvSpPr>
            <a:spLocks noGrp="1"/>
          </p:cNvSpPr>
          <p:nvPr/>
        </p:nvSpPr>
        <p:spPr>
          <a:xfrm>
            <a:off x="9772650" y="60960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Iranian hackers reached exposed gas-station tank gauges.</a:t>
            </a:r>
          </a:p>
        </p:txBody>
      </p:sp>
    </p:spTree>
    <p:extLst>
      <p:ext uri="{BB962C8B-B14F-4D97-AF65-F5344CB8AC3E}">
        <p14:creationId xmlns:p14="http://schemas.microsoft.com/office/powerpoint/2010/main" val="110038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-3-top-rule">
            <a:extLst>
              <a:ext uri="{FF2B5EF4-FFF2-40B4-BE49-F238E27FC236}">
                <a16:creationId xmlns:a16="http://schemas.microsoft.com/office/drawing/2014/main" id="{367BA06B-135F-4AD3-99BB-4BA985974F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3-eyebrow">
            <a:extLst>
              <a:ext uri="{FF2B5EF4-FFF2-40B4-BE49-F238E27FC236}">
                <a16:creationId xmlns:a16="http://schemas.microsoft.com/office/drawing/2014/main" id="{A9056F3B-2C4C-4754-A744-CC37E3DF9A1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3 | THREAT ACTOR MAPPING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D961E616-4B0F-4035-B37B-CE7A566582A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Threat Actor Mapping (1/2)</a:t>
            </a:r>
          </a:p>
        </p:txBody>
      </p:sp>
      <p:sp>
        <p:nvSpPr>
          <p:cNvPr id="4" name="slide-3-subtitle">
            <a:extLst>
              <a:ext uri="{FF2B5EF4-FFF2-40B4-BE49-F238E27FC236}">
                <a16:creationId xmlns:a16="http://schemas.microsoft.com/office/drawing/2014/main" id="{3386E464-0FD9-49D2-B26C-B0D78711F685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The Big Four: Part 1 | Patient Espionage vs. Kinetic Sabotage</a:t>
            </a:r>
          </a:p>
        </p:txBody>
      </p:sp>
      <p:sp>
        <p:nvSpPr>
          <p:cNvPr id="5" name="china-card">
            <a:extLst>
              <a:ext uri="{FF2B5EF4-FFF2-40B4-BE49-F238E27FC236}">
                <a16:creationId xmlns:a16="http://schemas.microsoft.com/office/drawing/2014/main" id="{8DB106C1-41C1-4645-B5B8-6A57C2871C38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54483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china-accent">
            <a:extLst>
              <a:ext uri="{FF2B5EF4-FFF2-40B4-BE49-F238E27FC236}">
                <a16:creationId xmlns:a16="http://schemas.microsoft.com/office/drawing/2014/main" id="{73F708EE-4910-40FF-8A37-297CAC16A98A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85725" cy="44767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china-flag-stripe-0">
            <a:extLst>
              <a:ext uri="{FF2B5EF4-FFF2-40B4-BE49-F238E27FC236}">
                <a16:creationId xmlns:a16="http://schemas.microsoft.com/office/drawing/2014/main" id="{CB877766-60C3-4270-99C9-3142431C58C9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280988" cy="361950"/>
          </a:xfrm>
          <a:prstGeom prst="rect">
            <a:avLst/>
          </a:prstGeom>
          <a:solidFill>
            <a:srgbClr val="DE2910"/>
          </a:solidFill>
          <a:ln w="0">
            <a:solidFill>
              <a:srgbClr val="DE29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china-flag-stripe-1">
            <a:extLst>
              <a:ext uri="{FF2B5EF4-FFF2-40B4-BE49-F238E27FC236}">
                <a16:creationId xmlns:a16="http://schemas.microsoft.com/office/drawing/2014/main" id="{45044C66-3B52-4148-800E-2D74C051575C}"/>
              </a:ext>
            </a:extLst>
          </p:cNvPr>
          <p:cNvSpPr>
            <a:spLocks noGrp="1"/>
          </p:cNvSpPr>
          <p:nvPr/>
        </p:nvSpPr>
        <p:spPr>
          <a:xfrm>
            <a:off x="1095375" y="1885950"/>
            <a:ext cx="280988" cy="361950"/>
          </a:xfrm>
          <a:prstGeom prst="rect">
            <a:avLst/>
          </a:prstGeom>
          <a:solidFill>
            <a:srgbClr val="FFDE00"/>
          </a:solidFill>
          <a:ln w="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china-flag-outline">
            <a:extLst>
              <a:ext uri="{FF2B5EF4-FFF2-40B4-BE49-F238E27FC236}">
                <a16:creationId xmlns:a16="http://schemas.microsoft.com/office/drawing/2014/main" id="{10539A6E-2025-4228-9D9F-EC36493FF6E7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552450" cy="3619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china-country">
            <a:extLst>
              <a:ext uri="{FF2B5EF4-FFF2-40B4-BE49-F238E27FC236}">
                <a16:creationId xmlns:a16="http://schemas.microsoft.com/office/drawing/2014/main" id="{F557BC17-5F65-49F9-9E8D-04A4DC62B0EF}"/>
              </a:ext>
            </a:extLst>
          </p:cNvPr>
          <p:cNvSpPr>
            <a:spLocks noGrp="1"/>
          </p:cNvSpPr>
          <p:nvPr/>
        </p:nvSpPr>
        <p:spPr>
          <a:xfrm>
            <a:off x="1543050" y="1866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CHINA</a:t>
            </a:r>
          </a:p>
        </p:txBody>
      </p:sp>
      <p:sp>
        <p:nvSpPr>
          <p:cNvPr id="11" name="china-descriptor">
            <a:extLst>
              <a:ext uri="{FF2B5EF4-FFF2-40B4-BE49-F238E27FC236}">
                <a16:creationId xmlns:a16="http://schemas.microsoft.com/office/drawing/2014/main" id="{D940B4AE-B14C-4354-AF1A-5A617FB0B9E2}"/>
              </a:ext>
            </a:extLst>
          </p:cNvPr>
          <p:cNvSpPr>
            <a:spLocks noGrp="1"/>
          </p:cNvSpPr>
          <p:nvPr/>
        </p:nvSpPr>
        <p:spPr>
          <a:xfrm>
            <a:off x="1543050" y="2190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Espionage &amp; IP Theft</a:t>
            </a:r>
          </a:p>
        </p:txBody>
      </p:sp>
      <p:sp>
        <p:nvSpPr>
          <p:cNvPr id="12" name="china-quote">
            <a:extLst>
              <a:ext uri="{FF2B5EF4-FFF2-40B4-BE49-F238E27FC236}">
                <a16:creationId xmlns:a16="http://schemas.microsoft.com/office/drawing/2014/main" id="{7FBE097F-6B4C-4C72-9D6E-BF0873682034}"/>
              </a:ext>
            </a:extLst>
          </p:cNvPr>
          <p:cNvSpPr>
            <a:spLocks noGrp="1"/>
          </p:cNvSpPr>
          <p:nvPr/>
        </p:nvSpPr>
        <p:spPr>
          <a:xfrm>
            <a:off x="4219575" y="19050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D64550"/>
                </a:solidFill>
              </a:defRPr>
            </a:pPr>
            <a:r>
              <a:rPr sz="1275" b="1">
                <a:solidFill>
                  <a:srgbClr val="D64550"/>
                </a:solidFill>
              </a:rPr>
              <a:t>Patient economic dominance</a:t>
            </a:r>
          </a:p>
        </p:txBody>
      </p:sp>
      <p:sp>
        <p:nvSpPr>
          <p:cNvPr id="13" name="china-row-0-rule">
            <a:extLst>
              <a:ext uri="{FF2B5EF4-FFF2-40B4-BE49-F238E27FC236}">
                <a16:creationId xmlns:a16="http://schemas.microsoft.com/office/drawing/2014/main" id="{2C337D12-4B2E-4E84-A91A-2C6F28A5B64D}"/>
              </a:ext>
            </a:extLst>
          </p:cNvPr>
          <p:cNvSpPr>
            <a:spLocks noGrp="1"/>
          </p:cNvSpPr>
          <p:nvPr/>
        </p:nvSpPr>
        <p:spPr>
          <a:xfrm>
            <a:off x="895350" y="277177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china-row-0-label">
            <a:extLst>
              <a:ext uri="{FF2B5EF4-FFF2-40B4-BE49-F238E27FC236}">
                <a16:creationId xmlns:a16="http://schemas.microsoft.com/office/drawing/2014/main" id="{E9F160C2-8BB7-4475-A345-1A4E9868CC36}"/>
              </a:ext>
            </a:extLst>
          </p:cNvPr>
          <p:cNvSpPr>
            <a:spLocks noGrp="1"/>
          </p:cNvSpPr>
          <p:nvPr/>
        </p:nvSpPr>
        <p:spPr>
          <a:xfrm>
            <a:off x="1066800" y="27051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Motivation</a:t>
            </a:r>
          </a:p>
        </p:txBody>
      </p:sp>
      <p:sp>
        <p:nvSpPr>
          <p:cNvPr id="15" name="china-row-0-detail">
            <a:extLst>
              <a:ext uri="{FF2B5EF4-FFF2-40B4-BE49-F238E27FC236}">
                <a16:creationId xmlns:a16="http://schemas.microsoft.com/office/drawing/2014/main" id="{A1FBACE7-BDD7-4150-98EB-8A6FD224603C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Long-term strategic advantage and economic dominance.</a:t>
            </a:r>
          </a:p>
        </p:txBody>
      </p:sp>
      <p:sp>
        <p:nvSpPr>
          <p:cNvPr id="16" name="china-row-1-rule">
            <a:extLst>
              <a:ext uri="{FF2B5EF4-FFF2-40B4-BE49-F238E27FC236}">
                <a16:creationId xmlns:a16="http://schemas.microsoft.com/office/drawing/2014/main" id="{0DCD2599-A7E9-42C3-A415-2B9F1E3DE35C}"/>
              </a:ext>
            </a:extLst>
          </p:cNvPr>
          <p:cNvSpPr>
            <a:spLocks noGrp="1"/>
          </p:cNvSpPr>
          <p:nvPr/>
        </p:nvSpPr>
        <p:spPr>
          <a:xfrm>
            <a:off x="895350" y="332422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china-row-1-label">
            <a:extLst>
              <a:ext uri="{FF2B5EF4-FFF2-40B4-BE49-F238E27FC236}">
                <a16:creationId xmlns:a16="http://schemas.microsoft.com/office/drawing/2014/main" id="{4D23A67B-043E-4E31-B998-897B711EC658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Primary targets</a:t>
            </a:r>
          </a:p>
        </p:txBody>
      </p:sp>
      <p:sp>
        <p:nvSpPr>
          <p:cNvPr id="18" name="china-row-1-detail">
            <a:extLst>
              <a:ext uri="{FF2B5EF4-FFF2-40B4-BE49-F238E27FC236}">
                <a16:creationId xmlns:a16="http://schemas.microsoft.com/office/drawing/2014/main" id="{3C3E10E4-4992-41FD-873F-A9B8F5B22BDA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IP, critical infrastructure, advanced manufacturing.</a:t>
            </a:r>
          </a:p>
        </p:txBody>
      </p:sp>
      <p:sp>
        <p:nvSpPr>
          <p:cNvPr id="19" name="china-row-2-rule">
            <a:extLst>
              <a:ext uri="{FF2B5EF4-FFF2-40B4-BE49-F238E27FC236}">
                <a16:creationId xmlns:a16="http://schemas.microsoft.com/office/drawing/2014/main" id="{339137AD-AA0F-406D-B615-6EA420BAB8C6}"/>
              </a:ext>
            </a:extLst>
          </p:cNvPr>
          <p:cNvSpPr>
            <a:spLocks noGrp="1"/>
          </p:cNvSpPr>
          <p:nvPr/>
        </p:nvSpPr>
        <p:spPr>
          <a:xfrm>
            <a:off x="895350" y="387667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china-row-2-label">
            <a:extLst>
              <a:ext uri="{FF2B5EF4-FFF2-40B4-BE49-F238E27FC236}">
                <a16:creationId xmlns:a16="http://schemas.microsoft.com/office/drawing/2014/main" id="{A6BE8057-C323-48DC-AE1C-1B1FC816C35F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Methods</a:t>
            </a:r>
          </a:p>
        </p:txBody>
      </p:sp>
      <p:sp>
        <p:nvSpPr>
          <p:cNvPr id="21" name="china-row-2-detail">
            <a:extLst>
              <a:ext uri="{FF2B5EF4-FFF2-40B4-BE49-F238E27FC236}">
                <a16:creationId xmlns:a16="http://schemas.microsoft.com/office/drawing/2014/main" id="{BB5C3978-FEBD-4418-8057-F9C21D118C95}"/>
              </a:ext>
            </a:extLst>
          </p:cNvPr>
          <p:cNvSpPr>
            <a:spLocks noGrp="1"/>
          </p:cNvSpPr>
          <p:nvPr/>
        </p:nvSpPr>
        <p:spPr>
          <a:xfrm>
            <a:off x="1066800" y="40195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Stealthy low-noise TTPs; heavy Living off the Land.</a:t>
            </a:r>
          </a:p>
        </p:txBody>
      </p:sp>
      <p:sp>
        <p:nvSpPr>
          <p:cNvPr id="22" name="china-row-3-rule">
            <a:extLst>
              <a:ext uri="{FF2B5EF4-FFF2-40B4-BE49-F238E27FC236}">
                <a16:creationId xmlns:a16="http://schemas.microsoft.com/office/drawing/2014/main" id="{72C98361-C08B-4C9C-9C6D-213420A61931}"/>
              </a:ext>
            </a:extLst>
          </p:cNvPr>
          <p:cNvSpPr>
            <a:spLocks noGrp="1"/>
          </p:cNvSpPr>
          <p:nvPr/>
        </p:nvSpPr>
        <p:spPr>
          <a:xfrm>
            <a:off x="895350" y="442912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china-row-3-label">
            <a:extLst>
              <a:ext uri="{FF2B5EF4-FFF2-40B4-BE49-F238E27FC236}">
                <a16:creationId xmlns:a16="http://schemas.microsoft.com/office/drawing/2014/main" id="{A36679EE-0FE0-4E07-A995-6E0669D9F1E1}"/>
              </a:ext>
            </a:extLst>
          </p:cNvPr>
          <p:cNvSpPr>
            <a:spLocks noGrp="1"/>
          </p:cNvSpPr>
          <p:nvPr/>
        </p:nvSpPr>
        <p:spPr>
          <a:xfrm>
            <a:off x="1066800" y="43624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Signature trait</a:t>
            </a:r>
          </a:p>
        </p:txBody>
      </p:sp>
      <p:sp>
        <p:nvSpPr>
          <p:cNvPr id="24" name="china-row-3-detail">
            <a:extLst>
              <a:ext uri="{FF2B5EF4-FFF2-40B4-BE49-F238E27FC236}">
                <a16:creationId xmlns:a16="http://schemas.microsoft.com/office/drawing/2014/main" id="{84DEE3E4-2877-4084-BBF1-D6D67D8AB756}"/>
              </a:ext>
            </a:extLst>
          </p:cNvPr>
          <p:cNvSpPr>
            <a:spLocks noGrp="1"/>
          </p:cNvSpPr>
          <p:nvPr/>
        </p:nvSpPr>
        <p:spPr>
          <a:xfrm>
            <a:off x="1066800" y="45720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Patience: dwell times measured in months or years.</a:t>
            </a:r>
          </a:p>
        </p:txBody>
      </p:sp>
      <p:sp>
        <p:nvSpPr>
          <p:cNvPr id="25" name="china-marker-box">
            <a:extLst>
              <a:ext uri="{FF2B5EF4-FFF2-40B4-BE49-F238E27FC236}">
                <a16:creationId xmlns:a16="http://schemas.microsoft.com/office/drawing/2014/main" id="{262C7476-A259-46DE-8273-B9E0621CBA00}"/>
              </a:ext>
            </a:extLst>
          </p:cNvPr>
          <p:cNvSpPr>
            <a:spLocks noGrp="1"/>
          </p:cNvSpPr>
          <p:nvPr/>
        </p:nvSpPr>
        <p:spPr>
          <a:xfrm>
            <a:off x="895350" y="5505450"/>
            <a:ext cx="47625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china-marker-label">
            <a:extLst>
              <a:ext uri="{FF2B5EF4-FFF2-40B4-BE49-F238E27FC236}">
                <a16:creationId xmlns:a16="http://schemas.microsoft.com/office/drawing/2014/main" id="{1D6B77C4-5788-4B77-9D56-2EE9D3C8063C}"/>
              </a:ext>
            </a:extLst>
          </p:cNvPr>
          <p:cNvSpPr>
            <a:spLocks noGrp="1"/>
          </p:cNvSpPr>
          <p:nvPr/>
        </p:nvSpPr>
        <p:spPr>
          <a:xfrm>
            <a:off x="1047750" y="5600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Recent marker</a:t>
            </a:r>
          </a:p>
        </p:txBody>
      </p:sp>
      <p:sp>
        <p:nvSpPr>
          <p:cNvPr id="27" name="china-marker-text">
            <a:extLst>
              <a:ext uri="{FF2B5EF4-FFF2-40B4-BE49-F238E27FC236}">
                <a16:creationId xmlns:a16="http://schemas.microsoft.com/office/drawing/2014/main" id="{E8AB7D93-E341-47B2-8C9A-C977EE29655D}"/>
              </a:ext>
            </a:extLst>
          </p:cNvPr>
          <p:cNvSpPr>
            <a:spLocks noGrp="1"/>
          </p:cNvSpPr>
          <p:nvPr/>
        </p:nvSpPr>
        <p:spPr>
          <a:xfrm>
            <a:off x="2171700" y="55721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UNC3886: Singapore telecoms compromise.</a:t>
            </a:r>
          </a:p>
        </p:txBody>
      </p:sp>
      <p:sp>
        <p:nvSpPr>
          <p:cNvPr id="28" name="russia-card">
            <a:extLst>
              <a:ext uri="{FF2B5EF4-FFF2-40B4-BE49-F238E27FC236}">
                <a16:creationId xmlns:a16="http://schemas.microsoft.com/office/drawing/2014/main" id="{0F36FDB9-1399-4C78-B84B-FD1E17A87F93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54483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ussia-accent">
            <a:extLst>
              <a:ext uri="{FF2B5EF4-FFF2-40B4-BE49-F238E27FC236}">
                <a16:creationId xmlns:a16="http://schemas.microsoft.com/office/drawing/2014/main" id="{028FA111-21DB-43C1-B00B-7D3AB6009BC5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85725" cy="4476750"/>
          </a:xfrm>
          <a:prstGeom prst="rect">
            <a:avLst/>
          </a:prstGeom>
          <a:solidFill>
            <a:srgbClr val="3E63DD"/>
          </a:solidFill>
          <a:ln w="0">
            <a:solidFill>
              <a:srgbClr val="3E63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ussia-flag-stripe-0">
            <a:extLst>
              <a:ext uri="{FF2B5EF4-FFF2-40B4-BE49-F238E27FC236}">
                <a16:creationId xmlns:a16="http://schemas.microsoft.com/office/drawing/2014/main" id="{75D9DE1D-4032-458C-A9F0-E482A578459E}"/>
              </a:ext>
            </a:extLst>
          </p:cNvPr>
          <p:cNvSpPr>
            <a:spLocks noGrp="1"/>
          </p:cNvSpPr>
          <p:nvPr/>
        </p:nvSpPr>
        <p:spPr>
          <a:xfrm>
            <a:off x="6457950" y="1885950"/>
            <a:ext cx="552450" cy="12541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ussia-flag-stripe-1">
            <a:extLst>
              <a:ext uri="{FF2B5EF4-FFF2-40B4-BE49-F238E27FC236}">
                <a16:creationId xmlns:a16="http://schemas.microsoft.com/office/drawing/2014/main" id="{EFD5D0C7-D203-47BD-9B56-F217923A1BB1}"/>
              </a:ext>
            </a:extLst>
          </p:cNvPr>
          <p:cNvSpPr>
            <a:spLocks noGrp="1"/>
          </p:cNvSpPr>
          <p:nvPr/>
        </p:nvSpPr>
        <p:spPr>
          <a:xfrm>
            <a:off x="6457950" y="2006600"/>
            <a:ext cx="552450" cy="125413"/>
          </a:xfrm>
          <a:prstGeom prst="rect">
            <a:avLst/>
          </a:prstGeom>
          <a:solidFill>
            <a:srgbClr val="1C57A7"/>
          </a:solidFill>
          <a:ln w="0">
            <a:solidFill>
              <a:srgbClr val="1C5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ussia-flag-stripe-2">
            <a:extLst>
              <a:ext uri="{FF2B5EF4-FFF2-40B4-BE49-F238E27FC236}">
                <a16:creationId xmlns:a16="http://schemas.microsoft.com/office/drawing/2014/main" id="{8DD4E860-E103-4863-9300-15EBA1E9AFC7}"/>
              </a:ext>
            </a:extLst>
          </p:cNvPr>
          <p:cNvSpPr>
            <a:spLocks noGrp="1"/>
          </p:cNvSpPr>
          <p:nvPr/>
        </p:nvSpPr>
        <p:spPr>
          <a:xfrm>
            <a:off x="6457950" y="2127250"/>
            <a:ext cx="552450" cy="125413"/>
          </a:xfrm>
          <a:prstGeom prst="rect">
            <a:avLst/>
          </a:prstGeom>
          <a:solidFill>
            <a:srgbClr val="D52B1E"/>
          </a:solidFill>
          <a:ln w="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russia-flag-outline">
            <a:extLst>
              <a:ext uri="{FF2B5EF4-FFF2-40B4-BE49-F238E27FC236}">
                <a16:creationId xmlns:a16="http://schemas.microsoft.com/office/drawing/2014/main" id="{170F5106-97E3-4B4F-8E6F-548C0155634C}"/>
              </a:ext>
            </a:extLst>
          </p:cNvPr>
          <p:cNvSpPr>
            <a:spLocks noGrp="1"/>
          </p:cNvSpPr>
          <p:nvPr/>
        </p:nvSpPr>
        <p:spPr>
          <a:xfrm>
            <a:off x="6457950" y="1885950"/>
            <a:ext cx="552450" cy="3619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ussia-country">
            <a:extLst>
              <a:ext uri="{FF2B5EF4-FFF2-40B4-BE49-F238E27FC236}">
                <a16:creationId xmlns:a16="http://schemas.microsoft.com/office/drawing/2014/main" id="{305BF14C-3D13-419F-86B1-1D6EA0A017AD}"/>
              </a:ext>
            </a:extLst>
          </p:cNvPr>
          <p:cNvSpPr>
            <a:spLocks noGrp="1"/>
          </p:cNvSpPr>
          <p:nvPr/>
        </p:nvSpPr>
        <p:spPr>
          <a:xfrm>
            <a:off x="7181850" y="1866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RUSSIA</a:t>
            </a:r>
          </a:p>
        </p:txBody>
      </p:sp>
      <p:sp>
        <p:nvSpPr>
          <p:cNvPr id="35" name="russia-descriptor">
            <a:extLst>
              <a:ext uri="{FF2B5EF4-FFF2-40B4-BE49-F238E27FC236}">
                <a16:creationId xmlns:a16="http://schemas.microsoft.com/office/drawing/2014/main" id="{3D4C2B14-5448-477F-86BE-34DAF272E038}"/>
              </a:ext>
            </a:extLst>
          </p:cNvPr>
          <p:cNvSpPr>
            <a:spLocks noGrp="1"/>
          </p:cNvSpPr>
          <p:nvPr/>
        </p:nvSpPr>
        <p:spPr>
          <a:xfrm>
            <a:off x="7181850" y="2190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Sabotage &amp; Disruption</a:t>
            </a:r>
          </a:p>
        </p:txBody>
      </p:sp>
      <p:sp>
        <p:nvSpPr>
          <p:cNvPr id="36" name="russia-quote">
            <a:extLst>
              <a:ext uri="{FF2B5EF4-FFF2-40B4-BE49-F238E27FC236}">
                <a16:creationId xmlns:a16="http://schemas.microsoft.com/office/drawing/2014/main" id="{ABA120AD-AC84-4EFB-8915-61871C97AA57}"/>
              </a:ext>
            </a:extLst>
          </p:cNvPr>
          <p:cNvSpPr>
            <a:spLocks noGrp="1"/>
          </p:cNvSpPr>
          <p:nvPr/>
        </p:nvSpPr>
        <p:spPr>
          <a:xfrm>
            <a:off x="9858375" y="19050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3E63DD"/>
                </a:solidFill>
              </a:defRPr>
            </a:pPr>
            <a:r>
              <a:rPr sz="1275" b="1">
                <a:solidFill>
                  <a:srgbClr val="3E63DD"/>
                </a:solidFill>
              </a:rPr>
              <a:t>Cyber as battlefield extension</a:t>
            </a:r>
          </a:p>
        </p:txBody>
      </p:sp>
      <p:sp>
        <p:nvSpPr>
          <p:cNvPr id="37" name="russia-row-0-rule">
            <a:extLst>
              <a:ext uri="{FF2B5EF4-FFF2-40B4-BE49-F238E27FC236}">
                <a16:creationId xmlns:a16="http://schemas.microsoft.com/office/drawing/2014/main" id="{D79E9374-2C7C-457B-BEB9-A5E535E6D7B8}"/>
              </a:ext>
            </a:extLst>
          </p:cNvPr>
          <p:cNvSpPr>
            <a:spLocks noGrp="1"/>
          </p:cNvSpPr>
          <p:nvPr/>
        </p:nvSpPr>
        <p:spPr>
          <a:xfrm>
            <a:off x="6534150" y="2771775"/>
            <a:ext cx="38100" cy="400050"/>
          </a:xfrm>
          <a:prstGeom prst="rect">
            <a:avLst/>
          </a:prstGeom>
          <a:solidFill>
            <a:srgbClr val="3E63DD"/>
          </a:solidFill>
          <a:ln w="0">
            <a:solidFill>
              <a:srgbClr val="3E63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ussia-row-0-label">
            <a:extLst>
              <a:ext uri="{FF2B5EF4-FFF2-40B4-BE49-F238E27FC236}">
                <a16:creationId xmlns:a16="http://schemas.microsoft.com/office/drawing/2014/main" id="{A75DC4B4-408D-4FB1-871F-D677F7DE215A}"/>
              </a:ext>
            </a:extLst>
          </p:cNvPr>
          <p:cNvSpPr>
            <a:spLocks noGrp="1"/>
          </p:cNvSpPr>
          <p:nvPr/>
        </p:nvSpPr>
        <p:spPr>
          <a:xfrm>
            <a:off x="6705600" y="27051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Motivation</a:t>
            </a:r>
          </a:p>
        </p:txBody>
      </p:sp>
      <p:sp>
        <p:nvSpPr>
          <p:cNvPr id="39" name="russia-row-0-detail">
            <a:extLst>
              <a:ext uri="{FF2B5EF4-FFF2-40B4-BE49-F238E27FC236}">
                <a16:creationId xmlns:a16="http://schemas.microsoft.com/office/drawing/2014/main" id="{8595273B-A810-4E08-83CE-236E9AC02632}"/>
              </a:ext>
            </a:extLst>
          </p:cNvPr>
          <p:cNvSpPr>
            <a:spLocks noGrp="1"/>
          </p:cNvSpPr>
          <p:nvPr/>
        </p:nvSpPr>
        <p:spPr>
          <a:xfrm>
            <a:off x="6705600" y="29146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Geopolitical intimidation tied to military objectives.</a:t>
            </a:r>
          </a:p>
        </p:txBody>
      </p:sp>
      <p:sp>
        <p:nvSpPr>
          <p:cNvPr id="40" name="russia-row-1-rule">
            <a:extLst>
              <a:ext uri="{FF2B5EF4-FFF2-40B4-BE49-F238E27FC236}">
                <a16:creationId xmlns:a16="http://schemas.microsoft.com/office/drawing/2014/main" id="{A2C3FAE6-E377-4BA9-9C58-E50E578C7B80}"/>
              </a:ext>
            </a:extLst>
          </p:cNvPr>
          <p:cNvSpPr>
            <a:spLocks noGrp="1"/>
          </p:cNvSpPr>
          <p:nvPr/>
        </p:nvSpPr>
        <p:spPr>
          <a:xfrm>
            <a:off x="6534150" y="3324225"/>
            <a:ext cx="38100" cy="400050"/>
          </a:xfrm>
          <a:prstGeom prst="rect">
            <a:avLst/>
          </a:prstGeom>
          <a:solidFill>
            <a:srgbClr val="3E63DD"/>
          </a:solidFill>
          <a:ln w="0">
            <a:solidFill>
              <a:srgbClr val="3E63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ussia-row-1-label">
            <a:extLst>
              <a:ext uri="{FF2B5EF4-FFF2-40B4-BE49-F238E27FC236}">
                <a16:creationId xmlns:a16="http://schemas.microsoft.com/office/drawing/2014/main" id="{E3BF5CFF-E5A1-44A7-B4C2-C325F7125FEA}"/>
              </a:ext>
            </a:extLst>
          </p:cNvPr>
          <p:cNvSpPr>
            <a:spLocks noGrp="1"/>
          </p:cNvSpPr>
          <p:nvPr/>
        </p:nvSpPr>
        <p:spPr>
          <a:xfrm>
            <a:off x="6705600" y="32575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Primary targets</a:t>
            </a:r>
          </a:p>
        </p:txBody>
      </p:sp>
      <p:sp>
        <p:nvSpPr>
          <p:cNvPr id="42" name="russia-row-1-detail">
            <a:extLst>
              <a:ext uri="{FF2B5EF4-FFF2-40B4-BE49-F238E27FC236}">
                <a16:creationId xmlns:a16="http://schemas.microsoft.com/office/drawing/2014/main" id="{9CE40969-A017-4429-BCE6-40F1A293A108}"/>
              </a:ext>
            </a:extLst>
          </p:cNvPr>
          <p:cNvSpPr>
            <a:spLocks noGrp="1"/>
          </p:cNvSpPr>
          <p:nvPr/>
        </p:nvSpPr>
        <p:spPr>
          <a:xfrm>
            <a:off x="6705600" y="34671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Energy grids, government, logistics, Ukraine support.</a:t>
            </a:r>
          </a:p>
        </p:txBody>
      </p:sp>
      <p:sp>
        <p:nvSpPr>
          <p:cNvPr id="43" name="russia-row-2-rule">
            <a:extLst>
              <a:ext uri="{FF2B5EF4-FFF2-40B4-BE49-F238E27FC236}">
                <a16:creationId xmlns:a16="http://schemas.microsoft.com/office/drawing/2014/main" id="{8ADF8060-4048-47D2-897F-BFC8F52DEBBD}"/>
              </a:ext>
            </a:extLst>
          </p:cNvPr>
          <p:cNvSpPr>
            <a:spLocks noGrp="1"/>
          </p:cNvSpPr>
          <p:nvPr/>
        </p:nvSpPr>
        <p:spPr>
          <a:xfrm>
            <a:off x="6534150" y="3876675"/>
            <a:ext cx="38100" cy="400050"/>
          </a:xfrm>
          <a:prstGeom prst="rect">
            <a:avLst/>
          </a:prstGeom>
          <a:solidFill>
            <a:srgbClr val="3E63DD"/>
          </a:solidFill>
          <a:ln w="0">
            <a:solidFill>
              <a:srgbClr val="3E63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russia-row-2-label">
            <a:extLst>
              <a:ext uri="{FF2B5EF4-FFF2-40B4-BE49-F238E27FC236}">
                <a16:creationId xmlns:a16="http://schemas.microsoft.com/office/drawing/2014/main" id="{2D4D4B80-7CD7-4034-A644-F44058D2DD4C}"/>
              </a:ext>
            </a:extLst>
          </p:cNvPr>
          <p:cNvSpPr>
            <a:spLocks noGrp="1"/>
          </p:cNvSpPr>
          <p:nvPr/>
        </p:nvSpPr>
        <p:spPr>
          <a:xfrm>
            <a:off x="6705600" y="38100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Methods</a:t>
            </a:r>
          </a:p>
        </p:txBody>
      </p:sp>
      <p:sp>
        <p:nvSpPr>
          <p:cNvPr id="45" name="russia-row-2-detail">
            <a:extLst>
              <a:ext uri="{FF2B5EF4-FFF2-40B4-BE49-F238E27FC236}">
                <a16:creationId xmlns:a16="http://schemas.microsoft.com/office/drawing/2014/main" id="{E602D92B-5D0C-4710-BB4E-F81C75F0A32B}"/>
              </a:ext>
            </a:extLst>
          </p:cNvPr>
          <p:cNvSpPr>
            <a:spLocks noGrp="1"/>
          </p:cNvSpPr>
          <p:nvPr/>
        </p:nvSpPr>
        <p:spPr>
          <a:xfrm>
            <a:off x="6705600" y="40195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Proxy reliance; destructive wipers disguised as ransomware.</a:t>
            </a:r>
          </a:p>
        </p:txBody>
      </p:sp>
      <p:sp>
        <p:nvSpPr>
          <p:cNvPr id="46" name="russia-row-3-rule">
            <a:extLst>
              <a:ext uri="{FF2B5EF4-FFF2-40B4-BE49-F238E27FC236}">
                <a16:creationId xmlns:a16="http://schemas.microsoft.com/office/drawing/2014/main" id="{5B6D623B-A38D-48C7-BD4D-D4260B018188}"/>
              </a:ext>
            </a:extLst>
          </p:cNvPr>
          <p:cNvSpPr>
            <a:spLocks noGrp="1"/>
          </p:cNvSpPr>
          <p:nvPr/>
        </p:nvSpPr>
        <p:spPr>
          <a:xfrm>
            <a:off x="6534150" y="4429125"/>
            <a:ext cx="38100" cy="400050"/>
          </a:xfrm>
          <a:prstGeom prst="rect">
            <a:avLst/>
          </a:prstGeom>
          <a:solidFill>
            <a:srgbClr val="3E63DD"/>
          </a:solidFill>
          <a:ln w="0">
            <a:solidFill>
              <a:srgbClr val="3E63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russia-row-3-label">
            <a:extLst>
              <a:ext uri="{FF2B5EF4-FFF2-40B4-BE49-F238E27FC236}">
                <a16:creationId xmlns:a16="http://schemas.microsoft.com/office/drawing/2014/main" id="{140701A7-BAC3-4BD2-94DB-B0C9BF02B113}"/>
              </a:ext>
            </a:extLst>
          </p:cNvPr>
          <p:cNvSpPr>
            <a:spLocks noGrp="1"/>
          </p:cNvSpPr>
          <p:nvPr/>
        </p:nvSpPr>
        <p:spPr>
          <a:xfrm>
            <a:off x="6705600" y="43624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Signature trait</a:t>
            </a:r>
          </a:p>
        </p:txBody>
      </p:sp>
      <p:sp>
        <p:nvSpPr>
          <p:cNvPr id="48" name="russia-row-3-detail">
            <a:extLst>
              <a:ext uri="{FF2B5EF4-FFF2-40B4-BE49-F238E27FC236}">
                <a16:creationId xmlns:a16="http://schemas.microsoft.com/office/drawing/2014/main" id="{84B008E8-8C8F-4B65-B544-38876945A6DC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Deniability: hacktivist fronts muddy attribution.</a:t>
            </a:r>
          </a:p>
        </p:txBody>
      </p:sp>
      <p:sp>
        <p:nvSpPr>
          <p:cNvPr id="49" name="russia-marker-box">
            <a:extLst>
              <a:ext uri="{FF2B5EF4-FFF2-40B4-BE49-F238E27FC236}">
                <a16:creationId xmlns:a16="http://schemas.microsoft.com/office/drawing/2014/main" id="{1B8DB49A-270B-47C9-B420-9C2B02F5D628}"/>
              </a:ext>
            </a:extLst>
          </p:cNvPr>
          <p:cNvSpPr>
            <a:spLocks noGrp="1"/>
          </p:cNvSpPr>
          <p:nvPr/>
        </p:nvSpPr>
        <p:spPr>
          <a:xfrm>
            <a:off x="6534150" y="5505450"/>
            <a:ext cx="47625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russia-marker-label">
            <a:extLst>
              <a:ext uri="{FF2B5EF4-FFF2-40B4-BE49-F238E27FC236}">
                <a16:creationId xmlns:a16="http://schemas.microsoft.com/office/drawing/2014/main" id="{D678A344-BAD9-4722-9246-FE615D457A9A}"/>
              </a:ext>
            </a:extLst>
          </p:cNvPr>
          <p:cNvSpPr>
            <a:spLocks noGrp="1"/>
          </p:cNvSpPr>
          <p:nvPr/>
        </p:nvSpPr>
        <p:spPr>
          <a:xfrm>
            <a:off x="6686550" y="5600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Recent marker</a:t>
            </a:r>
          </a:p>
        </p:txBody>
      </p:sp>
      <p:sp>
        <p:nvSpPr>
          <p:cNvPr id="51" name="russia-marker-text">
            <a:extLst>
              <a:ext uri="{FF2B5EF4-FFF2-40B4-BE49-F238E27FC236}">
                <a16:creationId xmlns:a16="http://schemas.microsoft.com/office/drawing/2014/main" id="{D1FD3C1E-BBC4-4050-BF5A-05EFF31C5A74}"/>
              </a:ext>
            </a:extLst>
          </p:cNvPr>
          <p:cNvSpPr>
            <a:spLocks noGrp="1"/>
          </p:cNvSpPr>
          <p:nvPr/>
        </p:nvSpPr>
        <p:spPr>
          <a:xfrm>
            <a:off x="7810500" y="55721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Electrum: Poland energy-grid disruption.</a:t>
            </a:r>
          </a:p>
        </p:txBody>
      </p:sp>
      <p:sp>
        <p:nvSpPr>
          <p:cNvPr id="52" name="slide-3-bottom-band">
            <a:extLst>
              <a:ext uri="{FF2B5EF4-FFF2-40B4-BE49-F238E27FC236}">
                <a16:creationId xmlns:a16="http://schemas.microsoft.com/office/drawing/2014/main" id="{77ABBDF0-47F0-469E-8DA5-69938889904B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10991850" cy="400050"/>
          </a:xfrm>
          <a:prstGeom prst="roundRect">
            <a:avLst>
              <a:gd name="adj" fmla="val 19048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lide-3-bottom-text">
            <a:extLst>
              <a:ext uri="{FF2B5EF4-FFF2-40B4-BE49-F238E27FC236}">
                <a16:creationId xmlns:a16="http://schemas.microsoft.com/office/drawing/2014/main" id="{A8F79D84-09BA-43F1-A1FB-01F5C6D965AC}"/>
              </a:ext>
            </a:extLst>
          </p:cNvPr>
          <p:cNvSpPr>
            <a:spLocks noGrp="1"/>
          </p:cNvSpPr>
          <p:nvPr/>
        </p:nvSpPr>
        <p:spPr>
          <a:xfrm>
            <a:off x="781050" y="6381750"/>
            <a:ext cx="1053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8A55"/>
                </a:solidFill>
              </a:defRPr>
            </a:pPr>
            <a:r>
              <a:rPr sz="1275" b="1">
                <a:solidFill>
                  <a:srgbClr val="1F8A55"/>
                </a:solidFill>
              </a:rPr>
              <a:t>Same label: nation-state. Different playbooks: China hides for access; Russia signals through disruption.</a:t>
            </a:r>
          </a:p>
        </p:txBody>
      </p:sp>
    </p:spTree>
    <p:extLst>
      <p:ext uri="{BB962C8B-B14F-4D97-AF65-F5344CB8AC3E}">
        <p14:creationId xmlns:p14="http://schemas.microsoft.com/office/powerpoint/2010/main" val="151528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-4-top-rule">
            <a:extLst>
              <a:ext uri="{FF2B5EF4-FFF2-40B4-BE49-F238E27FC236}">
                <a16:creationId xmlns:a16="http://schemas.microsoft.com/office/drawing/2014/main" id="{85D74D9E-58FE-4015-8BA8-35BE0873DD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4-eyebrow">
            <a:extLst>
              <a:ext uri="{FF2B5EF4-FFF2-40B4-BE49-F238E27FC236}">
                <a16:creationId xmlns:a16="http://schemas.microsoft.com/office/drawing/2014/main" id="{DDFB65F7-25CB-444D-BEE8-4ECAC0D93D5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4 | THREAT ACTOR MAPPING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2B7135FB-5C3E-47B6-A93A-B3D4BE055CD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Threat Actor Mapping (2/2)</a:t>
            </a:r>
          </a:p>
        </p:txBody>
      </p:sp>
      <p:sp>
        <p:nvSpPr>
          <p:cNvPr id="4" name="slide-4-subtitle">
            <a:extLst>
              <a:ext uri="{FF2B5EF4-FFF2-40B4-BE49-F238E27FC236}">
                <a16:creationId xmlns:a16="http://schemas.microsoft.com/office/drawing/2014/main" id="{AA6A8F0C-A759-4760-9488-07A498847E12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The Big Four: Part 2 | Aggressive Retaliation vs. State-Funded Crime</a:t>
            </a:r>
          </a:p>
        </p:txBody>
      </p:sp>
      <p:sp>
        <p:nvSpPr>
          <p:cNvPr id="5" name="iran-card">
            <a:extLst>
              <a:ext uri="{FF2B5EF4-FFF2-40B4-BE49-F238E27FC236}">
                <a16:creationId xmlns:a16="http://schemas.microsoft.com/office/drawing/2014/main" id="{32AD19DC-2955-4BC3-8FB3-4C1124E62803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54483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iran-accent">
            <a:extLst>
              <a:ext uri="{FF2B5EF4-FFF2-40B4-BE49-F238E27FC236}">
                <a16:creationId xmlns:a16="http://schemas.microsoft.com/office/drawing/2014/main" id="{39E15AC9-06D4-41E6-AC0F-F1EE40631BE0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85725" cy="44767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iran-flag-stripe-0">
            <a:extLst>
              <a:ext uri="{FF2B5EF4-FFF2-40B4-BE49-F238E27FC236}">
                <a16:creationId xmlns:a16="http://schemas.microsoft.com/office/drawing/2014/main" id="{E9EB7D12-F516-4442-B869-54A62620E9AE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552450" cy="125413"/>
          </a:xfrm>
          <a:prstGeom prst="rect">
            <a:avLst/>
          </a:prstGeom>
          <a:solidFill>
            <a:srgbClr val="239F40"/>
          </a:solidFill>
          <a:ln w="0">
            <a:solidFill>
              <a:srgbClr val="239F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iran-flag-stripe-1">
            <a:extLst>
              <a:ext uri="{FF2B5EF4-FFF2-40B4-BE49-F238E27FC236}">
                <a16:creationId xmlns:a16="http://schemas.microsoft.com/office/drawing/2014/main" id="{8C24ABCC-442A-4062-8955-F3D558B0750E}"/>
              </a:ext>
            </a:extLst>
          </p:cNvPr>
          <p:cNvSpPr>
            <a:spLocks noGrp="1"/>
          </p:cNvSpPr>
          <p:nvPr/>
        </p:nvSpPr>
        <p:spPr>
          <a:xfrm>
            <a:off x="819150" y="2006600"/>
            <a:ext cx="552450" cy="12541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iran-flag-stripe-2">
            <a:extLst>
              <a:ext uri="{FF2B5EF4-FFF2-40B4-BE49-F238E27FC236}">
                <a16:creationId xmlns:a16="http://schemas.microsoft.com/office/drawing/2014/main" id="{D355270D-9AA2-4204-A58B-EC49E427B58B}"/>
              </a:ext>
            </a:extLst>
          </p:cNvPr>
          <p:cNvSpPr>
            <a:spLocks noGrp="1"/>
          </p:cNvSpPr>
          <p:nvPr/>
        </p:nvSpPr>
        <p:spPr>
          <a:xfrm>
            <a:off x="819150" y="2127250"/>
            <a:ext cx="552450" cy="125413"/>
          </a:xfrm>
          <a:prstGeom prst="rect">
            <a:avLst/>
          </a:prstGeom>
          <a:solidFill>
            <a:srgbClr val="DA0000"/>
          </a:solidFill>
          <a:ln w="0">
            <a:solidFill>
              <a:srgbClr val="DA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ran-flag-outline">
            <a:extLst>
              <a:ext uri="{FF2B5EF4-FFF2-40B4-BE49-F238E27FC236}">
                <a16:creationId xmlns:a16="http://schemas.microsoft.com/office/drawing/2014/main" id="{6EA849B3-C570-47E5-A185-0D40E266DFCD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552450" cy="3619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ran-country">
            <a:extLst>
              <a:ext uri="{FF2B5EF4-FFF2-40B4-BE49-F238E27FC236}">
                <a16:creationId xmlns:a16="http://schemas.microsoft.com/office/drawing/2014/main" id="{5AF94512-325E-4D11-ACB5-DF62F89EB5B2}"/>
              </a:ext>
            </a:extLst>
          </p:cNvPr>
          <p:cNvSpPr>
            <a:spLocks noGrp="1"/>
          </p:cNvSpPr>
          <p:nvPr/>
        </p:nvSpPr>
        <p:spPr>
          <a:xfrm>
            <a:off x="1543050" y="1866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IRAN</a:t>
            </a:r>
          </a:p>
        </p:txBody>
      </p:sp>
      <p:sp>
        <p:nvSpPr>
          <p:cNvPr id="12" name="iran-descriptor">
            <a:extLst>
              <a:ext uri="{FF2B5EF4-FFF2-40B4-BE49-F238E27FC236}">
                <a16:creationId xmlns:a16="http://schemas.microsoft.com/office/drawing/2014/main" id="{DA7DFE85-D007-4A92-B20B-0FC1193E16BF}"/>
              </a:ext>
            </a:extLst>
          </p:cNvPr>
          <p:cNvSpPr>
            <a:spLocks noGrp="1"/>
          </p:cNvSpPr>
          <p:nvPr/>
        </p:nvSpPr>
        <p:spPr>
          <a:xfrm>
            <a:off x="1543050" y="2190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Retaliation &amp; Pressure</a:t>
            </a:r>
          </a:p>
        </p:txBody>
      </p:sp>
      <p:sp>
        <p:nvSpPr>
          <p:cNvPr id="13" name="iran-quote">
            <a:extLst>
              <a:ext uri="{FF2B5EF4-FFF2-40B4-BE49-F238E27FC236}">
                <a16:creationId xmlns:a16="http://schemas.microsoft.com/office/drawing/2014/main" id="{6B187A79-DD6C-4D40-8944-32BB479012EB}"/>
              </a:ext>
            </a:extLst>
          </p:cNvPr>
          <p:cNvSpPr>
            <a:spLocks noGrp="1"/>
          </p:cNvSpPr>
          <p:nvPr/>
        </p:nvSpPr>
        <p:spPr>
          <a:xfrm>
            <a:off x="4219575" y="19050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28A6A1"/>
                </a:solidFill>
              </a:defRPr>
            </a:pPr>
            <a:r>
              <a:rPr sz="1275" b="1">
                <a:solidFill>
                  <a:srgbClr val="28A6A1"/>
                </a:solidFill>
              </a:rPr>
              <a:t>Loud, aggressive, unpredictable</a:t>
            </a:r>
          </a:p>
        </p:txBody>
      </p:sp>
      <p:sp>
        <p:nvSpPr>
          <p:cNvPr id="14" name="iran-row-0-rule">
            <a:extLst>
              <a:ext uri="{FF2B5EF4-FFF2-40B4-BE49-F238E27FC236}">
                <a16:creationId xmlns:a16="http://schemas.microsoft.com/office/drawing/2014/main" id="{B10AED0F-E110-4F38-A28D-724BFE80990B}"/>
              </a:ext>
            </a:extLst>
          </p:cNvPr>
          <p:cNvSpPr>
            <a:spLocks noGrp="1"/>
          </p:cNvSpPr>
          <p:nvPr/>
        </p:nvSpPr>
        <p:spPr>
          <a:xfrm>
            <a:off x="895350" y="2771775"/>
            <a:ext cx="38100" cy="4000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iran-row-0-label">
            <a:extLst>
              <a:ext uri="{FF2B5EF4-FFF2-40B4-BE49-F238E27FC236}">
                <a16:creationId xmlns:a16="http://schemas.microsoft.com/office/drawing/2014/main" id="{E0276547-0195-4875-9363-3FE32FB62850}"/>
              </a:ext>
            </a:extLst>
          </p:cNvPr>
          <p:cNvSpPr>
            <a:spLocks noGrp="1"/>
          </p:cNvSpPr>
          <p:nvPr/>
        </p:nvSpPr>
        <p:spPr>
          <a:xfrm>
            <a:off x="1066800" y="27051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Motivation</a:t>
            </a:r>
          </a:p>
        </p:txBody>
      </p:sp>
      <p:sp>
        <p:nvSpPr>
          <p:cNvPr id="16" name="iran-row-0-detail">
            <a:extLst>
              <a:ext uri="{FF2B5EF4-FFF2-40B4-BE49-F238E27FC236}">
                <a16:creationId xmlns:a16="http://schemas.microsoft.com/office/drawing/2014/main" id="{39E3B998-19F8-4263-A076-F67C1E622E41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Retaliation, force demonstration, regional pressure.</a:t>
            </a:r>
          </a:p>
        </p:txBody>
      </p:sp>
      <p:sp>
        <p:nvSpPr>
          <p:cNvPr id="17" name="iran-row-1-rule">
            <a:extLst>
              <a:ext uri="{FF2B5EF4-FFF2-40B4-BE49-F238E27FC236}">
                <a16:creationId xmlns:a16="http://schemas.microsoft.com/office/drawing/2014/main" id="{B291D836-D344-4A2D-9E78-C7DA71716C19}"/>
              </a:ext>
            </a:extLst>
          </p:cNvPr>
          <p:cNvSpPr>
            <a:spLocks noGrp="1"/>
          </p:cNvSpPr>
          <p:nvPr/>
        </p:nvSpPr>
        <p:spPr>
          <a:xfrm>
            <a:off x="895350" y="3324225"/>
            <a:ext cx="38100" cy="4000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iran-row-1-label">
            <a:extLst>
              <a:ext uri="{FF2B5EF4-FFF2-40B4-BE49-F238E27FC236}">
                <a16:creationId xmlns:a16="http://schemas.microsoft.com/office/drawing/2014/main" id="{8592649A-02F3-4BA2-B576-8A7D20027D62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Primary targets</a:t>
            </a:r>
          </a:p>
        </p:txBody>
      </p:sp>
      <p:sp>
        <p:nvSpPr>
          <p:cNvPr id="19" name="iran-row-1-detail">
            <a:extLst>
              <a:ext uri="{FF2B5EF4-FFF2-40B4-BE49-F238E27FC236}">
                <a16:creationId xmlns:a16="http://schemas.microsoft.com/office/drawing/2014/main" id="{250DD013-4298-4067-A1C0-1048E95A3712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Political adversaries, defense, critical infrastructure.</a:t>
            </a:r>
          </a:p>
        </p:txBody>
      </p:sp>
      <p:sp>
        <p:nvSpPr>
          <p:cNvPr id="20" name="iran-row-2-rule">
            <a:extLst>
              <a:ext uri="{FF2B5EF4-FFF2-40B4-BE49-F238E27FC236}">
                <a16:creationId xmlns:a16="http://schemas.microsoft.com/office/drawing/2014/main" id="{EC3CA40D-212B-466E-97B1-8880529C37C2}"/>
              </a:ext>
            </a:extLst>
          </p:cNvPr>
          <p:cNvSpPr>
            <a:spLocks noGrp="1"/>
          </p:cNvSpPr>
          <p:nvPr/>
        </p:nvSpPr>
        <p:spPr>
          <a:xfrm>
            <a:off x="895350" y="3876675"/>
            <a:ext cx="38100" cy="4000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ran-row-2-label">
            <a:extLst>
              <a:ext uri="{FF2B5EF4-FFF2-40B4-BE49-F238E27FC236}">
                <a16:creationId xmlns:a16="http://schemas.microsoft.com/office/drawing/2014/main" id="{3CB45F34-6B7A-4CC3-B11C-552A65C4D9A3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Methods</a:t>
            </a:r>
          </a:p>
        </p:txBody>
      </p:sp>
      <p:sp>
        <p:nvSpPr>
          <p:cNvPr id="22" name="iran-row-2-detail">
            <a:extLst>
              <a:ext uri="{FF2B5EF4-FFF2-40B4-BE49-F238E27FC236}">
                <a16:creationId xmlns:a16="http://schemas.microsoft.com/office/drawing/2014/main" id="{63FB340B-C56E-4A37-B603-460BB25F99B0}"/>
              </a:ext>
            </a:extLst>
          </p:cNvPr>
          <p:cNvSpPr>
            <a:spLocks noGrp="1"/>
          </p:cNvSpPr>
          <p:nvPr/>
        </p:nvSpPr>
        <p:spPr>
          <a:xfrm>
            <a:off x="1066800" y="40195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Wipers plus psychological operations and hack-and-leak.</a:t>
            </a:r>
          </a:p>
        </p:txBody>
      </p:sp>
      <p:sp>
        <p:nvSpPr>
          <p:cNvPr id="23" name="iran-row-3-rule">
            <a:extLst>
              <a:ext uri="{FF2B5EF4-FFF2-40B4-BE49-F238E27FC236}">
                <a16:creationId xmlns:a16="http://schemas.microsoft.com/office/drawing/2014/main" id="{0BE53E9B-2F42-4E7F-A5BE-4F8FC8E28191}"/>
              </a:ext>
            </a:extLst>
          </p:cNvPr>
          <p:cNvSpPr>
            <a:spLocks noGrp="1"/>
          </p:cNvSpPr>
          <p:nvPr/>
        </p:nvSpPr>
        <p:spPr>
          <a:xfrm>
            <a:off x="895350" y="4429125"/>
            <a:ext cx="38100" cy="4000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iran-row-3-label">
            <a:extLst>
              <a:ext uri="{FF2B5EF4-FFF2-40B4-BE49-F238E27FC236}">
                <a16:creationId xmlns:a16="http://schemas.microsoft.com/office/drawing/2014/main" id="{9238626B-1701-4199-B9A7-1C8971809372}"/>
              </a:ext>
            </a:extLst>
          </p:cNvPr>
          <p:cNvSpPr>
            <a:spLocks noGrp="1"/>
          </p:cNvSpPr>
          <p:nvPr/>
        </p:nvSpPr>
        <p:spPr>
          <a:xfrm>
            <a:off x="1066800" y="43624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Signature trait</a:t>
            </a:r>
          </a:p>
        </p:txBody>
      </p:sp>
      <p:sp>
        <p:nvSpPr>
          <p:cNvPr id="25" name="iran-row-3-detail">
            <a:extLst>
              <a:ext uri="{FF2B5EF4-FFF2-40B4-BE49-F238E27FC236}">
                <a16:creationId xmlns:a16="http://schemas.microsoft.com/office/drawing/2014/main" id="{5D7EF0F9-CCE9-4526-BC58-8DD79CD02111}"/>
              </a:ext>
            </a:extLst>
          </p:cNvPr>
          <p:cNvSpPr>
            <a:spLocks noGrp="1"/>
          </p:cNvSpPr>
          <p:nvPr/>
        </p:nvSpPr>
        <p:spPr>
          <a:xfrm>
            <a:off x="1066800" y="45720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Volatility: tempo follows geopolitical flashpoints.</a:t>
            </a:r>
          </a:p>
        </p:txBody>
      </p:sp>
      <p:sp>
        <p:nvSpPr>
          <p:cNvPr id="26" name="iran-marker-box">
            <a:extLst>
              <a:ext uri="{FF2B5EF4-FFF2-40B4-BE49-F238E27FC236}">
                <a16:creationId xmlns:a16="http://schemas.microsoft.com/office/drawing/2014/main" id="{2999A29A-5694-4848-A597-43FEEFAB5649}"/>
              </a:ext>
            </a:extLst>
          </p:cNvPr>
          <p:cNvSpPr>
            <a:spLocks noGrp="1"/>
          </p:cNvSpPr>
          <p:nvPr/>
        </p:nvSpPr>
        <p:spPr>
          <a:xfrm>
            <a:off x="895350" y="5505450"/>
            <a:ext cx="47625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iran-marker-label">
            <a:extLst>
              <a:ext uri="{FF2B5EF4-FFF2-40B4-BE49-F238E27FC236}">
                <a16:creationId xmlns:a16="http://schemas.microsoft.com/office/drawing/2014/main" id="{AEE93410-384D-4EAB-B74E-184F9B90CAB1}"/>
              </a:ext>
            </a:extLst>
          </p:cNvPr>
          <p:cNvSpPr>
            <a:spLocks noGrp="1"/>
          </p:cNvSpPr>
          <p:nvPr/>
        </p:nvSpPr>
        <p:spPr>
          <a:xfrm>
            <a:off x="1047750" y="5600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Recent marker</a:t>
            </a:r>
          </a:p>
        </p:txBody>
      </p:sp>
      <p:sp>
        <p:nvSpPr>
          <p:cNvPr id="28" name="iran-marker-text">
            <a:extLst>
              <a:ext uri="{FF2B5EF4-FFF2-40B4-BE49-F238E27FC236}">
                <a16:creationId xmlns:a16="http://schemas.microsoft.com/office/drawing/2014/main" id="{D2DF10B9-5C47-4AFA-852B-BE1E85C12C30}"/>
              </a:ext>
            </a:extLst>
          </p:cNvPr>
          <p:cNvSpPr>
            <a:spLocks noGrp="1"/>
          </p:cNvSpPr>
          <p:nvPr/>
        </p:nvSpPr>
        <p:spPr>
          <a:xfrm>
            <a:off x="2171700" y="55721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Handala: Stryker wiper claim.</a:t>
            </a:r>
          </a:p>
        </p:txBody>
      </p:sp>
      <p:sp>
        <p:nvSpPr>
          <p:cNvPr id="29" name="north-korea-card">
            <a:extLst>
              <a:ext uri="{FF2B5EF4-FFF2-40B4-BE49-F238E27FC236}">
                <a16:creationId xmlns:a16="http://schemas.microsoft.com/office/drawing/2014/main" id="{6AF91FF4-0DCB-4AA9-B7C5-BCBDDD8B697E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54483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north-korea-accent">
            <a:extLst>
              <a:ext uri="{FF2B5EF4-FFF2-40B4-BE49-F238E27FC236}">
                <a16:creationId xmlns:a16="http://schemas.microsoft.com/office/drawing/2014/main" id="{A50300AD-DBD9-40E8-9C47-C768156CE39C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85725" cy="44767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north-korea-flag-stripe-0">
            <a:extLst>
              <a:ext uri="{FF2B5EF4-FFF2-40B4-BE49-F238E27FC236}">
                <a16:creationId xmlns:a16="http://schemas.microsoft.com/office/drawing/2014/main" id="{F621C3F5-BACB-41C9-AC91-E48A0A157A38}"/>
              </a:ext>
            </a:extLst>
          </p:cNvPr>
          <p:cNvSpPr>
            <a:spLocks noGrp="1"/>
          </p:cNvSpPr>
          <p:nvPr/>
        </p:nvSpPr>
        <p:spPr>
          <a:xfrm>
            <a:off x="6457950" y="1885950"/>
            <a:ext cx="552450" cy="77153"/>
          </a:xfrm>
          <a:prstGeom prst="rect">
            <a:avLst/>
          </a:prstGeom>
          <a:solidFill>
            <a:srgbClr val="024FA2"/>
          </a:solidFill>
          <a:ln w="0">
            <a:solidFill>
              <a:srgbClr val="024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north-korea-flag-stripe-1">
            <a:extLst>
              <a:ext uri="{FF2B5EF4-FFF2-40B4-BE49-F238E27FC236}">
                <a16:creationId xmlns:a16="http://schemas.microsoft.com/office/drawing/2014/main" id="{656F99FB-2B64-443D-9879-53985B16EA1B}"/>
              </a:ext>
            </a:extLst>
          </p:cNvPr>
          <p:cNvSpPr>
            <a:spLocks noGrp="1"/>
          </p:cNvSpPr>
          <p:nvPr/>
        </p:nvSpPr>
        <p:spPr>
          <a:xfrm>
            <a:off x="6457950" y="1958340"/>
            <a:ext cx="552450" cy="7715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north-korea-flag-stripe-2">
            <a:extLst>
              <a:ext uri="{FF2B5EF4-FFF2-40B4-BE49-F238E27FC236}">
                <a16:creationId xmlns:a16="http://schemas.microsoft.com/office/drawing/2014/main" id="{76422CD4-F22D-4B8D-BD1D-2AB7A2B069DC}"/>
              </a:ext>
            </a:extLst>
          </p:cNvPr>
          <p:cNvSpPr>
            <a:spLocks noGrp="1"/>
          </p:cNvSpPr>
          <p:nvPr/>
        </p:nvSpPr>
        <p:spPr>
          <a:xfrm>
            <a:off x="6457950" y="2030730"/>
            <a:ext cx="552450" cy="77153"/>
          </a:xfrm>
          <a:prstGeom prst="rect">
            <a:avLst/>
          </a:prstGeom>
          <a:solidFill>
            <a:srgbClr val="ED1C27"/>
          </a:solidFill>
          <a:ln w="0">
            <a:solidFill>
              <a:srgbClr val="ED1C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north-korea-flag-stripe-3">
            <a:extLst>
              <a:ext uri="{FF2B5EF4-FFF2-40B4-BE49-F238E27FC236}">
                <a16:creationId xmlns:a16="http://schemas.microsoft.com/office/drawing/2014/main" id="{CA5FE8F6-DF94-42EE-AB3B-F346EC5373B2}"/>
              </a:ext>
            </a:extLst>
          </p:cNvPr>
          <p:cNvSpPr>
            <a:spLocks noGrp="1"/>
          </p:cNvSpPr>
          <p:nvPr/>
        </p:nvSpPr>
        <p:spPr>
          <a:xfrm>
            <a:off x="6457950" y="2103120"/>
            <a:ext cx="552450" cy="7715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north-korea-flag-stripe-4">
            <a:extLst>
              <a:ext uri="{FF2B5EF4-FFF2-40B4-BE49-F238E27FC236}">
                <a16:creationId xmlns:a16="http://schemas.microsoft.com/office/drawing/2014/main" id="{1B55A646-898B-4FE3-8362-035DAE8C87AC}"/>
              </a:ext>
            </a:extLst>
          </p:cNvPr>
          <p:cNvSpPr>
            <a:spLocks noGrp="1"/>
          </p:cNvSpPr>
          <p:nvPr/>
        </p:nvSpPr>
        <p:spPr>
          <a:xfrm>
            <a:off x="6457950" y="2175510"/>
            <a:ext cx="552450" cy="77153"/>
          </a:xfrm>
          <a:prstGeom prst="rect">
            <a:avLst/>
          </a:prstGeom>
          <a:solidFill>
            <a:srgbClr val="024FA2"/>
          </a:solidFill>
          <a:ln w="0">
            <a:solidFill>
              <a:srgbClr val="024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north-korea-flag-outline">
            <a:extLst>
              <a:ext uri="{FF2B5EF4-FFF2-40B4-BE49-F238E27FC236}">
                <a16:creationId xmlns:a16="http://schemas.microsoft.com/office/drawing/2014/main" id="{2A5F0094-75B0-4ADE-95C0-6A858847A0E0}"/>
              </a:ext>
            </a:extLst>
          </p:cNvPr>
          <p:cNvSpPr>
            <a:spLocks noGrp="1"/>
          </p:cNvSpPr>
          <p:nvPr/>
        </p:nvSpPr>
        <p:spPr>
          <a:xfrm>
            <a:off x="6457950" y="1885950"/>
            <a:ext cx="552450" cy="3619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north-korea-country">
            <a:extLst>
              <a:ext uri="{FF2B5EF4-FFF2-40B4-BE49-F238E27FC236}">
                <a16:creationId xmlns:a16="http://schemas.microsoft.com/office/drawing/2014/main" id="{EBCE340C-2F3D-4A27-991B-1AA6DEED9356}"/>
              </a:ext>
            </a:extLst>
          </p:cNvPr>
          <p:cNvSpPr>
            <a:spLocks noGrp="1"/>
          </p:cNvSpPr>
          <p:nvPr/>
        </p:nvSpPr>
        <p:spPr>
          <a:xfrm>
            <a:off x="7181850" y="1866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NORTH KOREA</a:t>
            </a:r>
          </a:p>
        </p:txBody>
      </p:sp>
      <p:sp>
        <p:nvSpPr>
          <p:cNvPr id="38" name="north-korea-descriptor">
            <a:extLst>
              <a:ext uri="{FF2B5EF4-FFF2-40B4-BE49-F238E27FC236}">
                <a16:creationId xmlns:a16="http://schemas.microsoft.com/office/drawing/2014/main" id="{982D4C1E-4812-4EAE-BC05-CE49D9A6635B}"/>
              </a:ext>
            </a:extLst>
          </p:cNvPr>
          <p:cNvSpPr>
            <a:spLocks noGrp="1"/>
          </p:cNvSpPr>
          <p:nvPr/>
        </p:nvSpPr>
        <p:spPr>
          <a:xfrm>
            <a:off x="7181850" y="2190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State Funding &amp; Crypto</a:t>
            </a:r>
          </a:p>
        </p:txBody>
      </p:sp>
      <p:sp>
        <p:nvSpPr>
          <p:cNvPr id="39" name="north-korea-quote">
            <a:extLst>
              <a:ext uri="{FF2B5EF4-FFF2-40B4-BE49-F238E27FC236}">
                <a16:creationId xmlns:a16="http://schemas.microsoft.com/office/drawing/2014/main" id="{61A162E2-7946-428B-A756-06E7A654BEE0}"/>
              </a:ext>
            </a:extLst>
          </p:cNvPr>
          <p:cNvSpPr>
            <a:spLocks noGrp="1"/>
          </p:cNvSpPr>
          <p:nvPr/>
        </p:nvSpPr>
        <p:spPr>
          <a:xfrm>
            <a:off x="9858375" y="19050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D64550"/>
                </a:solidFill>
              </a:defRPr>
            </a:pPr>
            <a:r>
              <a:rPr sz="1275" b="1">
                <a:solidFill>
                  <a:srgbClr val="D64550"/>
                </a:solidFill>
              </a:rPr>
              <a:t>Cybercrime in state uniform</a:t>
            </a:r>
          </a:p>
        </p:txBody>
      </p:sp>
      <p:sp>
        <p:nvSpPr>
          <p:cNvPr id="40" name="north-korea-row-0-rule">
            <a:extLst>
              <a:ext uri="{FF2B5EF4-FFF2-40B4-BE49-F238E27FC236}">
                <a16:creationId xmlns:a16="http://schemas.microsoft.com/office/drawing/2014/main" id="{95A43DFF-1AE5-4920-9760-0A551E2B2D43}"/>
              </a:ext>
            </a:extLst>
          </p:cNvPr>
          <p:cNvSpPr>
            <a:spLocks noGrp="1"/>
          </p:cNvSpPr>
          <p:nvPr/>
        </p:nvSpPr>
        <p:spPr>
          <a:xfrm>
            <a:off x="6534150" y="277177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north-korea-row-0-label">
            <a:extLst>
              <a:ext uri="{FF2B5EF4-FFF2-40B4-BE49-F238E27FC236}">
                <a16:creationId xmlns:a16="http://schemas.microsoft.com/office/drawing/2014/main" id="{50261795-E01A-42AF-9A2A-735C43C65DFF}"/>
              </a:ext>
            </a:extLst>
          </p:cNvPr>
          <p:cNvSpPr>
            <a:spLocks noGrp="1"/>
          </p:cNvSpPr>
          <p:nvPr/>
        </p:nvSpPr>
        <p:spPr>
          <a:xfrm>
            <a:off x="6705600" y="27051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Motivation</a:t>
            </a:r>
          </a:p>
        </p:txBody>
      </p:sp>
      <p:sp>
        <p:nvSpPr>
          <p:cNvPr id="42" name="north-korea-row-0-detail">
            <a:extLst>
              <a:ext uri="{FF2B5EF4-FFF2-40B4-BE49-F238E27FC236}">
                <a16:creationId xmlns:a16="http://schemas.microsoft.com/office/drawing/2014/main" id="{E32F1D3D-9E7F-4BA1-BB7F-C052BF9C5D69}"/>
              </a:ext>
            </a:extLst>
          </p:cNvPr>
          <p:cNvSpPr>
            <a:spLocks noGrp="1"/>
          </p:cNvSpPr>
          <p:nvPr/>
        </p:nvSpPr>
        <p:spPr>
          <a:xfrm>
            <a:off x="6705600" y="29146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Bypass sanctions and fund strategic weapons programs.</a:t>
            </a:r>
          </a:p>
        </p:txBody>
      </p:sp>
      <p:sp>
        <p:nvSpPr>
          <p:cNvPr id="43" name="north-korea-row-1-rule">
            <a:extLst>
              <a:ext uri="{FF2B5EF4-FFF2-40B4-BE49-F238E27FC236}">
                <a16:creationId xmlns:a16="http://schemas.microsoft.com/office/drawing/2014/main" id="{906EAAC2-6DEE-46B7-9D83-5911A6443915}"/>
              </a:ext>
            </a:extLst>
          </p:cNvPr>
          <p:cNvSpPr>
            <a:spLocks noGrp="1"/>
          </p:cNvSpPr>
          <p:nvPr/>
        </p:nvSpPr>
        <p:spPr>
          <a:xfrm>
            <a:off x="6534150" y="332422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north-korea-row-1-label">
            <a:extLst>
              <a:ext uri="{FF2B5EF4-FFF2-40B4-BE49-F238E27FC236}">
                <a16:creationId xmlns:a16="http://schemas.microsoft.com/office/drawing/2014/main" id="{AAEC8BC4-63C2-40E3-9D3B-9CD4B2F7A541}"/>
              </a:ext>
            </a:extLst>
          </p:cNvPr>
          <p:cNvSpPr>
            <a:spLocks noGrp="1"/>
          </p:cNvSpPr>
          <p:nvPr/>
        </p:nvSpPr>
        <p:spPr>
          <a:xfrm>
            <a:off x="6705600" y="32575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Primary targets</a:t>
            </a:r>
          </a:p>
        </p:txBody>
      </p:sp>
      <p:sp>
        <p:nvSpPr>
          <p:cNvPr id="45" name="north-korea-row-1-detail">
            <a:extLst>
              <a:ext uri="{FF2B5EF4-FFF2-40B4-BE49-F238E27FC236}">
                <a16:creationId xmlns:a16="http://schemas.microsoft.com/office/drawing/2014/main" id="{6670E00D-42DB-43F3-BD4D-1A3C85B6A6B7}"/>
              </a:ext>
            </a:extLst>
          </p:cNvPr>
          <p:cNvSpPr>
            <a:spLocks noGrp="1"/>
          </p:cNvSpPr>
          <p:nvPr/>
        </p:nvSpPr>
        <p:spPr>
          <a:xfrm>
            <a:off x="6705600" y="34671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Crypto exchanges, banks, defense supply chains.</a:t>
            </a:r>
          </a:p>
        </p:txBody>
      </p:sp>
      <p:sp>
        <p:nvSpPr>
          <p:cNvPr id="46" name="north-korea-row-2-rule">
            <a:extLst>
              <a:ext uri="{FF2B5EF4-FFF2-40B4-BE49-F238E27FC236}">
                <a16:creationId xmlns:a16="http://schemas.microsoft.com/office/drawing/2014/main" id="{C5E324FC-0899-4456-A3CA-558A1948930C}"/>
              </a:ext>
            </a:extLst>
          </p:cNvPr>
          <p:cNvSpPr>
            <a:spLocks noGrp="1"/>
          </p:cNvSpPr>
          <p:nvPr/>
        </p:nvSpPr>
        <p:spPr>
          <a:xfrm>
            <a:off x="6534150" y="387667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north-korea-row-2-label">
            <a:extLst>
              <a:ext uri="{FF2B5EF4-FFF2-40B4-BE49-F238E27FC236}">
                <a16:creationId xmlns:a16="http://schemas.microsoft.com/office/drawing/2014/main" id="{190FC979-3E9A-4EEF-AD0E-53FCC74D96B1}"/>
              </a:ext>
            </a:extLst>
          </p:cNvPr>
          <p:cNvSpPr>
            <a:spLocks noGrp="1"/>
          </p:cNvSpPr>
          <p:nvPr/>
        </p:nvSpPr>
        <p:spPr>
          <a:xfrm>
            <a:off x="6705600" y="38100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Methods</a:t>
            </a:r>
          </a:p>
        </p:txBody>
      </p:sp>
      <p:sp>
        <p:nvSpPr>
          <p:cNvPr id="48" name="north-korea-row-2-detail">
            <a:extLst>
              <a:ext uri="{FF2B5EF4-FFF2-40B4-BE49-F238E27FC236}">
                <a16:creationId xmlns:a16="http://schemas.microsoft.com/office/drawing/2014/main" id="{6984284A-F6F8-4BC6-B267-48790DE84DC3}"/>
              </a:ext>
            </a:extLst>
          </p:cNvPr>
          <p:cNvSpPr>
            <a:spLocks noGrp="1"/>
          </p:cNvSpPr>
          <p:nvPr/>
        </p:nvSpPr>
        <p:spPr>
          <a:xfrm>
            <a:off x="6705600" y="401955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Financial theft, laundering, IP theft and access brokerage.</a:t>
            </a:r>
          </a:p>
        </p:txBody>
      </p:sp>
      <p:sp>
        <p:nvSpPr>
          <p:cNvPr id="49" name="north-korea-row-3-rule">
            <a:extLst>
              <a:ext uri="{FF2B5EF4-FFF2-40B4-BE49-F238E27FC236}">
                <a16:creationId xmlns:a16="http://schemas.microsoft.com/office/drawing/2014/main" id="{84FE6D81-2EDD-4C8C-838A-5FDD370EAD2D}"/>
              </a:ext>
            </a:extLst>
          </p:cNvPr>
          <p:cNvSpPr>
            <a:spLocks noGrp="1"/>
          </p:cNvSpPr>
          <p:nvPr/>
        </p:nvSpPr>
        <p:spPr>
          <a:xfrm>
            <a:off x="6534150" y="4429125"/>
            <a:ext cx="38100" cy="4000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north-korea-row-3-label">
            <a:extLst>
              <a:ext uri="{FF2B5EF4-FFF2-40B4-BE49-F238E27FC236}">
                <a16:creationId xmlns:a16="http://schemas.microsoft.com/office/drawing/2014/main" id="{04363E07-08A8-48BE-AD8B-21E4A1AA3FAF}"/>
              </a:ext>
            </a:extLst>
          </p:cNvPr>
          <p:cNvSpPr>
            <a:spLocks noGrp="1"/>
          </p:cNvSpPr>
          <p:nvPr/>
        </p:nvSpPr>
        <p:spPr>
          <a:xfrm>
            <a:off x="6705600" y="43624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Signature trait</a:t>
            </a:r>
          </a:p>
        </p:txBody>
      </p:sp>
      <p:sp>
        <p:nvSpPr>
          <p:cNvPr id="51" name="north-korea-row-3-detail">
            <a:extLst>
              <a:ext uri="{FF2B5EF4-FFF2-40B4-BE49-F238E27FC236}">
                <a16:creationId xmlns:a16="http://schemas.microsoft.com/office/drawing/2014/main" id="{6525B59C-5018-4890-9515-21D6FA524ACB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45148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Profitability: operations must generate hard currency.</a:t>
            </a:r>
          </a:p>
        </p:txBody>
      </p:sp>
      <p:sp>
        <p:nvSpPr>
          <p:cNvPr id="52" name="north-korea-marker-box">
            <a:extLst>
              <a:ext uri="{FF2B5EF4-FFF2-40B4-BE49-F238E27FC236}">
                <a16:creationId xmlns:a16="http://schemas.microsoft.com/office/drawing/2014/main" id="{23E384BC-E54F-4DA3-8559-3F62BF024720}"/>
              </a:ext>
            </a:extLst>
          </p:cNvPr>
          <p:cNvSpPr>
            <a:spLocks noGrp="1"/>
          </p:cNvSpPr>
          <p:nvPr/>
        </p:nvSpPr>
        <p:spPr>
          <a:xfrm>
            <a:off x="6534150" y="5505450"/>
            <a:ext cx="47625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north-korea-marker-label">
            <a:extLst>
              <a:ext uri="{FF2B5EF4-FFF2-40B4-BE49-F238E27FC236}">
                <a16:creationId xmlns:a16="http://schemas.microsoft.com/office/drawing/2014/main" id="{3739A608-54EE-4548-82A1-07DBC1218280}"/>
              </a:ext>
            </a:extLst>
          </p:cNvPr>
          <p:cNvSpPr>
            <a:spLocks noGrp="1"/>
          </p:cNvSpPr>
          <p:nvPr/>
        </p:nvSpPr>
        <p:spPr>
          <a:xfrm>
            <a:off x="6686550" y="5600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Recent marker</a:t>
            </a:r>
          </a:p>
        </p:txBody>
      </p:sp>
      <p:sp>
        <p:nvSpPr>
          <p:cNvPr id="54" name="north-korea-marker-text">
            <a:extLst>
              <a:ext uri="{FF2B5EF4-FFF2-40B4-BE49-F238E27FC236}">
                <a16:creationId xmlns:a16="http://schemas.microsoft.com/office/drawing/2014/main" id="{937B30D7-1F05-4ECA-9B23-99E54E153058}"/>
              </a:ext>
            </a:extLst>
          </p:cNvPr>
          <p:cNvSpPr>
            <a:spLocks noGrp="1"/>
          </p:cNvSpPr>
          <p:nvPr/>
        </p:nvSpPr>
        <p:spPr>
          <a:xfrm>
            <a:off x="7810500" y="55721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Lazarus: Upbit crypto theft.</a:t>
            </a:r>
          </a:p>
        </p:txBody>
      </p:sp>
      <p:sp>
        <p:nvSpPr>
          <p:cNvPr id="55" name="slide-4-bottom-band">
            <a:extLst>
              <a:ext uri="{FF2B5EF4-FFF2-40B4-BE49-F238E27FC236}">
                <a16:creationId xmlns:a16="http://schemas.microsoft.com/office/drawing/2014/main" id="{524AF7CF-3387-40B5-8371-E2926673978C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10991850" cy="400050"/>
          </a:xfrm>
          <a:prstGeom prst="roundRect">
            <a:avLst>
              <a:gd name="adj" fmla="val 19048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lide-4-bottom-text">
            <a:extLst>
              <a:ext uri="{FF2B5EF4-FFF2-40B4-BE49-F238E27FC236}">
                <a16:creationId xmlns:a16="http://schemas.microsoft.com/office/drawing/2014/main" id="{B0BFBE52-0223-40AE-891A-78389D28358F}"/>
              </a:ext>
            </a:extLst>
          </p:cNvPr>
          <p:cNvSpPr>
            <a:spLocks noGrp="1"/>
          </p:cNvSpPr>
          <p:nvPr/>
        </p:nvSpPr>
        <p:spPr>
          <a:xfrm>
            <a:off x="781050" y="6381750"/>
            <a:ext cx="1053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8A55"/>
                </a:solidFill>
              </a:defRPr>
            </a:pPr>
            <a:r>
              <a:rPr sz="1275" b="1">
                <a:solidFill>
                  <a:srgbClr val="1F8A55"/>
                </a:solidFill>
              </a:rPr>
              <a:t>Four actors, four motivations: strategic theft, disruption, retaliation and revenue all now shape the threat landscape.</a:t>
            </a:r>
          </a:p>
        </p:txBody>
      </p:sp>
    </p:spTree>
    <p:extLst>
      <p:ext uri="{BB962C8B-B14F-4D97-AF65-F5344CB8AC3E}">
        <p14:creationId xmlns:p14="http://schemas.microsoft.com/office/powerpoint/2010/main" val="20294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5-top">
            <a:extLst>
              <a:ext uri="{FF2B5EF4-FFF2-40B4-BE49-F238E27FC236}">
                <a16:creationId xmlns:a16="http://schemas.microsoft.com/office/drawing/2014/main" id="{3808EC7B-A8C5-441F-B696-4D118125E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5-eyebrow">
            <a:extLst>
              <a:ext uri="{FF2B5EF4-FFF2-40B4-BE49-F238E27FC236}">
                <a16:creationId xmlns:a16="http://schemas.microsoft.com/office/drawing/2014/main" id="{F792D2AA-F906-46D1-9E44-F3CCD34428D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5</a:t>
            </a:r>
          </a:p>
        </p:txBody>
      </p:sp>
      <p:sp>
        <p:nvSpPr>
          <p:cNvPr id="3" name="s5-title">
            <a:extLst>
              <a:ext uri="{FF2B5EF4-FFF2-40B4-BE49-F238E27FC236}">
                <a16:creationId xmlns:a16="http://schemas.microsoft.com/office/drawing/2014/main" id="{ABF14B01-0AAC-4600-A4B2-2617AE79B446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Evolution of TTPs</a:t>
            </a:r>
          </a:p>
        </p:txBody>
      </p:sp>
      <p:sp>
        <p:nvSpPr>
          <p:cNvPr id="4" name="s5-subtitle">
            <a:extLst>
              <a:ext uri="{FF2B5EF4-FFF2-40B4-BE49-F238E27FC236}">
                <a16:creationId xmlns:a16="http://schemas.microsoft.com/office/drawing/2014/main" id="{4910ABFE-E72C-44FD-B7BD-5F80E97DDBC7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2025-2026: three shifts that broke the old playbook</a:t>
            </a:r>
          </a:p>
        </p:txBody>
      </p:sp>
      <p:sp>
        <p:nvSpPr>
          <p:cNvPr id="5" name="trend-1">
            <a:extLst>
              <a:ext uri="{FF2B5EF4-FFF2-40B4-BE49-F238E27FC236}">
                <a16:creationId xmlns:a16="http://schemas.microsoft.com/office/drawing/2014/main" id="{6B33FEE2-6389-4D8A-8409-0C4791CCE457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rend-1-bar">
            <a:extLst>
              <a:ext uri="{FF2B5EF4-FFF2-40B4-BE49-F238E27FC236}">
                <a16:creationId xmlns:a16="http://schemas.microsoft.com/office/drawing/2014/main" id="{54A68692-38D8-4FD9-B7F4-5C459CB7B16F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76200" cy="400050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rend-1-icon">
            <a:extLst>
              <a:ext uri="{FF2B5EF4-FFF2-40B4-BE49-F238E27FC236}">
                <a16:creationId xmlns:a16="http://schemas.microsoft.com/office/drawing/2014/main" id="{698C467A-E388-4D52-B249-819A4A43962B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438150" cy="43815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rend-1-icon-text">
            <a:extLst>
              <a:ext uri="{FF2B5EF4-FFF2-40B4-BE49-F238E27FC236}">
                <a16:creationId xmlns:a16="http://schemas.microsoft.com/office/drawing/2014/main" id="{7C504564-E636-48BC-B385-197E31860679}"/>
              </a:ext>
            </a:extLst>
          </p:cNvPr>
          <p:cNvSpPr>
            <a:spLocks noGrp="1"/>
          </p:cNvSpPr>
          <p:nvPr/>
        </p:nvSpPr>
        <p:spPr>
          <a:xfrm>
            <a:off x="781050" y="204787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9" name="trend-1-title">
            <a:extLst>
              <a:ext uri="{FF2B5EF4-FFF2-40B4-BE49-F238E27FC236}">
                <a16:creationId xmlns:a16="http://schemas.microsoft.com/office/drawing/2014/main" id="{B8688412-AE5D-4756-B9C5-135090FB8C0F}"/>
              </a:ext>
            </a:extLst>
          </p:cNvPr>
          <p:cNvSpPr>
            <a:spLocks noGrp="1"/>
          </p:cNvSpPr>
          <p:nvPr/>
        </p:nvSpPr>
        <p:spPr>
          <a:xfrm>
            <a:off x="1371600" y="18669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Identity &gt; Exploitation</a:t>
            </a:r>
          </a:p>
        </p:txBody>
      </p:sp>
      <p:sp>
        <p:nvSpPr>
          <p:cNvPr id="10" name="trend-1-tag">
            <a:extLst>
              <a:ext uri="{FF2B5EF4-FFF2-40B4-BE49-F238E27FC236}">
                <a16:creationId xmlns:a16="http://schemas.microsoft.com/office/drawing/2014/main" id="{10C843B6-A20D-414D-AA82-E2E212BD1368}"/>
              </a:ext>
            </a:extLst>
          </p:cNvPr>
          <p:cNvSpPr>
            <a:spLocks noGrp="1"/>
          </p:cNvSpPr>
          <p:nvPr/>
        </p:nvSpPr>
        <p:spPr>
          <a:xfrm>
            <a:off x="1371600" y="21526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0C878"/>
                </a:solidFill>
              </a:defRPr>
            </a:pPr>
            <a:r>
              <a:rPr sz="1200" b="1">
                <a:solidFill>
                  <a:srgbClr val="50C878"/>
                </a:solidFill>
              </a:rPr>
              <a:t>"Log in, don't break in"</a:t>
            </a:r>
          </a:p>
        </p:txBody>
      </p:sp>
      <p:sp>
        <p:nvSpPr>
          <p:cNvPr id="11" name="trend-1-changed-label">
            <a:extLst>
              <a:ext uri="{FF2B5EF4-FFF2-40B4-BE49-F238E27FC236}">
                <a16:creationId xmlns:a16="http://schemas.microsoft.com/office/drawing/2014/main" id="{1556A1FE-1AEA-4C61-98D1-19FA6E1B8C98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What changed</a:t>
            </a:r>
          </a:p>
        </p:txBody>
      </p:sp>
      <p:sp>
        <p:nvSpPr>
          <p:cNvPr id="12" name="trend-1-changed">
            <a:extLst>
              <a:ext uri="{FF2B5EF4-FFF2-40B4-BE49-F238E27FC236}">
                <a16:creationId xmlns:a16="http://schemas.microsoft.com/office/drawing/2014/main" id="{2D92D374-0373-4091-9AB8-168FA93EC8BC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Attackers authenticate with valid credentials, service accounts, API keys and workflow tokens.</a:t>
            </a:r>
          </a:p>
        </p:txBody>
      </p:sp>
      <p:sp>
        <p:nvSpPr>
          <p:cNvPr id="13" name="trend-1-why-label">
            <a:extLst>
              <a:ext uri="{FF2B5EF4-FFF2-40B4-BE49-F238E27FC236}">
                <a16:creationId xmlns:a16="http://schemas.microsoft.com/office/drawing/2014/main" id="{0B6E1F75-C5AD-4F38-A6C0-1CF4F11F4E6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Why it matters</a:t>
            </a:r>
          </a:p>
        </p:txBody>
      </p:sp>
      <p:sp>
        <p:nvSpPr>
          <p:cNvPr id="14" name="trend-1-why">
            <a:extLst>
              <a:ext uri="{FF2B5EF4-FFF2-40B4-BE49-F238E27FC236}">
                <a16:creationId xmlns:a16="http://schemas.microsoft.com/office/drawing/2014/main" id="{E1DBBC07-A13B-49AD-B550-65256D67EF96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Human identity controls improved; machine identities became the softer target.</a:t>
            </a:r>
          </a:p>
        </p:txBody>
      </p:sp>
      <p:sp>
        <p:nvSpPr>
          <p:cNvPr id="15" name="trend-1-quote-box">
            <a:extLst>
              <a:ext uri="{FF2B5EF4-FFF2-40B4-BE49-F238E27FC236}">
                <a16:creationId xmlns:a16="http://schemas.microsoft.com/office/drawing/2014/main" id="{51AAA0F6-9AC1-4980-882A-1A0D77A5B971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2971800" cy="590550"/>
          </a:xfrm>
          <a:prstGeom prst="roundRect">
            <a:avLst>
              <a:gd name="adj" fmla="val 12903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rend-1-quote">
            <a:extLst>
              <a:ext uri="{FF2B5EF4-FFF2-40B4-BE49-F238E27FC236}">
                <a16:creationId xmlns:a16="http://schemas.microsoft.com/office/drawing/2014/main" id="{1F82A295-572D-47F7-940A-4EEC0313C7F5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The attacker arrives with a valid keycard.</a:t>
            </a:r>
          </a:p>
        </p:txBody>
      </p:sp>
      <p:sp>
        <p:nvSpPr>
          <p:cNvPr id="17" name="trend-2">
            <a:extLst>
              <a:ext uri="{FF2B5EF4-FFF2-40B4-BE49-F238E27FC236}">
                <a16:creationId xmlns:a16="http://schemas.microsoft.com/office/drawing/2014/main" id="{800D5B60-60B6-4308-BAED-4656D6E3C68A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rend-2-bar">
            <a:extLst>
              <a:ext uri="{FF2B5EF4-FFF2-40B4-BE49-F238E27FC236}">
                <a16:creationId xmlns:a16="http://schemas.microsoft.com/office/drawing/2014/main" id="{456AFE1A-B68B-48CC-AE20-098E734C2A84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76200" cy="400050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rend-2-icon">
            <a:extLst>
              <a:ext uri="{FF2B5EF4-FFF2-40B4-BE49-F238E27FC236}">
                <a16:creationId xmlns:a16="http://schemas.microsoft.com/office/drawing/2014/main" id="{77403DD1-9412-4C5F-AF04-B0CBD6AAAAD4}"/>
              </a:ext>
            </a:extLst>
          </p:cNvPr>
          <p:cNvSpPr>
            <a:spLocks noGrp="1"/>
          </p:cNvSpPr>
          <p:nvPr/>
        </p:nvSpPr>
        <p:spPr>
          <a:xfrm>
            <a:off x="4610100" y="1943100"/>
            <a:ext cx="438150" cy="43815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rend-2-icon-text">
            <a:extLst>
              <a:ext uri="{FF2B5EF4-FFF2-40B4-BE49-F238E27FC236}">
                <a16:creationId xmlns:a16="http://schemas.microsoft.com/office/drawing/2014/main" id="{E6D1D6AE-6BE8-4BA0-97D0-8F22B279174D}"/>
              </a:ext>
            </a:extLst>
          </p:cNvPr>
          <p:cNvSpPr>
            <a:spLocks noGrp="1"/>
          </p:cNvSpPr>
          <p:nvPr/>
        </p:nvSpPr>
        <p:spPr>
          <a:xfrm>
            <a:off x="4610100" y="204787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LT</a:t>
            </a:r>
          </a:p>
        </p:txBody>
      </p:sp>
      <p:sp>
        <p:nvSpPr>
          <p:cNvPr id="21" name="trend-2-title">
            <a:extLst>
              <a:ext uri="{FF2B5EF4-FFF2-40B4-BE49-F238E27FC236}">
                <a16:creationId xmlns:a16="http://schemas.microsoft.com/office/drawing/2014/main" id="{ED5E7DC8-D385-4A22-A636-3535BCD0DDD9}"/>
              </a:ext>
            </a:extLst>
          </p:cNvPr>
          <p:cNvSpPr>
            <a:spLocks noGrp="1"/>
          </p:cNvSpPr>
          <p:nvPr/>
        </p:nvSpPr>
        <p:spPr>
          <a:xfrm>
            <a:off x="5200650" y="18669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LotL + Edge</a:t>
            </a:r>
          </a:p>
        </p:txBody>
      </p:sp>
      <p:sp>
        <p:nvSpPr>
          <p:cNvPr id="22" name="trend-2-tag">
            <a:extLst>
              <a:ext uri="{FF2B5EF4-FFF2-40B4-BE49-F238E27FC236}">
                <a16:creationId xmlns:a16="http://schemas.microsoft.com/office/drawing/2014/main" id="{8AED032B-5B03-4A69-84CF-9EED832E1350}"/>
              </a:ext>
            </a:extLst>
          </p:cNvPr>
          <p:cNvSpPr>
            <a:spLocks noGrp="1"/>
          </p:cNvSpPr>
          <p:nvPr/>
        </p:nvSpPr>
        <p:spPr>
          <a:xfrm>
            <a:off x="5200650" y="21526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8A6A1"/>
                </a:solidFill>
              </a:defRPr>
            </a:pPr>
            <a:r>
              <a:rPr sz="1200" b="1">
                <a:solidFill>
                  <a:srgbClr val="28A6A1"/>
                </a:solidFill>
              </a:rPr>
              <a:t>"Invisible by design"</a:t>
            </a:r>
          </a:p>
        </p:txBody>
      </p:sp>
      <p:sp>
        <p:nvSpPr>
          <p:cNvPr id="23" name="trend-2-changed-label">
            <a:extLst>
              <a:ext uri="{FF2B5EF4-FFF2-40B4-BE49-F238E27FC236}">
                <a16:creationId xmlns:a16="http://schemas.microsoft.com/office/drawing/2014/main" id="{4974FA18-71D9-4751-8C83-B361DD1A5335}"/>
              </a:ext>
            </a:extLst>
          </p:cNvPr>
          <p:cNvSpPr>
            <a:spLocks noGrp="1"/>
          </p:cNvSpPr>
          <p:nvPr/>
        </p:nvSpPr>
        <p:spPr>
          <a:xfrm>
            <a:off x="4648200" y="26289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What changed</a:t>
            </a:r>
          </a:p>
        </p:txBody>
      </p:sp>
      <p:sp>
        <p:nvSpPr>
          <p:cNvPr id="24" name="trend-2-changed">
            <a:extLst>
              <a:ext uri="{FF2B5EF4-FFF2-40B4-BE49-F238E27FC236}">
                <a16:creationId xmlns:a16="http://schemas.microsoft.com/office/drawing/2014/main" id="{2286E4EE-E875-489A-B434-985763419135}"/>
              </a:ext>
            </a:extLst>
          </p:cNvPr>
          <p:cNvSpPr>
            <a:spLocks noGrp="1"/>
          </p:cNvSpPr>
          <p:nvPr/>
        </p:nvSpPr>
        <p:spPr>
          <a:xfrm>
            <a:off x="4648200" y="28765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Native tools and edge devices replace custom malware as the operating base.</a:t>
            </a:r>
          </a:p>
        </p:txBody>
      </p:sp>
      <p:sp>
        <p:nvSpPr>
          <p:cNvPr id="25" name="trend-2-why-label">
            <a:extLst>
              <a:ext uri="{FF2B5EF4-FFF2-40B4-BE49-F238E27FC236}">
                <a16:creationId xmlns:a16="http://schemas.microsoft.com/office/drawing/2014/main" id="{A39654B4-7A39-49D5-8F48-557EDA8523C5}"/>
              </a:ext>
            </a:extLst>
          </p:cNvPr>
          <p:cNvSpPr>
            <a:spLocks noGrp="1"/>
          </p:cNvSpPr>
          <p:nvPr/>
        </p:nvSpPr>
        <p:spPr>
          <a:xfrm>
            <a:off x="4648200" y="36385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Why it matters</a:t>
            </a:r>
          </a:p>
        </p:txBody>
      </p:sp>
      <p:sp>
        <p:nvSpPr>
          <p:cNvPr id="26" name="trend-2-why">
            <a:extLst>
              <a:ext uri="{FF2B5EF4-FFF2-40B4-BE49-F238E27FC236}">
                <a16:creationId xmlns:a16="http://schemas.microsoft.com/office/drawing/2014/main" id="{ABFE584A-46ED-4C5E-83F9-21C424F0B7BD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EDR sees endpoints; routers, VPNs and firewalls remain harder to instrument.</a:t>
            </a:r>
          </a:p>
        </p:txBody>
      </p:sp>
      <p:sp>
        <p:nvSpPr>
          <p:cNvPr id="27" name="trend-2-quote-box">
            <a:extLst>
              <a:ext uri="{FF2B5EF4-FFF2-40B4-BE49-F238E27FC236}">
                <a16:creationId xmlns:a16="http://schemas.microsoft.com/office/drawing/2014/main" id="{C185A05B-9BB0-4DB7-860D-D27D8877C49D}"/>
              </a:ext>
            </a:extLst>
          </p:cNvPr>
          <p:cNvSpPr>
            <a:spLocks noGrp="1"/>
          </p:cNvSpPr>
          <p:nvPr/>
        </p:nvSpPr>
        <p:spPr>
          <a:xfrm>
            <a:off x="4610100" y="4819650"/>
            <a:ext cx="2971800" cy="590550"/>
          </a:xfrm>
          <a:prstGeom prst="roundRect">
            <a:avLst>
              <a:gd name="adj" fmla="val 12903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rend-2-quote">
            <a:extLst>
              <a:ext uri="{FF2B5EF4-FFF2-40B4-BE49-F238E27FC236}">
                <a16:creationId xmlns:a16="http://schemas.microsoft.com/office/drawing/2014/main" id="{9A74D8D5-DF4A-481D-8E0E-4255592843E4}"/>
              </a:ext>
            </a:extLst>
          </p:cNvPr>
          <p:cNvSpPr>
            <a:spLocks noGrp="1"/>
          </p:cNvSpPr>
          <p:nvPr/>
        </p:nvSpPr>
        <p:spPr>
          <a:xfrm>
            <a:off x="4781550" y="493395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The attacker lives where sensors are weakest.</a:t>
            </a:r>
          </a:p>
        </p:txBody>
      </p:sp>
      <p:sp>
        <p:nvSpPr>
          <p:cNvPr id="29" name="trend-3">
            <a:extLst>
              <a:ext uri="{FF2B5EF4-FFF2-40B4-BE49-F238E27FC236}">
                <a16:creationId xmlns:a16="http://schemas.microsoft.com/office/drawing/2014/main" id="{D0C8B13A-EB97-4A04-9543-CEE3652EB8D9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rend-3-bar">
            <a:extLst>
              <a:ext uri="{FF2B5EF4-FFF2-40B4-BE49-F238E27FC236}">
                <a16:creationId xmlns:a16="http://schemas.microsoft.com/office/drawing/2014/main" id="{CA5B20F2-3301-4FEB-A305-31F72B7E3ED5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76200" cy="4000500"/>
          </a:xfrm>
          <a:prstGeom prst="rect">
            <a:avLst/>
          </a:prstGeom>
          <a:solidFill>
            <a:srgbClr val="6B5BFF"/>
          </a:solidFill>
          <a:ln w="0">
            <a:solidFill>
              <a:srgbClr val="6B5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rend-3-icon">
            <a:extLst>
              <a:ext uri="{FF2B5EF4-FFF2-40B4-BE49-F238E27FC236}">
                <a16:creationId xmlns:a16="http://schemas.microsoft.com/office/drawing/2014/main" id="{FB784173-D82E-4A8B-99B7-013C47166856}"/>
              </a:ext>
            </a:extLst>
          </p:cNvPr>
          <p:cNvSpPr>
            <a:spLocks noGrp="1"/>
          </p:cNvSpPr>
          <p:nvPr/>
        </p:nvSpPr>
        <p:spPr>
          <a:xfrm>
            <a:off x="8439150" y="1943100"/>
            <a:ext cx="438150" cy="438150"/>
          </a:xfrm>
          <a:prstGeom prst="ellipse">
            <a:avLst/>
          </a:prstGeom>
          <a:solidFill>
            <a:srgbClr val="6B5B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rend-3-icon-text">
            <a:extLst>
              <a:ext uri="{FF2B5EF4-FFF2-40B4-BE49-F238E27FC236}">
                <a16:creationId xmlns:a16="http://schemas.microsoft.com/office/drawing/2014/main" id="{AED422AF-17DB-4D41-8531-2F441A919AE3}"/>
              </a:ext>
            </a:extLst>
          </p:cNvPr>
          <p:cNvSpPr>
            <a:spLocks noGrp="1"/>
          </p:cNvSpPr>
          <p:nvPr/>
        </p:nvSpPr>
        <p:spPr>
          <a:xfrm>
            <a:off x="8439150" y="204787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3X</a:t>
            </a:r>
          </a:p>
        </p:txBody>
      </p:sp>
      <p:sp>
        <p:nvSpPr>
          <p:cNvPr id="33" name="trend-3-title">
            <a:extLst>
              <a:ext uri="{FF2B5EF4-FFF2-40B4-BE49-F238E27FC236}">
                <a16:creationId xmlns:a16="http://schemas.microsoft.com/office/drawing/2014/main" id="{84DEBAA3-76C8-4659-B40A-6FD134E76EC1}"/>
              </a:ext>
            </a:extLst>
          </p:cNvPr>
          <p:cNvSpPr>
            <a:spLocks noGrp="1"/>
          </p:cNvSpPr>
          <p:nvPr/>
        </p:nvSpPr>
        <p:spPr>
          <a:xfrm>
            <a:off x="9029700" y="18669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Triple Extortion</a:t>
            </a:r>
          </a:p>
        </p:txBody>
      </p:sp>
      <p:sp>
        <p:nvSpPr>
          <p:cNvPr id="34" name="trend-3-tag">
            <a:extLst>
              <a:ext uri="{FF2B5EF4-FFF2-40B4-BE49-F238E27FC236}">
                <a16:creationId xmlns:a16="http://schemas.microsoft.com/office/drawing/2014/main" id="{DC9F8891-4012-48B0-9768-591712DF14F8}"/>
              </a:ext>
            </a:extLst>
          </p:cNvPr>
          <p:cNvSpPr>
            <a:spLocks noGrp="1"/>
          </p:cNvSpPr>
          <p:nvPr/>
        </p:nvSpPr>
        <p:spPr>
          <a:xfrm>
            <a:off x="9029700" y="21526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B5BFF"/>
                </a:solidFill>
              </a:defRPr>
            </a:pPr>
            <a:r>
              <a:rPr sz="1200" b="1">
                <a:solidFill>
                  <a:srgbClr val="6B5BFF"/>
                </a:solidFill>
              </a:rPr>
              <a:t>"Pressure, not just payment"</a:t>
            </a:r>
          </a:p>
        </p:txBody>
      </p:sp>
      <p:sp>
        <p:nvSpPr>
          <p:cNvPr id="35" name="trend-3-changed-label">
            <a:extLst>
              <a:ext uri="{FF2B5EF4-FFF2-40B4-BE49-F238E27FC236}">
                <a16:creationId xmlns:a16="http://schemas.microsoft.com/office/drawing/2014/main" id="{A5FD4895-7000-446C-BD55-E98BBC04E24E}"/>
              </a:ext>
            </a:extLst>
          </p:cNvPr>
          <p:cNvSpPr>
            <a:spLocks noGrp="1"/>
          </p:cNvSpPr>
          <p:nvPr/>
        </p:nvSpPr>
        <p:spPr>
          <a:xfrm>
            <a:off x="8477250" y="26289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What changed</a:t>
            </a:r>
          </a:p>
        </p:txBody>
      </p:sp>
      <p:sp>
        <p:nvSpPr>
          <p:cNvPr id="36" name="trend-3-changed">
            <a:extLst>
              <a:ext uri="{FF2B5EF4-FFF2-40B4-BE49-F238E27FC236}">
                <a16:creationId xmlns:a16="http://schemas.microsoft.com/office/drawing/2014/main" id="{A075C36F-F639-4128-98D2-4606DE932218}"/>
              </a:ext>
            </a:extLst>
          </p:cNvPr>
          <p:cNvSpPr>
            <a:spLocks noGrp="1"/>
          </p:cNvSpPr>
          <p:nvPr/>
        </p:nvSpPr>
        <p:spPr>
          <a:xfrm>
            <a:off x="8477250" y="28765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Encryption is paired with data theft, public leaks and direct pressure on stakeholders.</a:t>
            </a:r>
          </a:p>
        </p:txBody>
      </p:sp>
      <p:sp>
        <p:nvSpPr>
          <p:cNvPr id="37" name="trend-3-why-label">
            <a:extLst>
              <a:ext uri="{FF2B5EF4-FFF2-40B4-BE49-F238E27FC236}">
                <a16:creationId xmlns:a16="http://schemas.microsoft.com/office/drawing/2014/main" id="{785A4A4A-5F1B-47C3-9CD4-0BD08E1A6561}"/>
              </a:ext>
            </a:extLst>
          </p:cNvPr>
          <p:cNvSpPr>
            <a:spLocks noGrp="1"/>
          </p:cNvSpPr>
          <p:nvPr/>
        </p:nvSpPr>
        <p:spPr>
          <a:xfrm>
            <a:off x="8477250" y="36385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F8A55"/>
                </a:solidFill>
              </a:defRPr>
            </a:pPr>
            <a:r>
              <a:rPr sz="1125" b="1">
                <a:solidFill>
                  <a:srgbClr val="1F8A55"/>
                </a:solidFill>
              </a:rPr>
              <a:t>Why it matters</a:t>
            </a:r>
          </a:p>
        </p:txBody>
      </p:sp>
      <p:sp>
        <p:nvSpPr>
          <p:cNvPr id="38" name="trend-3-why">
            <a:extLst>
              <a:ext uri="{FF2B5EF4-FFF2-40B4-BE49-F238E27FC236}">
                <a16:creationId xmlns:a16="http://schemas.microsoft.com/office/drawing/2014/main" id="{9E179C19-DAF9-4B4E-95FD-53CB03551C89}"/>
              </a:ext>
            </a:extLst>
          </p:cNvPr>
          <p:cNvSpPr>
            <a:spLocks noGrp="1"/>
          </p:cNvSpPr>
          <p:nvPr/>
        </p:nvSpPr>
        <p:spPr>
          <a:xfrm>
            <a:off x="8477250" y="38862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The crisis becomes reputational, legal and political before recovery is complete.</a:t>
            </a:r>
          </a:p>
        </p:txBody>
      </p:sp>
      <p:sp>
        <p:nvSpPr>
          <p:cNvPr id="39" name="trend-3-quote-box">
            <a:extLst>
              <a:ext uri="{FF2B5EF4-FFF2-40B4-BE49-F238E27FC236}">
                <a16:creationId xmlns:a16="http://schemas.microsoft.com/office/drawing/2014/main" id="{E4DA3490-2438-4541-B479-11C32325CE90}"/>
              </a:ext>
            </a:extLst>
          </p:cNvPr>
          <p:cNvSpPr>
            <a:spLocks noGrp="1"/>
          </p:cNvSpPr>
          <p:nvPr/>
        </p:nvSpPr>
        <p:spPr>
          <a:xfrm>
            <a:off x="8439150" y="4819650"/>
            <a:ext cx="2971800" cy="590550"/>
          </a:xfrm>
          <a:prstGeom prst="roundRect">
            <a:avLst>
              <a:gd name="adj" fmla="val 12903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rend-3-quote">
            <a:extLst>
              <a:ext uri="{FF2B5EF4-FFF2-40B4-BE49-F238E27FC236}">
                <a16:creationId xmlns:a16="http://schemas.microsoft.com/office/drawing/2014/main" id="{C12E41E0-C161-4432-BEBC-28173802A140}"/>
              </a:ext>
            </a:extLst>
          </p:cNvPr>
          <p:cNvSpPr>
            <a:spLocks noGrp="1"/>
          </p:cNvSpPr>
          <p:nvPr/>
        </p:nvSpPr>
        <p:spPr>
          <a:xfrm>
            <a:off x="8610600" y="493395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The ransom is no longer the whole story.</a:t>
            </a:r>
          </a:p>
        </p:txBody>
      </p:sp>
      <p:sp>
        <p:nvSpPr>
          <p:cNvPr id="41" name="s5-band">
            <a:extLst>
              <a:ext uri="{FF2B5EF4-FFF2-40B4-BE49-F238E27FC236}">
                <a16:creationId xmlns:a16="http://schemas.microsoft.com/office/drawing/2014/main" id="{57668C47-7437-45D9-AA3F-F98F3966673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991850" cy="400050"/>
          </a:xfrm>
          <a:prstGeom prst="roundRect">
            <a:avLst>
              <a:gd name="adj" fmla="val 19048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5-band-text">
            <a:extLst>
              <a:ext uri="{FF2B5EF4-FFF2-40B4-BE49-F238E27FC236}">
                <a16:creationId xmlns:a16="http://schemas.microsoft.com/office/drawing/2014/main" id="{27F54101-442E-44A8-BF38-C586232D6DC4}"/>
              </a:ext>
            </a:extLst>
          </p:cNvPr>
          <p:cNvSpPr>
            <a:spLocks noGrp="1"/>
          </p:cNvSpPr>
          <p:nvPr/>
        </p:nvSpPr>
        <p:spPr>
          <a:xfrm>
            <a:off x="857250" y="61722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8A55"/>
                </a:solidFill>
              </a:defRPr>
            </a:pPr>
            <a:r>
              <a:rPr sz="1350" b="1">
                <a:solidFill>
                  <a:srgbClr val="1F8A55"/>
                </a:solidFill>
              </a:rPr>
              <a:t>The 2026 attacker exploits identity, invisibility and instability.</a:t>
            </a:r>
          </a:p>
        </p:txBody>
      </p:sp>
    </p:spTree>
    <p:extLst>
      <p:ext uri="{BB962C8B-B14F-4D97-AF65-F5344CB8AC3E}">
        <p14:creationId xmlns:p14="http://schemas.microsoft.com/office/powerpoint/2010/main" val="205564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6-top">
            <a:extLst>
              <a:ext uri="{FF2B5EF4-FFF2-40B4-BE49-F238E27FC236}">
                <a16:creationId xmlns:a16="http://schemas.microsoft.com/office/drawing/2014/main" id="{F9271832-6905-4EDE-AA9B-2DDB89638E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6-eyebrow">
            <a:extLst>
              <a:ext uri="{FF2B5EF4-FFF2-40B4-BE49-F238E27FC236}">
                <a16:creationId xmlns:a16="http://schemas.microsoft.com/office/drawing/2014/main" id="{8A9E6D7A-4EA1-431F-9910-A86842BC223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6</a:t>
            </a:r>
          </a:p>
        </p:txBody>
      </p:sp>
      <p:sp>
        <p:nvSpPr>
          <p:cNvPr id="3" name="s6-title">
            <a:extLst>
              <a:ext uri="{FF2B5EF4-FFF2-40B4-BE49-F238E27FC236}">
                <a16:creationId xmlns:a16="http://schemas.microsoft.com/office/drawing/2014/main" id="{73412929-0707-4842-BC09-FE85FA72C8A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Case Studies (1/2)</a:t>
            </a:r>
          </a:p>
        </p:txBody>
      </p:sp>
      <p:sp>
        <p:nvSpPr>
          <p:cNvPr id="4" name="s6-subtitle">
            <a:extLst>
              <a:ext uri="{FF2B5EF4-FFF2-40B4-BE49-F238E27FC236}">
                <a16:creationId xmlns:a16="http://schemas.microsoft.com/office/drawing/2014/main" id="{B7C00750-CB86-4C71-8350-45AC0370FF80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When the theory becomes headlines: late 2025 to early 2026</a:t>
            </a:r>
          </a:p>
        </p:txBody>
      </p:sp>
      <p:sp>
        <p:nvSpPr>
          <p:cNvPr id="5" name="timeline-line">
            <a:extLst>
              <a:ext uri="{FF2B5EF4-FFF2-40B4-BE49-F238E27FC236}">
                <a16:creationId xmlns:a16="http://schemas.microsoft.com/office/drawing/2014/main" id="{3445E286-54F4-4C88-866C-C16328A56C04}"/>
              </a:ext>
            </a:extLst>
          </p:cNvPr>
          <p:cNvSpPr>
            <a:spLocks noGrp="1"/>
          </p:cNvSpPr>
          <p:nvPr/>
        </p:nvSpPr>
        <p:spPr>
          <a:xfrm>
            <a:off x="2095500" y="1600200"/>
            <a:ext cx="8001000" cy="0"/>
          </a:xfrm>
          <a:prstGeom prst="line">
            <a:avLst/>
          </a:prstGeom>
          <a:ln w="19050">
            <a:solidFill>
              <a:srgbClr val="B7C8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imeline-0">
            <a:extLst>
              <a:ext uri="{FF2B5EF4-FFF2-40B4-BE49-F238E27FC236}">
                <a16:creationId xmlns:a16="http://schemas.microsoft.com/office/drawing/2014/main" id="{784062F7-D479-4A37-AE11-5C649CB6526D}"/>
              </a:ext>
            </a:extLst>
          </p:cNvPr>
          <p:cNvSpPr>
            <a:spLocks noGrp="1"/>
          </p:cNvSpPr>
          <p:nvPr/>
        </p:nvSpPr>
        <p:spPr>
          <a:xfrm>
            <a:off x="2209800" y="1524000"/>
            <a:ext cx="152400" cy="1524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imeline-label-0">
            <a:extLst>
              <a:ext uri="{FF2B5EF4-FFF2-40B4-BE49-F238E27FC236}">
                <a16:creationId xmlns:a16="http://schemas.microsoft.com/office/drawing/2014/main" id="{3F5C4D63-DE13-400A-A6F4-D3A4D8065B7E}"/>
              </a:ext>
            </a:extLst>
          </p:cNvPr>
          <p:cNvSpPr>
            <a:spLocks noGrp="1"/>
          </p:cNvSpPr>
          <p:nvPr/>
        </p:nvSpPr>
        <p:spPr>
          <a:xfrm>
            <a:off x="1847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F8A55"/>
                </a:solidFill>
              </a:defRPr>
            </a:pPr>
            <a:r>
              <a:rPr sz="900" b="1">
                <a:solidFill>
                  <a:srgbClr val="1F8A55"/>
                </a:solidFill>
              </a:rPr>
              <a:t>Nov 2025</a:t>
            </a:r>
          </a:p>
        </p:txBody>
      </p:sp>
      <p:sp>
        <p:nvSpPr>
          <p:cNvPr id="8" name="timeline-1">
            <a:extLst>
              <a:ext uri="{FF2B5EF4-FFF2-40B4-BE49-F238E27FC236}">
                <a16:creationId xmlns:a16="http://schemas.microsoft.com/office/drawing/2014/main" id="{49E19775-C0A6-44A9-92A7-5046F271D666}"/>
              </a:ext>
            </a:extLst>
          </p:cNvPr>
          <p:cNvSpPr>
            <a:spLocks noGrp="1"/>
          </p:cNvSpPr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imeline-label-1">
            <a:extLst>
              <a:ext uri="{FF2B5EF4-FFF2-40B4-BE49-F238E27FC236}">
                <a16:creationId xmlns:a16="http://schemas.microsoft.com/office/drawing/2014/main" id="{155965EB-AC30-4E87-A949-A9611BC97667}"/>
              </a:ext>
            </a:extLst>
          </p:cNvPr>
          <p:cNvSpPr>
            <a:spLocks noGrp="1"/>
          </p:cNvSpPr>
          <p:nvPr/>
        </p:nvSpPr>
        <p:spPr>
          <a:xfrm>
            <a:off x="3752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F8A55"/>
                </a:solidFill>
              </a:defRPr>
            </a:pPr>
            <a:r>
              <a:rPr sz="900" b="1">
                <a:solidFill>
                  <a:srgbClr val="1F8A55"/>
                </a:solidFill>
              </a:rPr>
              <a:t>Dec 2025</a:t>
            </a:r>
          </a:p>
        </p:txBody>
      </p:sp>
      <p:sp>
        <p:nvSpPr>
          <p:cNvPr id="10" name="timeline-2">
            <a:extLst>
              <a:ext uri="{FF2B5EF4-FFF2-40B4-BE49-F238E27FC236}">
                <a16:creationId xmlns:a16="http://schemas.microsoft.com/office/drawing/2014/main" id="{DEF1BC19-F91F-4A48-9591-CE02497C101F}"/>
              </a:ext>
            </a:extLst>
          </p:cNvPr>
          <p:cNvSpPr>
            <a:spLocks noGrp="1"/>
          </p:cNvSpPr>
          <p:nvPr/>
        </p:nvSpPr>
        <p:spPr>
          <a:xfrm>
            <a:off x="6019800" y="1524000"/>
            <a:ext cx="152400" cy="1524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imeline-label-2">
            <a:extLst>
              <a:ext uri="{FF2B5EF4-FFF2-40B4-BE49-F238E27FC236}">
                <a16:creationId xmlns:a16="http://schemas.microsoft.com/office/drawing/2014/main" id="{D580A3E6-A4E7-425F-821C-7C754208E106}"/>
              </a:ext>
            </a:extLst>
          </p:cNvPr>
          <p:cNvSpPr>
            <a:spLocks noGrp="1"/>
          </p:cNvSpPr>
          <p:nvPr/>
        </p:nvSpPr>
        <p:spPr>
          <a:xfrm>
            <a:off x="5657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F8A55"/>
                </a:solidFill>
              </a:defRPr>
            </a:pPr>
            <a:r>
              <a:rPr sz="900" b="1">
                <a:solidFill>
                  <a:srgbClr val="1F8A55"/>
                </a:solidFill>
              </a:rPr>
              <a:t>Jan 2026</a:t>
            </a:r>
          </a:p>
        </p:txBody>
      </p:sp>
      <p:sp>
        <p:nvSpPr>
          <p:cNvPr id="12" name="timeline-3">
            <a:extLst>
              <a:ext uri="{FF2B5EF4-FFF2-40B4-BE49-F238E27FC236}">
                <a16:creationId xmlns:a16="http://schemas.microsoft.com/office/drawing/2014/main" id="{E4D04A08-318B-4ED6-9E36-9EAAB83B97FA}"/>
              </a:ext>
            </a:extLst>
          </p:cNvPr>
          <p:cNvSpPr>
            <a:spLocks noGrp="1"/>
          </p:cNvSpPr>
          <p:nvPr/>
        </p:nvSpPr>
        <p:spPr>
          <a:xfrm>
            <a:off x="7924800" y="1524000"/>
            <a:ext cx="152400" cy="152400"/>
          </a:xfrm>
          <a:prstGeom prst="ellipse">
            <a:avLst/>
          </a:prstGeom>
          <a:solidFill>
            <a:srgbClr val="DDE7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imeline-label-3">
            <a:extLst>
              <a:ext uri="{FF2B5EF4-FFF2-40B4-BE49-F238E27FC236}">
                <a16:creationId xmlns:a16="http://schemas.microsoft.com/office/drawing/2014/main" id="{AB44EE2C-ECFB-4E73-8997-036DDEB931A8}"/>
              </a:ext>
            </a:extLst>
          </p:cNvPr>
          <p:cNvSpPr>
            <a:spLocks noGrp="1"/>
          </p:cNvSpPr>
          <p:nvPr/>
        </p:nvSpPr>
        <p:spPr>
          <a:xfrm>
            <a:off x="7562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Feb 2026</a:t>
            </a:r>
          </a:p>
        </p:txBody>
      </p:sp>
      <p:sp>
        <p:nvSpPr>
          <p:cNvPr id="14" name="timeline-4">
            <a:extLst>
              <a:ext uri="{FF2B5EF4-FFF2-40B4-BE49-F238E27FC236}">
                <a16:creationId xmlns:a16="http://schemas.microsoft.com/office/drawing/2014/main" id="{CD7CC1A2-7ADE-4B6C-B2E2-E0DFD7D32FC1}"/>
              </a:ext>
            </a:extLst>
          </p:cNvPr>
          <p:cNvSpPr>
            <a:spLocks noGrp="1"/>
          </p:cNvSpPr>
          <p:nvPr/>
        </p:nvSpPr>
        <p:spPr>
          <a:xfrm>
            <a:off x="9829800" y="1524000"/>
            <a:ext cx="152400" cy="152400"/>
          </a:xfrm>
          <a:prstGeom prst="ellipse">
            <a:avLst/>
          </a:prstGeom>
          <a:solidFill>
            <a:srgbClr val="DDE7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imeline-label-4">
            <a:extLst>
              <a:ext uri="{FF2B5EF4-FFF2-40B4-BE49-F238E27FC236}">
                <a16:creationId xmlns:a16="http://schemas.microsoft.com/office/drawing/2014/main" id="{0515C20F-3E58-4BD8-AF2A-AC722AD59298}"/>
              </a:ext>
            </a:extLst>
          </p:cNvPr>
          <p:cNvSpPr>
            <a:spLocks noGrp="1"/>
          </p:cNvSpPr>
          <p:nvPr/>
        </p:nvSpPr>
        <p:spPr>
          <a:xfrm>
            <a:off x="9467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Mar 2026</a:t>
            </a:r>
          </a:p>
        </p:txBody>
      </p:sp>
      <p:sp>
        <p:nvSpPr>
          <p:cNvPr id="16" name="lazarus-card">
            <a:extLst>
              <a:ext uri="{FF2B5EF4-FFF2-40B4-BE49-F238E27FC236}">
                <a16:creationId xmlns:a16="http://schemas.microsoft.com/office/drawing/2014/main" id="{57E10AD7-4CBA-4EC9-A47D-57C16666F07E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lazarus-accent">
            <a:extLst>
              <a:ext uri="{FF2B5EF4-FFF2-40B4-BE49-F238E27FC236}">
                <a16:creationId xmlns:a16="http://schemas.microsoft.com/office/drawing/2014/main" id="{9D3B51D8-8354-42D1-83C2-F682BE909881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76200" cy="40957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lazarus-flag-stripe-0">
            <a:extLst>
              <a:ext uri="{FF2B5EF4-FFF2-40B4-BE49-F238E27FC236}">
                <a16:creationId xmlns:a16="http://schemas.microsoft.com/office/drawing/2014/main" id="{4D674648-A1AE-4BBA-BBDE-6CDCDF5CFC50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514350" cy="69533"/>
          </a:xfrm>
          <a:prstGeom prst="rect">
            <a:avLst/>
          </a:prstGeom>
          <a:solidFill>
            <a:srgbClr val="024FA2"/>
          </a:solidFill>
          <a:ln w="0">
            <a:solidFill>
              <a:srgbClr val="024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lazarus-flag-stripe-1">
            <a:extLst>
              <a:ext uri="{FF2B5EF4-FFF2-40B4-BE49-F238E27FC236}">
                <a16:creationId xmlns:a16="http://schemas.microsoft.com/office/drawing/2014/main" id="{14E7A8E4-2222-42F5-B5A1-0E7AF54A1D20}"/>
              </a:ext>
            </a:extLst>
          </p:cNvPr>
          <p:cNvSpPr>
            <a:spLocks noGrp="1"/>
          </p:cNvSpPr>
          <p:nvPr/>
        </p:nvSpPr>
        <p:spPr>
          <a:xfrm>
            <a:off x="800100" y="1988820"/>
            <a:ext cx="514350" cy="6953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lazarus-flag-stripe-2">
            <a:extLst>
              <a:ext uri="{FF2B5EF4-FFF2-40B4-BE49-F238E27FC236}">
                <a16:creationId xmlns:a16="http://schemas.microsoft.com/office/drawing/2014/main" id="{CDD64EAB-E875-4C7E-BB69-44DCC2FC0AD6}"/>
              </a:ext>
            </a:extLst>
          </p:cNvPr>
          <p:cNvSpPr>
            <a:spLocks noGrp="1"/>
          </p:cNvSpPr>
          <p:nvPr/>
        </p:nvSpPr>
        <p:spPr>
          <a:xfrm>
            <a:off x="800100" y="2053590"/>
            <a:ext cx="514350" cy="69533"/>
          </a:xfrm>
          <a:prstGeom prst="rect">
            <a:avLst/>
          </a:prstGeom>
          <a:solidFill>
            <a:srgbClr val="ED1C27"/>
          </a:solidFill>
          <a:ln w="0">
            <a:solidFill>
              <a:srgbClr val="ED1C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lazarus-flag-stripe-3">
            <a:extLst>
              <a:ext uri="{FF2B5EF4-FFF2-40B4-BE49-F238E27FC236}">
                <a16:creationId xmlns:a16="http://schemas.microsoft.com/office/drawing/2014/main" id="{6B8B0775-4166-4A86-B2B6-8E14700ED178}"/>
              </a:ext>
            </a:extLst>
          </p:cNvPr>
          <p:cNvSpPr>
            <a:spLocks noGrp="1"/>
          </p:cNvSpPr>
          <p:nvPr/>
        </p:nvSpPr>
        <p:spPr>
          <a:xfrm>
            <a:off x="800100" y="2118360"/>
            <a:ext cx="514350" cy="6953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lazarus-flag-stripe-4">
            <a:extLst>
              <a:ext uri="{FF2B5EF4-FFF2-40B4-BE49-F238E27FC236}">
                <a16:creationId xmlns:a16="http://schemas.microsoft.com/office/drawing/2014/main" id="{603068FF-EA34-4F18-A169-18A9FCD33289}"/>
              </a:ext>
            </a:extLst>
          </p:cNvPr>
          <p:cNvSpPr>
            <a:spLocks noGrp="1"/>
          </p:cNvSpPr>
          <p:nvPr/>
        </p:nvSpPr>
        <p:spPr>
          <a:xfrm>
            <a:off x="800100" y="2183130"/>
            <a:ext cx="514350" cy="69533"/>
          </a:xfrm>
          <a:prstGeom prst="rect">
            <a:avLst/>
          </a:prstGeom>
          <a:solidFill>
            <a:srgbClr val="024FA2"/>
          </a:solidFill>
          <a:ln w="0">
            <a:solidFill>
              <a:srgbClr val="024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lazarus-flag-border">
            <a:extLst>
              <a:ext uri="{FF2B5EF4-FFF2-40B4-BE49-F238E27FC236}">
                <a16:creationId xmlns:a16="http://schemas.microsoft.com/office/drawing/2014/main" id="{5BCD9F9D-2D73-42AA-9835-EC3E82AA0162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514350" cy="3238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lazarus-title">
            <a:extLst>
              <a:ext uri="{FF2B5EF4-FFF2-40B4-BE49-F238E27FC236}">
                <a16:creationId xmlns:a16="http://schemas.microsoft.com/office/drawing/2014/main" id="{614BB5D4-21C5-42FF-A342-FA5EE37A8122}"/>
              </a:ext>
            </a:extLst>
          </p:cNvPr>
          <p:cNvSpPr>
            <a:spLocks noGrp="1"/>
          </p:cNvSpPr>
          <p:nvPr/>
        </p:nvSpPr>
        <p:spPr>
          <a:xfrm>
            <a:off x="1466850" y="1885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LAZARUS</a:t>
            </a:r>
          </a:p>
        </p:txBody>
      </p:sp>
      <p:sp>
        <p:nvSpPr>
          <p:cNvPr id="25" name="lazarus-subtitle">
            <a:extLst>
              <a:ext uri="{FF2B5EF4-FFF2-40B4-BE49-F238E27FC236}">
                <a16:creationId xmlns:a16="http://schemas.microsoft.com/office/drawing/2014/main" id="{FD6EA595-56F9-4782-9A80-95F1B42FC4C2}"/>
              </a:ext>
            </a:extLst>
          </p:cNvPr>
          <p:cNvSpPr>
            <a:spLocks noGrp="1"/>
          </p:cNvSpPr>
          <p:nvPr/>
        </p:nvSpPr>
        <p:spPr>
          <a:xfrm>
            <a:off x="1466850" y="217170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64550"/>
                </a:solidFill>
              </a:defRPr>
            </a:pPr>
            <a:r>
              <a:rPr sz="1125" b="1">
                <a:solidFill>
                  <a:srgbClr val="D64550"/>
                </a:solidFill>
              </a:rPr>
              <a:t>Dual-purpose campaign: cash + IP</a:t>
            </a:r>
          </a:p>
        </p:txBody>
      </p:sp>
      <p:sp>
        <p:nvSpPr>
          <p:cNvPr id="26" name="lazarus-metric">
            <a:extLst>
              <a:ext uri="{FF2B5EF4-FFF2-40B4-BE49-F238E27FC236}">
                <a16:creationId xmlns:a16="http://schemas.microsoft.com/office/drawing/2014/main" id="{1E9E1210-59D4-434E-9358-558ED5AD81DE}"/>
              </a:ext>
            </a:extLst>
          </p:cNvPr>
          <p:cNvSpPr>
            <a:spLocks noGrp="1"/>
          </p:cNvSpPr>
          <p:nvPr/>
        </p:nvSpPr>
        <p:spPr>
          <a:xfrm>
            <a:off x="4286250" y="1885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250" b="1">
                <a:solidFill>
                  <a:srgbClr val="D64550"/>
                </a:solidFill>
              </a:defRPr>
            </a:pPr>
            <a:r>
              <a:rPr sz="2250" b="1">
                <a:solidFill>
                  <a:srgbClr val="D64550"/>
                </a:solidFill>
              </a:rPr>
              <a:t>$30.4M</a:t>
            </a:r>
          </a:p>
        </p:txBody>
      </p:sp>
      <p:sp>
        <p:nvSpPr>
          <p:cNvPr id="27" name="lazarus-metric-label">
            <a:extLst>
              <a:ext uri="{FF2B5EF4-FFF2-40B4-BE49-F238E27FC236}">
                <a16:creationId xmlns:a16="http://schemas.microsoft.com/office/drawing/2014/main" id="{5B304F93-06E4-4B06-936F-A3A6C09EAFB5}"/>
              </a:ext>
            </a:extLst>
          </p:cNvPr>
          <p:cNvSpPr>
            <a:spLocks noGrp="1"/>
          </p:cNvSpPr>
          <p:nvPr/>
        </p:nvSpPr>
        <p:spPr>
          <a:xfrm>
            <a:off x="4248150" y="2286000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Upbit theft</a:t>
            </a:r>
          </a:p>
        </p:txBody>
      </p:sp>
      <p:sp>
        <p:nvSpPr>
          <p:cNvPr id="28" name="lazarus-dot-0">
            <a:extLst>
              <a:ext uri="{FF2B5EF4-FFF2-40B4-BE49-F238E27FC236}">
                <a16:creationId xmlns:a16="http://schemas.microsoft.com/office/drawing/2014/main" id="{8292C2A3-64DB-4B51-9C33-85996E431B0A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lazarus-p-0">
            <a:extLst>
              <a:ext uri="{FF2B5EF4-FFF2-40B4-BE49-F238E27FC236}">
                <a16:creationId xmlns:a16="http://schemas.microsoft.com/office/drawing/2014/main" id="{D800F6F6-8BA3-4B5E-BD2B-FEFAE1BBA26F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Cryptocurrency theft linked to direct regime funding.</a:t>
            </a:r>
          </a:p>
        </p:txBody>
      </p:sp>
      <p:sp>
        <p:nvSpPr>
          <p:cNvPr id="30" name="lazarus-dot-1">
            <a:extLst>
              <a:ext uri="{FF2B5EF4-FFF2-40B4-BE49-F238E27FC236}">
                <a16:creationId xmlns:a16="http://schemas.microsoft.com/office/drawing/2014/main" id="{1CC25DB6-F328-4ABB-8AFD-7430F8C9A1FD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lazarus-p-1">
            <a:extLst>
              <a:ext uri="{FF2B5EF4-FFF2-40B4-BE49-F238E27FC236}">
                <a16:creationId xmlns:a16="http://schemas.microsoft.com/office/drawing/2014/main" id="{EEDEA537-9986-4659-A131-83A0D7059B0C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Defense-sector IP theft shows the espionage layer.</a:t>
            </a:r>
          </a:p>
        </p:txBody>
      </p:sp>
      <p:sp>
        <p:nvSpPr>
          <p:cNvPr id="32" name="lazarus-dot-2">
            <a:extLst>
              <a:ext uri="{FF2B5EF4-FFF2-40B4-BE49-F238E27FC236}">
                <a16:creationId xmlns:a16="http://schemas.microsoft.com/office/drawing/2014/main" id="{5212EB2A-324F-4FE2-A00B-3C7ECC7FF985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lazarus-p-2">
            <a:extLst>
              <a:ext uri="{FF2B5EF4-FFF2-40B4-BE49-F238E27FC236}">
                <a16:creationId xmlns:a16="http://schemas.microsoft.com/office/drawing/2014/main" id="{71A9089A-1465-4E6F-911F-6050B39C2A4C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One campaign spans criminal theft and state intelligence.</a:t>
            </a:r>
          </a:p>
        </p:txBody>
      </p:sp>
      <p:sp>
        <p:nvSpPr>
          <p:cNvPr id="34" name="lazarus-dot-3">
            <a:extLst>
              <a:ext uri="{FF2B5EF4-FFF2-40B4-BE49-F238E27FC236}">
                <a16:creationId xmlns:a16="http://schemas.microsoft.com/office/drawing/2014/main" id="{C937BA99-3E96-4B69-BE92-6C1CAC86A115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lazarus-p-3">
            <a:extLst>
              <a:ext uri="{FF2B5EF4-FFF2-40B4-BE49-F238E27FC236}">
                <a16:creationId xmlns:a16="http://schemas.microsoft.com/office/drawing/2014/main" id="{7A18A07E-CCA0-4DD6-BDE9-39DC91602D33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The model: state cybercrime as strategic financing.</a:t>
            </a:r>
          </a:p>
        </p:txBody>
      </p:sp>
      <p:sp>
        <p:nvSpPr>
          <p:cNvPr id="36" name="russia-proxy-card">
            <a:extLst>
              <a:ext uri="{FF2B5EF4-FFF2-40B4-BE49-F238E27FC236}">
                <a16:creationId xmlns:a16="http://schemas.microsoft.com/office/drawing/2014/main" id="{133FFC7B-5F35-49BA-85F2-061F5D0AB4BF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russia-proxy-accent">
            <a:extLst>
              <a:ext uri="{FF2B5EF4-FFF2-40B4-BE49-F238E27FC236}">
                <a16:creationId xmlns:a16="http://schemas.microsoft.com/office/drawing/2014/main" id="{8D73B2D6-C3A5-47E8-A38D-DC56ABB9D5B8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76200" cy="4095750"/>
          </a:xfrm>
          <a:prstGeom prst="rect">
            <a:avLst/>
          </a:prstGeom>
          <a:solidFill>
            <a:srgbClr val="3E63DD"/>
          </a:solidFill>
          <a:ln w="0">
            <a:solidFill>
              <a:srgbClr val="3E63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ussia-proxy-flag-stripe-0">
            <a:extLst>
              <a:ext uri="{FF2B5EF4-FFF2-40B4-BE49-F238E27FC236}">
                <a16:creationId xmlns:a16="http://schemas.microsoft.com/office/drawing/2014/main" id="{9BEF3C78-C846-4FD7-A01E-8767C5B7DEC8}"/>
              </a:ext>
            </a:extLst>
          </p:cNvPr>
          <p:cNvSpPr>
            <a:spLocks noGrp="1"/>
          </p:cNvSpPr>
          <p:nvPr/>
        </p:nvSpPr>
        <p:spPr>
          <a:xfrm>
            <a:off x="6648450" y="1924050"/>
            <a:ext cx="514350" cy="11271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russia-proxy-flag-stripe-1">
            <a:extLst>
              <a:ext uri="{FF2B5EF4-FFF2-40B4-BE49-F238E27FC236}">
                <a16:creationId xmlns:a16="http://schemas.microsoft.com/office/drawing/2014/main" id="{C98B3034-7A67-4134-8117-2BFA8E874481}"/>
              </a:ext>
            </a:extLst>
          </p:cNvPr>
          <p:cNvSpPr>
            <a:spLocks noGrp="1"/>
          </p:cNvSpPr>
          <p:nvPr/>
        </p:nvSpPr>
        <p:spPr>
          <a:xfrm>
            <a:off x="6648450" y="2032000"/>
            <a:ext cx="514350" cy="112713"/>
          </a:xfrm>
          <a:prstGeom prst="rect">
            <a:avLst/>
          </a:prstGeom>
          <a:solidFill>
            <a:srgbClr val="1C57A7"/>
          </a:solidFill>
          <a:ln w="0">
            <a:solidFill>
              <a:srgbClr val="1C5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ussia-proxy-flag-stripe-2">
            <a:extLst>
              <a:ext uri="{FF2B5EF4-FFF2-40B4-BE49-F238E27FC236}">
                <a16:creationId xmlns:a16="http://schemas.microsoft.com/office/drawing/2014/main" id="{B89F9795-B7EF-4439-A2B2-27980F426345}"/>
              </a:ext>
            </a:extLst>
          </p:cNvPr>
          <p:cNvSpPr>
            <a:spLocks noGrp="1"/>
          </p:cNvSpPr>
          <p:nvPr/>
        </p:nvSpPr>
        <p:spPr>
          <a:xfrm>
            <a:off x="6648450" y="2139950"/>
            <a:ext cx="514350" cy="112713"/>
          </a:xfrm>
          <a:prstGeom prst="rect">
            <a:avLst/>
          </a:prstGeom>
          <a:solidFill>
            <a:srgbClr val="D52B1E"/>
          </a:solidFill>
          <a:ln w="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ussia-proxy-flag-border">
            <a:extLst>
              <a:ext uri="{FF2B5EF4-FFF2-40B4-BE49-F238E27FC236}">
                <a16:creationId xmlns:a16="http://schemas.microsoft.com/office/drawing/2014/main" id="{6F92C32C-3E95-4036-8307-2C30F427D0EA}"/>
              </a:ext>
            </a:extLst>
          </p:cNvPr>
          <p:cNvSpPr>
            <a:spLocks noGrp="1"/>
          </p:cNvSpPr>
          <p:nvPr/>
        </p:nvSpPr>
        <p:spPr>
          <a:xfrm>
            <a:off x="6648450" y="1924050"/>
            <a:ext cx="514350" cy="3238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ussia-proxy-title">
            <a:extLst>
              <a:ext uri="{FF2B5EF4-FFF2-40B4-BE49-F238E27FC236}">
                <a16:creationId xmlns:a16="http://schemas.microsoft.com/office/drawing/2014/main" id="{3894B232-4CA5-4048-8AB9-C0438A58B32F}"/>
              </a:ext>
            </a:extLst>
          </p:cNvPr>
          <p:cNvSpPr>
            <a:spLocks noGrp="1"/>
          </p:cNvSpPr>
          <p:nvPr/>
        </p:nvSpPr>
        <p:spPr>
          <a:xfrm>
            <a:off x="7315200" y="1885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RUSSIAN PROXIES</a:t>
            </a:r>
          </a:p>
        </p:txBody>
      </p:sp>
      <p:sp>
        <p:nvSpPr>
          <p:cNvPr id="43" name="russia-proxy-subtitle">
            <a:extLst>
              <a:ext uri="{FF2B5EF4-FFF2-40B4-BE49-F238E27FC236}">
                <a16:creationId xmlns:a16="http://schemas.microsoft.com/office/drawing/2014/main" id="{D86D6BE9-2503-4E07-AF3D-7F5CF324BB3B}"/>
              </a:ext>
            </a:extLst>
          </p:cNvPr>
          <p:cNvSpPr>
            <a:spLocks noGrp="1"/>
          </p:cNvSpPr>
          <p:nvPr/>
        </p:nvSpPr>
        <p:spPr>
          <a:xfrm>
            <a:off x="7315200" y="217170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E63DD"/>
                </a:solidFill>
              </a:defRPr>
            </a:pPr>
            <a:r>
              <a:rPr sz="1125" b="1">
                <a:solidFill>
                  <a:srgbClr val="3E63DD"/>
                </a:solidFill>
              </a:rPr>
              <a:t>Grey-zone hybrid warfare</a:t>
            </a:r>
          </a:p>
        </p:txBody>
      </p:sp>
      <p:sp>
        <p:nvSpPr>
          <p:cNvPr id="44" name="russia-proxy-metric">
            <a:extLst>
              <a:ext uri="{FF2B5EF4-FFF2-40B4-BE49-F238E27FC236}">
                <a16:creationId xmlns:a16="http://schemas.microsoft.com/office/drawing/2014/main" id="{900DBCA1-94DC-4A47-9BFC-90DD7CE3D56D}"/>
              </a:ext>
            </a:extLst>
          </p:cNvPr>
          <p:cNvSpPr>
            <a:spLocks noGrp="1"/>
          </p:cNvSpPr>
          <p:nvPr/>
        </p:nvSpPr>
        <p:spPr>
          <a:xfrm>
            <a:off x="10134600" y="1885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250" b="1">
                <a:solidFill>
                  <a:srgbClr val="3E63DD"/>
                </a:solidFill>
              </a:defRPr>
            </a:pPr>
            <a:r>
              <a:rPr sz="2250" b="1">
                <a:solidFill>
                  <a:srgbClr val="3E63DD"/>
                </a:solidFill>
              </a:rPr>
              <a:t>~30</a:t>
            </a:r>
          </a:p>
        </p:txBody>
      </p:sp>
      <p:sp>
        <p:nvSpPr>
          <p:cNvPr id="45" name="russia-proxy-metric-label">
            <a:extLst>
              <a:ext uri="{FF2B5EF4-FFF2-40B4-BE49-F238E27FC236}">
                <a16:creationId xmlns:a16="http://schemas.microsoft.com/office/drawing/2014/main" id="{4738466E-5572-459E-AC07-EAC761E0A12D}"/>
              </a:ext>
            </a:extLst>
          </p:cNvPr>
          <p:cNvSpPr>
            <a:spLocks noGrp="1"/>
          </p:cNvSpPr>
          <p:nvPr/>
        </p:nvSpPr>
        <p:spPr>
          <a:xfrm>
            <a:off x="10096500" y="2286000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Poland grid sites</a:t>
            </a:r>
          </a:p>
        </p:txBody>
      </p:sp>
      <p:sp>
        <p:nvSpPr>
          <p:cNvPr id="46" name="russia-proxy-dot-0">
            <a:extLst>
              <a:ext uri="{FF2B5EF4-FFF2-40B4-BE49-F238E27FC236}">
                <a16:creationId xmlns:a16="http://schemas.microsoft.com/office/drawing/2014/main" id="{475246E9-3616-443C-9C12-CD5C61010F38}"/>
              </a:ext>
            </a:extLst>
          </p:cNvPr>
          <p:cNvSpPr>
            <a:spLocks noGrp="1"/>
          </p:cNvSpPr>
          <p:nvPr/>
        </p:nvSpPr>
        <p:spPr>
          <a:xfrm>
            <a:off x="6724650" y="2800350"/>
            <a:ext cx="95250" cy="95250"/>
          </a:xfrm>
          <a:prstGeom prst="ellipse">
            <a:avLst/>
          </a:prstGeom>
          <a:solidFill>
            <a:srgbClr val="3E63D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russia-proxy-p-0">
            <a:extLst>
              <a:ext uri="{FF2B5EF4-FFF2-40B4-BE49-F238E27FC236}">
                <a16:creationId xmlns:a16="http://schemas.microsoft.com/office/drawing/2014/main" id="{B18A601E-D714-4A13-B769-741B7438D904}"/>
              </a:ext>
            </a:extLst>
          </p:cNvPr>
          <p:cNvSpPr>
            <a:spLocks noGrp="1"/>
          </p:cNvSpPr>
          <p:nvPr/>
        </p:nvSpPr>
        <p:spPr>
          <a:xfrm>
            <a:off x="6915150" y="27241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Energy and OT disruption aligned with war logistics.</a:t>
            </a:r>
          </a:p>
        </p:txBody>
      </p:sp>
      <p:sp>
        <p:nvSpPr>
          <p:cNvPr id="48" name="russia-proxy-dot-1">
            <a:extLst>
              <a:ext uri="{FF2B5EF4-FFF2-40B4-BE49-F238E27FC236}">
                <a16:creationId xmlns:a16="http://schemas.microsoft.com/office/drawing/2014/main" id="{CD58D44A-0372-4B27-97C2-DF5AA6C1E5AF}"/>
              </a:ext>
            </a:extLst>
          </p:cNvPr>
          <p:cNvSpPr>
            <a:spLocks noGrp="1"/>
          </p:cNvSpPr>
          <p:nvPr/>
        </p:nvSpPr>
        <p:spPr>
          <a:xfrm>
            <a:off x="6724650" y="3333750"/>
            <a:ext cx="95250" cy="95250"/>
          </a:xfrm>
          <a:prstGeom prst="ellipse">
            <a:avLst/>
          </a:prstGeom>
          <a:solidFill>
            <a:srgbClr val="3E63D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russia-proxy-p-1">
            <a:extLst>
              <a:ext uri="{FF2B5EF4-FFF2-40B4-BE49-F238E27FC236}">
                <a16:creationId xmlns:a16="http://schemas.microsoft.com/office/drawing/2014/main" id="{141EB91A-2B22-4745-A0D9-1FD4F6B71472}"/>
              </a:ext>
            </a:extLst>
          </p:cNvPr>
          <p:cNvSpPr>
            <a:spLocks noGrp="1"/>
          </p:cNvSpPr>
          <p:nvPr/>
        </p:nvSpPr>
        <p:spPr>
          <a:xfrm>
            <a:off x="6915150" y="32575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Proxy branding muddies the state role and attribution.</a:t>
            </a:r>
          </a:p>
        </p:txBody>
      </p:sp>
      <p:sp>
        <p:nvSpPr>
          <p:cNvPr id="50" name="russia-proxy-dot-2">
            <a:extLst>
              <a:ext uri="{FF2B5EF4-FFF2-40B4-BE49-F238E27FC236}">
                <a16:creationId xmlns:a16="http://schemas.microsoft.com/office/drawing/2014/main" id="{98D09FE1-3D55-4D4A-AD2A-572E67A36804}"/>
              </a:ext>
            </a:extLst>
          </p:cNvPr>
          <p:cNvSpPr>
            <a:spLocks noGrp="1"/>
          </p:cNvSpPr>
          <p:nvPr/>
        </p:nvSpPr>
        <p:spPr>
          <a:xfrm>
            <a:off x="6724650" y="3867150"/>
            <a:ext cx="95250" cy="95250"/>
          </a:xfrm>
          <a:prstGeom prst="ellipse">
            <a:avLst/>
          </a:prstGeom>
          <a:solidFill>
            <a:srgbClr val="3E63D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russia-proxy-p-2">
            <a:extLst>
              <a:ext uri="{FF2B5EF4-FFF2-40B4-BE49-F238E27FC236}">
                <a16:creationId xmlns:a16="http://schemas.microsoft.com/office/drawing/2014/main" id="{AE7C127C-763F-4850-99B5-32251FCEEE74}"/>
              </a:ext>
            </a:extLst>
          </p:cNvPr>
          <p:cNvSpPr>
            <a:spLocks noGrp="1"/>
          </p:cNvSpPr>
          <p:nvPr/>
        </p:nvSpPr>
        <p:spPr>
          <a:xfrm>
            <a:off x="6915150" y="37909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Operational degradation can matter even without blackouts.</a:t>
            </a:r>
          </a:p>
        </p:txBody>
      </p:sp>
      <p:sp>
        <p:nvSpPr>
          <p:cNvPr id="52" name="russia-proxy-dot-3">
            <a:extLst>
              <a:ext uri="{FF2B5EF4-FFF2-40B4-BE49-F238E27FC236}">
                <a16:creationId xmlns:a16="http://schemas.microsoft.com/office/drawing/2014/main" id="{979EEAB8-E9C8-4ED7-BF60-079475E20761}"/>
              </a:ext>
            </a:extLst>
          </p:cNvPr>
          <p:cNvSpPr>
            <a:spLocks noGrp="1"/>
          </p:cNvSpPr>
          <p:nvPr/>
        </p:nvSpPr>
        <p:spPr>
          <a:xfrm>
            <a:off x="6724650" y="4400550"/>
            <a:ext cx="95250" cy="95250"/>
          </a:xfrm>
          <a:prstGeom prst="ellipse">
            <a:avLst/>
          </a:prstGeom>
          <a:solidFill>
            <a:srgbClr val="3E63D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russia-proxy-p-3">
            <a:extLst>
              <a:ext uri="{FF2B5EF4-FFF2-40B4-BE49-F238E27FC236}">
                <a16:creationId xmlns:a16="http://schemas.microsoft.com/office/drawing/2014/main" id="{101C2AAA-C52D-40C6-8AE3-630FC55C6B60}"/>
              </a:ext>
            </a:extLst>
          </p:cNvPr>
          <p:cNvSpPr>
            <a:spLocks noGrp="1"/>
          </p:cNvSpPr>
          <p:nvPr/>
        </p:nvSpPr>
        <p:spPr>
          <a:xfrm>
            <a:off x="6915150" y="43243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The model: deniable execution serving strategic pressure.</a:t>
            </a:r>
          </a:p>
        </p:txBody>
      </p:sp>
      <p:sp>
        <p:nvSpPr>
          <p:cNvPr id="54" name="s6-band">
            <a:extLst>
              <a:ext uri="{FF2B5EF4-FFF2-40B4-BE49-F238E27FC236}">
                <a16:creationId xmlns:a16="http://schemas.microsoft.com/office/drawing/2014/main" id="{C0FB53D1-E67A-4922-9996-068A5B14B64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991850" cy="400050"/>
          </a:xfrm>
          <a:prstGeom prst="roundRect">
            <a:avLst>
              <a:gd name="adj" fmla="val 19048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6-band-text">
            <a:extLst>
              <a:ext uri="{FF2B5EF4-FFF2-40B4-BE49-F238E27FC236}">
                <a16:creationId xmlns:a16="http://schemas.microsoft.com/office/drawing/2014/main" id="{87371836-2A82-4F7E-B23D-548FAD9EFD82}"/>
              </a:ext>
            </a:extLst>
          </p:cNvPr>
          <p:cNvSpPr>
            <a:spLocks noGrp="1"/>
          </p:cNvSpPr>
          <p:nvPr/>
        </p:nvSpPr>
        <p:spPr>
          <a:xfrm>
            <a:off x="838200" y="6172200"/>
            <a:ext cx="1042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8A55"/>
                </a:solidFill>
              </a:defRPr>
            </a:pPr>
            <a:r>
              <a:rPr sz="1275" b="1">
                <a:solidFill>
                  <a:srgbClr val="1F8A55"/>
                </a:solidFill>
              </a:rPr>
              <a:t>Money and sabotage look different on the surface; both show state intent using deniable cyber execution.</a:t>
            </a:r>
          </a:p>
        </p:txBody>
      </p:sp>
    </p:spTree>
    <p:extLst>
      <p:ext uri="{BB962C8B-B14F-4D97-AF65-F5344CB8AC3E}">
        <p14:creationId xmlns:p14="http://schemas.microsoft.com/office/powerpoint/2010/main" val="194100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7-top">
            <a:extLst>
              <a:ext uri="{FF2B5EF4-FFF2-40B4-BE49-F238E27FC236}">
                <a16:creationId xmlns:a16="http://schemas.microsoft.com/office/drawing/2014/main" id="{C4DA47DF-E63D-43EF-A2B1-22C40BEEFA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7-eyebrow">
            <a:extLst>
              <a:ext uri="{FF2B5EF4-FFF2-40B4-BE49-F238E27FC236}">
                <a16:creationId xmlns:a16="http://schemas.microsoft.com/office/drawing/2014/main" id="{E49E9D17-E1FF-4B57-94F4-510AD282830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7</a:t>
            </a:r>
          </a:p>
        </p:txBody>
      </p:sp>
      <p:sp>
        <p:nvSpPr>
          <p:cNvPr id="3" name="s7-title">
            <a:extLst>
              <a:ext uri="{FF2B5EF4-FFF2-40B4-BE49-F238E27FC236}">
                <a16:creationId xmlns:a16="http://schemas.microsoft.com/office/drawing/2014/main" id="{CA662BA6-D95D-48F7-ABFB-A00C589B20A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Case Studies (2/2)</a:t>
            </a:r>
          </a:p>
        </p:txBody>
      </p:sp>
      <p:sp>
        <p:nvSpPr>
          <p:cNvPr id="4" name="s7-subtitle">
            <a:extLst>
              <a:ext uri="{FF2B5EF4-FFF2-40B4-BE49-F238E27FC236}">
                <a16:creationId xmlns:a16="http://schemas.microsoft.com/office/drawing/2014/main" id="{5A0BB5EC-4482-4295-A1A5-1FE7B6713728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When the theory becomes headlines: February to March 2026</a:t>
            </a:r>
          </a:p>
        </p:txBody>
      </p:sp>
      <p:sp>
        <p:nvSpPr>
          <p:cNvPr id="5" name="timeline-line">
            <a:extLst>
              <a:ext uri="{FF2B5EF4-FFF2-40B4-BE49-F238E27FC236}">
                <a16:creationId xmlns:a16="http://schemas.microsoft.com/office/drawing/2014/main" id="{2CA43A05-DF49-4A74-97EA-11AC57CB46C2}"/>
              </a:ext>
            </a:extLst>
          </p:cNvPr>
          <p:cNvSpPr>
            <a:spLocks noGrp="1"/>
          </p:cNvSpPr>
          <p:nvPr/>
        </p:nvSpPr>
        <p:spPr>
          <a:xfrm>
            <a:off x="2095500" y="1600200"/>
            <a:ext cx="8001000" cy="0"/>
          </a:xfrm>
          <a:prstGeom prst="line">
            <a:avLst/>
          </a:prstGeom>
          <a:ln w="19050">
            <a:solidFill>
              <a:srgbClr val="B7C8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imeline-0">
            <a:extLst>
              <a:ext uri="{FF2B5EF4-FFF2-40B4-BE49-F238E27FC236}">
                <a16:creationId xmlns:a16="http://schemas.microsoft.com/office/drawing/2014/main" id="{A7767602-9C98-4592-B170-99530ED9444B}"/>
              </a:ext>
            </a:extLst>
          </p:cNvPr>
          <p:cNvSpPr>
            <a:spLocks noGrp="1"/>
          </p:cNvSpPr>
          <p:nvPr/>
        </p:nvSpPr>
        <p:spPr>
          <a:xfrm>
            <a:off x="2209800" y="1524000"/>
            <a:ext cx="152400" cy="152400"/>
          </a:xfrm>
          <a:prstGeom prst="ellipse">
            <a:avLst/>
          </a:prstGeom>
          <a:solidFill>
            <a:srgbClr val="DDE7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imeline-label-0">
            <a:extLst>
              <a:ext uri="{FF2B5EF4-FFF2-40B4-BE49-F238E27FC236}">
                <a16:creationId xmlns:a16="http://schemas.microsoft.com/office/drawing/2014/main" id="{B0B460CD-7716-4181-9610-FD52F40F5F8C}"/>
              </a:ext>
            </a:extLst>
          </p:cNvPr>
          <p:cNvSpPr>
            <a:spLocks noGrp="1"/>
          </p:cNvSpPr>
          <p:nvPr/>
        </p:nvSpPr>
        <p:spPr>
          <a:xfrm>
            <a:off x="1847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Nov 2025</a:t>
            </a:r>
          </a:p>
        </p:txBody>
      </p:sp>
      <p:sp>
        <p:nvSpPr>
          <p:cNvPr id="8" name="timeline-1">
            <a:extLst>
              <a:ext uri="{FF2B5EF4-FFF2-40B4-BE49-F238E27FC236}">
                <a16:creationId xmlns:a16="http://schemas.microsoft.com/office/drawing/2014/main" id="{3E453DC7-EF83-4FF7-833D-61A9B2409A3E}"/>
              </a:ext>
            </a:extLst>
          </p:cNvPr>
          <p:cNvSpPr>
            <a:spLocks noGrp="1"/>
          </p:cNvSpPr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solidFill>
            <a:srgbClr val="DDE7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imeline-label-1">
            <a:extLst>
              <a:ext uri="{FF2B5EF4-FFF2-40B4-BE49-F238E27FC236}">
                <a16:creationId xmlns:a16="http://schemas.microsoft.com/office/drawing/2014/main" id="{3654C6B5-7BD5-4609-A0A7-53825972BDDC}"/>
              </a:ext>
            </a:extLst>
          </p:cNvPr>
          <p:cNvSpPr>
            <a:spLocks noGrp="1"/>
          </p:cNvSpPr>
          <p:nvPr/>
        </p:nvSpPr>
        <p:spPr>
          <a:xfrm>
            <a:off x="3752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Dec 2025</a:t>
            </a:r>
          </a:p>
        </p:txBody>
      </p:sp>
      <p:sp>
        <p:nvSpPr>
          <p:cNvPr id="10" name="timeline-2">
            <a:extLst>
              <a:ext uri="{FF2B5EF4-FFF2-40B4-BE49-F238E27FC236}">
                <a16:creationId xmlns:a16="http://schemas.microsoft.com/office/drawing/2014/main" id="{90904B95-318D-4645-9110-1F58B59045F0}"/>
              </a:ext>
            </a:extLst>
          </p:cNvPr>
          <p:cNvSpPr>
            <a:spLocks noGrp="1"/>
          </p:cNvSpPr>
          <p:nvPr/>
        </p:nvSpPr>
        <p:spPr>
          <a:xfrm>
            <a:off x="6019800" y="1524000"/>
            <a:ext cx="152400" cy="152400"/>
          </a:xfrm>
          <a:prstGeom prst="ellipse">
            <a:avLst/>
          </a:prstGeom>
          <a:solidFill>
            <a:srgbClr val="DDE7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imeline-label-2">
            <a:extLst>
              <a:ext uri="{FF2B5EF4-FFF2-40B4-BE49-F238E27FC236}">
                <a16:creationId xmlns:a16="http://schemas.microsoft.com/office/drawing/2014/main" id="{74BCDD8D-63BA-4828-9495-BD8E227B93C9}"/>
              </a:ext>
            </a:extLst>
          </p:cNvPr>
          <p:cNvSpPr>
            <a:spLocks noGrp="1"/>
          </p:cNvSpPr>
          <p:nvPr/>
        </p:nvSpPr>
        <p:spPr>
          <a:xfrm>
            <a:off x="5657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Jan 2026</a:t>
            </a:r>
          </a:p>
        </p:txBody>
      </p:sp>
      <p:sp>
        <p:nvSpPr>
          <p:cNvPr id="12" name="timeline-3">
            <a:extLst>
              <a:ext uri="{FF2B5EF4-FFF2-40B4-BE49-F238E27FC236}">
                <a16:creationId xmlns:a16="http://schemas.microsoft.com/office/drawing/2014/main" id="{058A5F7E-286D-4828-A96E-1796EA3A1E6E}"/>
              </a:ext>
            </a:extLst>
          </p:cNvPr>
          <p:cNvSpPr>
            <a:spLocks noGrp="1"/>
          </p:cNvSpPr>
          <p:nvPr/>
        </p:nvSpPr>
        <p:spPr>
          <a:xfrm>
            <a:off x="7924800" y="1524000"/>
            <a:ext cx="152400" cy="1524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imeline-label-3">
            <a:extLst>
              <a:ext uri="{FF2B5EF4-FFF2-40B4-BE49-F238E27FC236}">
                <a16:creationId xmlns:a16="http://schemas.microsoft.com/office/drawing/2014/main" id="{C2419A28-D88E-4341-ADD1-FE1CF5A336F0}"/>
              </a:ext>
            </a:extLst>
          </p:cNvPr>
          <p:cNvSpPr>
            <a:spLocks noGrp="1"/>
          </p:cNvSpPr>
          <p:nvPr/>
        </p:nvSpPr>
        <p:spPr>
          <a:xfrm>
            <a:off x="7562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F8A55"/>
                </a:solidFill>
              </a:defRPr>
            </a:pPr>
            <a:r>
              <a:rPr sz="900" b="1">
                <a:solidFill>
                  <a:srgbClr val="1F8A55"/>
                </a:solidFill>
              </a:rPr>
              <a:t>Feb 2026</a:t>
            </a:r>
          </a:p>
        </p:txBody>
      </p:sp>
      <p:sp>
        <p:nvSpPr>
          <p:cNvPr id="14" name="timeline-4">
            <a:extLst>
              <a:ext uri="{FF2B5EF4-FFF2-40B4-BE49-F238E27FC236}">
                <a16:creationId xmlns:a16="http://schemas.microsoft.com/office/drawing/2014/main" id="{2F2497C7-D266-411C-A0BA-880A86CFB7FB}"/>
              </a:ext>
            </a:extLst>
          </p:cNvPr>
          <p:cNvSpPr>
            <a:spLocks noGrp="1"/>
          </p:cNvSpPr>
          <p:nvPr/>
        </p:nvSpPr>
        <p:spPr>
          <a:xfrm>
            <a:off x="9829800" y="1524000"/>
            <a:ext cx="152400" cy="1524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imeline-label-4">
            <a:extLst>
              <a:ext uri="{FF2B5EF4-FFF2-40B4-BE49-F238E27FC236}">
                <a16:creationId xmlns:a16="http://schemas.microsoft.com/office/drawing/2014/main" id="{402CDA1A-0521-4883-B8C9-882FF287AFBC}"/>
              </a:ext>
            </a:extLst>
          </p:cNvPr>
          <p:cNvSpPr>
            <a:spLocks noGrp="1"/>
          </p:cNvSpPr>
          <p:nvPr/>
        </p:nvSpPr>
        <p:spPr>
          <a:xfrm>
            <a:off x="9467850" y="12954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F8A55"/>
                </a:solidFill>
              </a:defRPr>
            </a:pPr>
            <a:r>
              <a:rPr sz="900" b="1">
                <a:solidFill>
                  <a:srgbClr val="1F8A55"/>
                </a:solidFill>
              </a:rPr>
              <a:t>Mar 2026</a:t>
            </a:r>
          </a:p>
        </p:txBody>
      </p:sp>
      <p:sp>
        <p:nvSpPr>
          <p:cNvPr id="16" name="unc3886-card">
            <a:extLst>
              <a:ext uri="{FF2B5EF4-FFF2-40B4-BE49-F238E27FC236}">
                <a16:creationId xmlns:a16="http://schemas.microsoft.com/office/drawing/2014/main" id="{44E702C2-6C57-4758-BB86-AD5A44E2820E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unc3886-accent">
            <a:extLst>
              <a:ext uri="{FF2B5EF4-FFF2-40B4-BE49-F238E27FC236}">
                <a16:creationId xmlns:a16="http://schemas.microsoft.com/office/drawing/2014/main" id="{69B93E1E-2910-48BB-9C90-469660B4E6A5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76200" cy="409575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unc3886-flag-stripe-0">
            <a:extLst>
              <a:ext uri="{FF2B5EF4-FFF2-40B4-BE49-F238E27FC236}">
                <a16:creationId xmlns:a16="http://schemas.microsoft.com/office/drawing/2014/main" id="{2B801BB6-5C06-43DF-9129-1E9C3349E31F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514350" cy="328613"/>
          </a:xfrm>
          <a:prstGeom prst="rect">
            <a:avLst/>
          </a:prstGeom>
          <a:solidFill>
            <a:srgbClr val="DE2910"/>
          </a:solidFill>
          <a:ln w="0">
            <a:solidFill>
              <a:srgbClr val="DE29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unc3886-flag-star">
            <a:extLst>
              <a:ext uri="{FF2B5EF4-FFF2-40B4-BE49-F238E27FC236}">
                <a16:creationId xmlns:a16="http://schemas.microsoft.com/office/drawing/2014/main" id="{5BE8B8B8-E838-408B-B963-BFECFC8ED8CB}"/>
              </a:ext>
            </a:extLst>
          </p:cNvPr>
          <p:cNvSpPr>
            <a:spLocks noGrp="1"/>
          </p:cNvSpPr>
          <p:nvPr/>
        </p:nvSpPr>
        <p:spPr>
          <a:xfrm>
            <a:off x="876300" y="1990725"/>
            <a:ext cx="133350" cy="133350"/>
          </a:xfrm>
          <a:prstGeom prst="star5">
            <a:avLst/>
          </a:prstGeom>
          <a:solidFill>
            <a:srgbClr val="FFDE00"/>
          </a:solidFill>
          <a:ln w="0">
            <a:solidFill>
              <a:srgbClr val="FFD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unc3886-flag-border">
            <a:extLst>
              <a:ext uri="{FF2B5EF4-FFF2-40B4-BE49-F238E27FC236}">
                <a16:creationId xmlns:a16="http://schemas.microsoft.com/office/drawing/2014/main" id="{46C36498-13FC-49A0-BBD5-4BC625B772B7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514350" cy="3238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unc3886-title">
            <a:extLst>
              <a:ext uri="{FF2B5EF4-FFF2-40B4-BE49-F238E27FC236}">
                <a16:creationId xmlns:a16="http://schemas.microsoft.com/office/drawing/2014/main" id="{F809637E-3B6C-4978-916F-67813D9BAB55}"/>
              </a:ext>
            </a:extLst>
          </p:cNvPr>
          <p:cNvSpPr>
            <a:spLocks noGrp="1"/>
          </p:cNvSpPr>
          <p:nvPr/>
        </p:nvSpPr>
        <p:spPr>
          <a:xfrm>
            <a:off x="1466850" y="1885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UNC3886</a:t>
            </a:r>
          </a:p>
        </p:txBody>
      </p:sp>
      <p:sp>
        <p:nvSpPr>
          <p:cNvPr id="22" name="unc3886-subtitle">
            <a:extLst>
              <a:ext uri="{FF2B5EF4-FFF2-40B4-BE49-F238E27FC236}">
                <a16:creationId xmlns:a16="http://schemas.microsoft.com/office/drawing/2014/main" id="{ABFA6BC0-62ED-4BB9-A961-24B783720CE3}"/>
              </a:ext>
            </a:extLst>
          </p:cNvPr>
          <p:cNvSpPr>
            <a:spLocks noGrp="1"/>
          </p:cNvSpPr>
          <p:nvPr/>
        </p:nvSpPr>
        <p:spPr>
          <a:xfrm>
            <a:off x="1466850" y="217170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64550"/>
                </a:solidFill>
              </a:defRPr>
            </a:pPr>
            <a:r>
              <a:rPr sz="1125" b="1">
                <a:solidFill>
                  <a:srgbClr val="D64550"/>
                </a:solidFill>
              </a:rPr>
              <a:t>Singapore telecoms: silent pre-positioning</a:t>
            </a:r>
          </a:p>
        </p:txBody>
      </p:sp>
      <p:sp>
        <p:nvSpPr>
          <p:cNvPr id="23" name="unc3886-metric">
            <a:extLst>
              <a:ext uri="{FF2B5EF4-FFF2-40B4-BE49-F238E27FC236}">
                <a16:creationId xmlns:a16="http://schemas.microsoft.com/office/drawing/2014/main" id="{E9F13BBC-D9B1-45DA-9464-FCC687B07DCA}"/>
              </a:ext>
            </a:extLst>
          </p:cNvPr>
          <p:cNvSpPr>
            <a:spLocks noGrp="1"/>
          </p:cNvSpPr>
          <p:nvPr/>
        </p:nvSpPr>
        <p:spPr>
          <a:xfrm>
            <a:off x="4286250" y="1885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250" b="1">
                <a:solidFill>
                  <a:srgbClr val="D64550"/>
                </a:solidFill>
              </a:defRPr>
            </a:pPr>
            <a:r>
              <a:rPr sz="2250" b="1">
                <a:solidFill>
                  <a:srgbClr val="D64550"/>
                </a:solidFill>
              </a:rPr>
              <a:t>4</a:t>
            </a:r>
          </a:p>
        </p:txBody>
      </p:sp>
      <p:sp>
        <p:nvSpPr>
          <p:cNvPr id="24" name="unc3886-metric-label">
            <a:extLst>
              <a:ext uri="{FF2B5EF4-FFF2-40B4-BE49-F238E27FC236}">
                <a16:creationId xmlns:a16="http://schemas.microsoft.com/office/drawing/2014/main" id="{4AB0FCE7-1DD8-4105-932C-FF733B23902E}"/>
              </a:ext>
            </a:extLst>
          </p:cNvPr>
          <p:cNvSpPr>
            <a:spLocks noGrp="1"/>
          </p:cNvSpPr>
          <p:nvPr/>
        </p:nvSpPr>
        <p:spPr>
          <a:xfrm>
            <a:off x="4248150" y="2286000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major telcos</a:t>
            </a:r>
          </a:p>
        </p:txBody>
      </p:sp>
      <p:sp>
        <p:nvSpPr>
          <p:cNvPr id="25" name="unc3886-dot-0">
            <a:extLst>
              <a:ext uri="{FF2B5EF4-FFF2-40B4-BE49-F238E27FC236}">
                <a16:creationId xmlns:a16="http://schemas.microsoft.com/office/drawing/2014/main" id="{4D0EA5DA-A669-484A-BF11-5561EF9425D0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unc3886-p-0">
            <a:extLst>
              <a:ext uri="{FF2B5EF4-FFF2-40B4-BE49-F238E27FC236}">
                <a16:creationId xmlns:a16="http://schemas.microsoft.com/office/drawing/2014/main" id="{000932F9-D19E-4C49-863A-95AE53CDD71B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Zero-days and rootkits enabled strategic persistence.</a:t>
            </a:r>
          </a:p>
        </p:txBody>
      </p:sp>
      <p:sp>
        <p:nvSpPr>
          <p:cNvPr id="27" name="unc3886-dot-1">
            <a:extLst>
              <a:ext uri="{FF2B5EF4-FFF2-40B4-BE49-F238E27FC236}">
                <a16:creationId xmlns:a16="http://schemas.microsoft.com/office/drawing/2014/main" id="{F358741F-2B39-4FF2-9BC0-599825AE362B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unc3886-p-1">
            <a:extLst>
              <a:ext uri="{FF2B5EF4-FFF2-40B4-BE49-F238E27FC236}">
                <a16:creationId xmlns:a16="http://schemas.microsoft.com/office/drawing/2014/main" id="{3D43C323-FF63-4755-B1E0-4269A7B04EC7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Telecom access gives visibility into national communications.</a:t>
            </a:r>
          </a:p>
        </p:txBody>
      </p:sp>
      <p:sp>
        <p:nvSpPr>
          <p:cNvPr id="29" name="unc3886-dot-2">
            <a:extLst>
              <a:ext uri="{FF2B5EF4-FFF2-40B4-BE49-F238E27FC236}">
                <a16:creationId xmlns:a16="http://schemas.microsoft.com/office/drawing/2014/main" id="{31D8499B-6B8F-4623-BFF0-B4AE7BD6EC69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unc3886-p-2">
            <a:extLst>
              <a:ext uri="{FF2B5EF4-FFF2-40B4-BE49-F238E27FC236}">
                <a16:creationId xmlns:a16="http://schemas.microsoft.com/office/drawing/2014/main" id="{058D1D40-D539-4F85-9FCB-B366E4353E8D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Access was preserved as an option, not immediately detonated.</a:t>
            </a:r>
          </a:p>
        </p:txBody>
      </p:sp>
      <p:sp>
        <p:nvSpPr>
          <p:cNvPr id="31" name="unc3886-dot-3">
            <a:extLst>
              <a:ext uri="{FF2B5EF4-FFF2-40B4-BE49-F238E27FC236}">
                <a16:creationId xmlns:a16="http://schemas.microsoft.com/office/drawing/2014/main" id="{1DAB9BDD-8C8A-4E8D-B8D2-3E6712670096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95250" cy="95250"/>
          </a:xfrm>
          <a:prstGeom prst="ellipse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unc3886-p-3">
            <a:extLst>
              <a:ext uri="{FF2B5EF4-FFF2-40B4-BE49-F238E27FC236}">
                <a16:creationId xmlns:a16="http://schemas.microsoft.com/office/drawing/2014/main" id="{E176E118-368C-44E1-BDBE-08F4D026C219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The model: patient infrastructure pre-positioning.</a:t>
            </a:r>
          </a:p>
        </p:txBody>
      </p:sp>
      <p:sp>
        <p:nvSpPr>
          <p:cNvPr id="33" name="handala-card">
            <a:extLst>
              <a:ext uri="{FF2B5EF4-FFF2-40B4-BE49-F238E27FC236}">
                <a16:creationId xmlns:a16="http://schemas.microsoft.com/office/drawing/2014/main" id="{4A315B9B-26CF-4EC0-86A7-025FA8ECA27B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handala-accent">
            <a:extLst>
              <a:ext uri="{FF2B5EF4-FFF2-40B4-BE49-F238E27FC236}">
                <a16:creationId xmlns:a16="http://schemas.microsoft.com/office/drawing/2014/main" id="{607B82DB-6708-44AF-B717-3887008F5AFB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76200" cy="40957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handala-flag-stripe-0">
            <a:extLst>
              <a:ext uri="{FF2B5EF4-FFF2-40B4-BE49-F238E27FC236}">
                <a16:creationId xmlns:a16="http://schemas.microsoft.com/office/drawing/2014/main" id="{AF61367C-6188-4239-8F09-CED322E1D527}"/>
              </a:ext>
            </a:extLst>
          </p:cNvPr>
          <p:cNvSpPr>
            <a:spLocks noGrp="1"/>
          </p:cNvSpPr>
          <p:nvPr/>
        </p:nvSpPr>
        <p:spPr>
          <a:xfrm>
            <a:off x="6648450" y="1924050"/>
            <a:ext cx="514350" cy="112713"/>
          </a:xfrm>
          <a:prstGeom prst="rect">
            <a:avLst/>
          </a:prstGeom>
          <a:solidFill>
            <a:srgbClr val="239F40"/>
          </a:solidFill>
          <a:ln w="0">
            <a:solidFill>
              <a:srgbClr val="239F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handala-flag-stripe-1">
            <a:extLst>
              <a:ext uri="{FF2B5EF4-FFF2-40B4-BE49-F238E27FC236}">
                <a16:creationId xmlns:a16="http://schemas.microsoft.com/office/drawing/2014/main" id="{61A40987-2136-4F8E-9893-5FB017C5A951}"/>
              </a:ext>
            </a:extLst>
          </p:cNvPr>
          <p:cNvSpPr>
            <a:spLocks noGrp="1"/>
          </p:cNvSpPr>
          <p:nvPr/>
        </p:nvSpPr>
        <p:spPr>
          <a:xfrm>
            <a:off x="6648450" y="2032000"/>
            <a:ext cx="514350" cy="11271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handala-flag-stripe-2">
            <a:extLst>
              <a:ext uri="{FF2B5EF4-FFF2-40B4-BE49-F238E27FC236}">
                <a16:creationId xmlns:a16="http://schemas.microsoft.com/office/drawing/2014/main" id="{758E638E-B804-4630-BFBC-9FB7ED5F640B}"/>
              </a:ext>
            </a:extLst>
          </p:cNvPr>
          <p:cNvSpPr>
            <a:spLocks noGrp="1"/>
          </p:cNvSpPr>
          <p:nvPr/>
        </p:nvSpPr>
        <p:spPr>
          <a:xfrm>
            <a:off x="6648450" y="2139950"/>
            <a:ext cx="514350" cy="112713"/>
          </a:xfrm>
          <a:prstGeom prst="rect">
            <a:avLst/>
          </a:prstGeom>
          <a:solidFill>
            <a:srgbClr val="DA0000"/>
          </a:solidFill>
          <a:ln w="0">
            <a:solidFill>
              <a:srgbClr val="DA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handala-flag-border">
            <a:extLst>
              <a:ext uri="{FF2B5EF4-FFF2-40B4-BE49-F238E27FC236}">
                <a16:creationId xmlns:a16="http://schemas.microsoft.com/office/drawing/2014/main" id="{E7914000-9412-4BDE-9C94-A80A3F6AAD6F}"/>
              </a:ext>
            </a:extLst>
          </p:cNvPr>
          <p:cNvSpPr>
            <a:spLocks noGrp="1"/>
          </p:cNvSpPr>
          <p:nvPr/>
        </p:nvSpPr>
        <p:spPr>
          <a:xfrm>
            <a:off x="6648450" y="1924050"/>
            <a:ext cx="514350" cy="32385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handala-title">
            <a:extLst>
              <a:ext uri="{FF2B5EF4-FFF2-40B4-BE49-F238E27FC236}">
                <a16:creationId xmlns:a16="http://schemas.microsoft.com/office/drawing/2014/main" id="{4FC21BCB-FDB6-4B6B-96CD-7C217AD8C932}"/>
              </a:ext>
            </a:extLst>
          </p:cNvPr>
          <p:cNvSpPr>
            <a:spLocks noGrp="1"/>
          </p:cNvSpPr>
          <p:nvPr/>
        </p:nvSpPr>
        <p:spPr>
          <a:xfrm>
            <a:off x="7315200" y="1885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HANDALA</a:t>
            </a:r>
          </a:p>
        </p:txBody>
      </p:sp>
      <p:sp>
        <p:nvSpPr>
          <p:cNvPr id="40" name="handala-subtitle">
            <a:extLst>
              <a:ext uri="{FF2B5EF4-FFF2-40B4-BE49-F238E27FC236}">
                <a16:creationId xmlns:a16="http://schemas.microsoft.com/office/drawing/2014/main" id="{31D4E6F3-5805-47B6-943B-F15A8F133C16}"/>
              </a:ext>
            </a:extLst>
          </p:cNvPr>
          <p:cNvSpPr>
            <a:spLocks noGrp="1"/>
          </p:cNvSpPr>
          <p:nvPr/>
        </p:nvSpPr>
        <p:spPr>
          <a:xfrm>
            <a:off x="7315200" y="217170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8A6A1"/>
                </a:solidFill>
              </a:defRPr>
            </a:pPr>
            <a:r>
              <a:rPr sz="1125" b="1">
                <a:solidFill>
                  <a:srgbClr val="28A6A1"/>
                </a:solidFill>
              </a:rPr>
              <a:t>Stryker: destructive retaliation at scale</a:t>
            </a:r>
          </a:p>
        </p:txBody>
      </p:sp>
      <p:sp>
        <p:nvSpPr>
          <p:cNvPr id="41" name="handala-metric">
            <a:extLst>
              <a:ext uri="{FF2B5EF4-FFF2-40B4-BE49-F238E27FC236}">
                <a16:creationId xmlns:a16="http://schemas.microsoft.com/office/drawing/2014/main" id="{2DEDB832-E79B-4D3F-9BC6-6972ED78FC9E}"/>
              </a:ext>
            </a:extLst>
          </p:cNvPr>
          <p:cNvSpPr>
            <a:spLocks noGrp="1"/>
          </p:cNvSpPr>
          <p:nvPr/>
        </p:nvSpPr>
        <p:spPr>
          <a:xfrm>
            <a:off x="10134600" y="1885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250" b="1">
                <a:solidFill>
                  <a:srgbClr val="28A6A1"/>
                </a:solidFill>
              </a:defRPr>
            </a:pPr>
            <a:r>
              <a:rPr sz="2250" b="1">
                <a:solidFill>
                  <a:srgbClr val="28A6A1"/>
                </a:solidFill>
              </a:rPr>
              <a:t>79</a:t>
            </a:r>
          </a:p>
        </p:txBody>
      </p:sp>
      <p:sp>
        <p:nvSpPr>
          <p:cNvPr id="42" name="handala-metric-label">
            <a:extLst>
              <a:ext uri="{FF2B5EF4-FFF2-40B4-BE49-F238E27FC236}">
                <a16:creationId xmlns:a16="http://schemas.microsoft.com/office/drawing/2014/main" id="{5C30C938-C5F9-4BC0-AFF7-4D173E862CAB}"/>
              </a:ext>
            </a:extLst>
          </p:cNvPr>
          <p:cNvSpPr>
            <a:spLocks noGrp="1"/>
          </p:cNvSpPr>
          <p:nvPr/>
        </p:nvSpPr>
        <p:spPr>
          <a:xfrm>
            <a:off x="10096500" y="2286000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countries</a:t>
            </a:r>
          </a:p>
        </p:txBody>
      </p:sp>
      <p:sp>
        <p:nvSpPr>
          <p:cNvPr id="43" name="handala-dot-0">
            <a:extLst>
              <a:ext uri="{FF2B5EF4-FFF2-40B4-BE49-F238E27FC236}">
                <a16:creationId xmlns:a16="http://schemas.microsoft.com/office/drawing/2014/main" id="{51D08C93-0C5A-4DA6-8971-5C3EE4889EBA}"/>
              </a:ext>
            </a:extLst>
          </p:cNvPr>
          <p:cNvSpPr>
            <a:spLocks noGrp="1"/>
          </p:cNvSpPr>
          <p:nvPr/>
        </p:nvSpPr>
        <p:spPr>
          <a:xfrm>
            <a:off x="6724650" y="2800350"/>
            <a:ext cx="95250" cy="9525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handala-p-0">
            <a:extLst>
              <a:ext uri="{FF2B5EF4-FFF2-40B4-BE49-F238E27FC236}">
                <a16:creationId xmlns:a16="http://schemas.microsoft.com/office/drawing/2014/main" id="{32F2581F-5DC0-4A3C-A7AC-51A48DC99DEB}"/>
              </a:ext>
            </a:extLst>
          </p:cNvPr>
          <p:cNvSpPr>
            <a:spLocks noGrp="1"/>
          </p:cNvSpPr>
          <p:nvPr/>
        </p:nvSpPr>
        <p:spPr>
          <a:xfrm>
            <a:off x="6915150" y="27241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Wiper-style disruption hit global corporate operations.</a:t>
            </a:r>
          </a:p>
        </p:txBody>
      </p:sp>
      <p:sp>
        <p:nvSpPr>
          <p:cNvPr id="45" name="handala-dot-1">
            <a:extLst>
              <a:ext uri="{FF2B5EF4-FFF2-40B4-BE49-F238E27FC236}">
                <a16:creationId xmlns:a16="http://schemas.microsoft.com/office/drawing/2014/main" id="{C1E6CFF0-C7A6-4645-9128-1A0F75870AA1}"/>
              </a:ext>
            </a:extLst>
          </p:cNvPr>
          <p:cNvSpPr>
            <a:spLocks noGrp="1"/>
          </p:cNvSpPr>
          <p:nvPr/>
        </p:nvSpPr>
        <p:spPr>
          <a:xfrm>
            <a:off x="6724650" y="3333750"/>
            <a:ext cx="95250" cy="9525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handala-p-1">
            <a:extLst>
              <a:ext uri="{FF2B5EF4-FFF2-40B4-BE49-F238E27FC236}">
                <a16:creationId xmlns:a16="http://schemas.microsoft.com/office/drawing/2014/main" id="{5E8BC3B2-DAA1-49F8-923E-2737302622DF}"/>
              </a:ext>
            </a:extLst>
          </p:cNvPr>
          <p:cNvSpPr>
            <a:spLocks noGrp="1"/>
          </p:cNvSpPr>
          <p:nvPr/>
        </p:nvSpPr>
        <p:spPr>
          <a:xfrm>
            <a:off x="6915150" y="32575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Public claim framed the action as geopolitical retaliation.</a:t>
            </a:r>
          </a:p>
        </p:txBody>
      </p:sp>
      <p:sp>
        <p:nvSpPr>
          <p:cNvPr id="47" name="handala-dot-2">
            <a:extLst>
              <a:ext uri="{FF2B5EF4-FFF2-40B4-BE49-F238E27FC236}">
                <a16:creationId xmlns:a16="http://schemas.microsoft.com/office/drawing/2014/main" id="{BA196C43-2AB7-4EE6-9DC4-260232B8F6F7}"/>
              </a:ext>
            </a:extLst>
          </p:cNvPr>
          <p:cNvSpPr>
            <a:spLocks noGrp="1"/>
          </p:cNvSpPr>
          <p:nvPr/>
        </p:nvSpPr>
        <p:spPr>
          <a:xfrm>
            <a:off x="6724650" y="3867150"/>
            <a:ext cx="95250" cy="9525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handala-p-2">
            <a:extLst>
              <a:ext uri="{FF2B5EF4-FFF2-40B4-BE49-F238E27FC236}">
                <a16:creationId xmlns:a16="http://schemas.microsoft.com/office/drawing/2014/main" id="{061721AB-2B02-477F-92C1-0229095049B9}"/>
              </a:ext>
            </a:extLst>
          </p:cNvPr>
          <p:cNvSpPr>
            <a:spLocks noGrp="1"/>
          </p:cNvSpPr>
          <p:nvPr/>
        </p:nvSpPr>
        <p:spPr>
          <a:xfrm>
            <a:off x="6915150" y="37909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Scale implies preparation before the visible attack.</a:t>
            </a:r>
          </a:p>
        </p:txBody>
      </p:sp>
      <p:sp>
        <p:nvSpPr>
          <p:cNvPr id="49" name="handala-dot-3">
            <a:extLst>
              <a:ext uri="{FF2B5EF4-FFF2-40B4-BE49-F238E27FC236}">
                <a16:creationId xmlns:a16="http://schemas.microsoft.com/office/drawing/2014/main" id="{9F7F8029-0175-43D6-9BEC-43EBF583B2B2}"/>
              </a:ext>
            </a:extLst>
          </p:cNvPr>
          <p:cNvSpPr>
            <a:spLocks noGrp="1"/>
          </p:cNvSpPr>
          <p:nvPr/>
        </p:nvSpPr>
        <p:spPr>
          <a:xfrm>
            <a:off x="6724650" y="4400550"/>
            <a:ext cx="95250" cy="9525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handala-p-3">
            <a:extLst>
              <a:ext uri="{FF2B5EF4-FFF2-40B4-BE49-F238E27FC236}">
                <a16:creationId xmlns:a16="http://schemas.microsoft.com/office/drawing/2014/main" id="{7A7F42C5-AB1B-46E8-98F4-15A9F3966C54}"/>
              </a:ext>
            </a:extLst>
          </p:cNvPr>
          <p:cNvSpPr>
            <a:spLocks noGrp="1"/>
          </p:cNvSpPr>
          <p:nvPr/>
        </p:nvSpPr>
        <p:spPr>
          <a:xfrm>
            <a:off x="6915150" y="4324350"/>
            <a:ext cx="432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The model: noisy destruction after quiet access.</a:t>
            </a:r>
          </a:p>
        </p:txBody>
      </p:sp>
      <p:sp>
        <p:nvSpPr>
          <p:cNvPr id="51" name="s7-metric">
            <a:extLst>
              <a:ext uri="{FF2B5EF4-FFF2-40B4-BE49-F238E27FC236}">
                <a16:creationId xmlns:a16="http://schemas.microsoft.com/office/drawing/2014/main" id="{D51D0DF5-9B57-4421-9293-0810BE83F02C}"/>
              </a:ext>
            </a:extLst>
          </p:cNvPr>
          <p:cNvSpPr>
            <a:spLocks noGrp="1"/>
          </p:cNvSpPr>
          <p:nvPr/>
        </p:nvSpPr>
        <p:spPr>
          <a:xfrm>
            <a:off x="8858250" y="4991100"/>
            <a:ext cx="2190750" cy="514350"/>
          </a:xfrm>
          <a:prstGeom prst="roundRect">
            <a:avLst>
              <a:gd name="adj" fmla="val 14815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7-metric-text">
            <a:extLst>
              <a:ext uri="{FF2B5EF4-FFF2-40B4-BE49-F238E27FC236}">
                <a16:creationId xmlns:a16="http://schemas.microsoft.com/office/drawing/2014/main" id="{98E307F3-D6C2-4BC0-8F31-CB1F82357612}"/>
              </a:ext>
            </a:extLst>
          </p:cNvPr>
          <p:cNvSpPr>
            <a:spLocks noGrp="1"/>
          </p:cNvSpPr>
          <p:nvPr/>
        </p:nvSpPr>
        <p:spPr>
          <a:xfrm>
            <a:off x="9029700" y="5124450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8A55"/>
                </a:solidFill>
              </a:defRPr>
            </a:pPr>
            <a:r>
              <a:rPr sz="1200" b="1">
                <a:solidFill>
                  <a:srgbClr val="1F8A55"/>
                </a:solidFill>
              </a:rPr>
              <a:t>200,000+ devices claimed</a:t>
            </a:r>
          </a:p>
        </p:txBody>
      </p:sp>
      <p:sp>
        <p:nvSpPr>
          <p:cNvPr id="53" name="s7-band">
            <a:extLst>
              <a:ext uri="{FF2B5EF4-FFF2-40B4-BE49-F238E27FC236}">
                <a16:creationId xmlns:a16="http://schemas.microsoft.com/office/drawing/2014/main" id="{A7AC6DE5-75AC-4B61-B9F7-B40E9333F9F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991850" cy="400050"/>
          </a:xfrm>
          <a:prstGeom prst="roundRect">
            <a:avLst>
              <a:gd name="adj" fmla="val 19048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7-band-text">
            <a:extLst>
              <a:ext uri="{FF2B5EF4-FFF2-40B4-BE49-F238E27FC236}">
                <a16:creationId xmlns:a16="http://schemas.microsoft.com/office/drawing/2014/main" id="{DED4C9F9-C1D0-48AC-8A54-632C60CEF28B}"/>
              </a:ext>
            </a:extLst>
          </p:cNvPr>
          <p:cNvSpPr>
            <a:spLocks noGrp="1"/>
          </p:cNvSpPr>
          <p:nvPr/>
        </p:nvSpPr>
        <p:spPr>
          <a:xfrm>
            <a:off x="838200" y="6172200"/>
            <a:ext cx="1042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8A55"/>
                </a:solidFill>
              </a:defRPr>
            </a:pPr>
            <a:r>
              <a:rPr sz="1275" b="1">
                <a:solidFill>
                  <a:srgbClr val="1F8A55"/>
                </a:solidFill>
              </a:rPr>
              <a:t>Same capability: long-term infiltration. Opposite intent: silent espionage vs. loud destruction.</a:t>
            </a:r>
          </a:p>
        </p:txBody>
      </p:sp>
    </p:spTree>
    <p:extLst>
      <p:ext uri="{BB962C8B-B14F-4D97-AF65-F5344CB8AC3E}">
        <p14:creationId xmlns:p14="http://schemas.microsoft.com/office/powerpoint/2010/main" val="15225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8-top">
            <a:extLst>
              <a:ext uri="{FF2B5EF4-FFF2-40B4-BE49-F238E27FC236}">
                <a16:creationId xmlns:a16="http://schemas.microsoft.com/office/drawing/2014/main" id="{4BDCAF14-3A68-4790-A4AC-3EC5F98129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8-eyebrow">
            <a:extLst>
              <a:ext uri="{FF2B5EF4-FFF2-40B4-BE49-F238E27FC236}">
                <a16:creationId xmlns:a16="http://schemas.microsoft.com/office/drawing/2014/main" id="{6A677292-6817-4E33-B607-B55C687412A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8</a:t>
            </a:r>
          </a:p>
        </p:txBody>
      </p:sp>
      <p:sp>
        <p:nvSpPr>
          <p:cNvPr id="3" name="s8-title">
            <a:extLst>
              <a:ext uri="{FF2B5EF4-FFF2-40B4-BE49-F238E27FC236}">
                <a16:creationId xmlns:a16="http://schemas.microsoft.com/office/drawing/2014/main" id="{E83D9369-EF9D-463E-80CF-725810D61EB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Financial Impact &amp; Mitigation</a:t>
            </a:r>
          </a:p>
        </p:txBody>
      </p:sp>
      <p:sp>
        <p:nvSpPr>
          <p:cNvPr id="4" name="s8-subtitle">
            <a:extLst>
              <a:ext uri="{FF2B5EF4-FFF2-40B4-BE49-F238E27FC236}">
                <a16:creationId xmlns:a16="http://schemas.microsoft.com/office/drawing/2014/main" id="{DB1E81A9-A93E-49DA-A9C1-4789E3793AA5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The cost of a crisis and the reinvestment case</a:t>
            </a:r>
          </a:p>
        </p:txBody>
      </p:sp>
      <p:sp>
        <p:nvSpPr>
          <p:cNvPr id="5" name="s8-band-0">
            <a:extLst>
              <a:ext uri="{FF2B5EF4-FFF2-40B4-BE49-F238E27FC236}">
                <a16:creationId xmlns:a16="http://schemas.microsoft.com/office/drawing/2014/main" id="{DA717AD8-8842-4351-A2F5-6090A84D038A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109918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8-rule-0">
            <a:extLst>
              <a:ext uri="{FF2B5EF4-FFF2-40B4-BE49-F238E27FC236}">
                <a16:creationId xmlns:a16="http://schemas.microsoft.com/office/drawing/2014/main" id="{C9E497CC-7DC2-407A-ADE6-350F3DE9A44C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85725" cy="1066800"/>
          </a:xfrm>
          <a:prstGeom prst="rect">
            <a:avLst/>
          </a:prstGeom>
          <a:solidFill>
            <a:srgbClr val="D64550"/>
          </a:solidFill>
          <a:ln w="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8-label-0">
            <a:extLst>
              <a:ext uri="{FF2B5EF4-FFF2-40B4-BE49-F238E27FC236}">
                <a16:creationId xmlns:a16="http://schemas.microsoft.com/office/drawing/2014/main" id="{C12C518B-893E-4ADD-BDB2-439281E929BF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Cost of inaction</a:t>
            </a:r>
          </a:p>
        </p:txBody>
      </p:sp>
      <p:sp>
        <p:nvSpPr>
          <p:cNvPr id="8" name="s8-big-0">
            <a:extLst>
              <a:ext uri="{FF2B5EF4-FFF2-40B4-BE49-F238E27FC236}">
                <a16:creationId xmlns:a16="http://schemas.microsoft.com/office/drawing/2014/main" id="{EE79D0B3-52A9-4F1D-A969-7EBDE0563506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64550"/>
                </a:solidFill>
              </a:defRPr>
            </a:pPr>
            <a:r>
              <a:rPr sz="1800" b="1">
                <a:solidFill>
                  <a:srgbClr val="D64550"/>
                </a:solidFill>
              </a:rPr>
              <a:t>Internal EUR estimate</a:t>
            </a:r>
          </a:p>
        </p:txBody>
      </p:sp>
      <p:sp>
        <p:nvSpPr>
          <p:cNvPr id="9" name="s8-tag-0">
            <a:extLst>
              <a:ext uri="{FF2B5EF4-FFF2-40B4-BE49-F238E27FC236}">
                <a16:creationId xmlns:a16="http://schemas.microsoft.com/office/drawing/2014/main" id="{19AB4D61-A70F-41A3-BA53-91D68B0EF7DC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8-tag-text-0">
            <a:extLst>
              <a:ext uri="{FF2B5EF4-FFF2-40B4-BE49-F238E27FC236}">
                <a16:creationId xmlns:a16="http://schemas.microsoft.com/office/drawing/2014/main" id="{4F7C2B75-A545-4E1E-A62B-BAC9432FF928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Use verified business data</a:t>
            </a:r>
          </a:p>
        </p:txBody>
      </p:sp>
      <p:sp>
        <p:nvSpPr>
          <p:cNvPr id="11" name="s8-copy-0">
            <a:extLst>
              <a:ext uri="{FF2B5EF4-FFF2-40B4-BE49-F238E27FC236}">
                <a16:creationId xmlns:a16="http://schemas.microsoft.com/office/drawing/2014/main" id="{30EB5F1B-23AD-4DFC-ADBD-9DF805FA9AC6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Downtime, reputation, regulatory exposure, forensics and degraded operations.</a:t>
            </a:r>
          </a:p>
        </p:txBody>
      </p:sp>
      <p:sp>
        <p:nvSpPr>
          <p:cNvPr id="12" name="s8-band-1">
            <a:extLst>
              <a:ext uri="{FF2B5EF4-FFF2-40B4-BE49-F238E27FC236}">
                <a16:creationId xmlns:a16="http://schemas.microsoft.com/office/drawing/2014/main" id="{030CE656-F38F-4C99-82B1-8A516C6EBB01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109918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8-rule-1">
            <a:extLst>
              <a:ext uri="{FF2B5EF4-FFF2-40B4-BE49-F238E27FC236}">
                <a16:creationId xmlns:a16="http://schemas.microsoft.com/office/drawing/2014/main" id="{6258C05F-9E76-475B-9495-70233C9BB9E8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85725" cy="1066800"/>
          </a:xfrm>
          <a:prstGeom prst="rect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8-label-1">
            <a:extLst>
              <a:ext uri="{FF2B5EF4-FFF2-40B4-BE49-F238E27FC236}">
                <a16:creationId xmlns:a16="http://schemas.microsoft.com/office/drawing/2014/main" id="{3BE8CED0-CF8D-4BEA-A73F-98B59FA84C60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Current posture</a:t>
            </a:r>
          </a:p>
        </p:txBody>
      </p:sp>
      <p:sp>
        <p:nvSpPr>
          <p:cNvPr id="15" name="s8-big-1">
            <a:extLst>
              <a:ext uri="{FF2B5EF4-FFF2-40B4-BE49-F238E27FC236}">
                <a16:creationId xmlns:a16="http://schemas.microsoft.com/office/drawing/2014/main" id="{A8176E72-CEC5-417B-901E-420DE4489DDD}"/>
              </a:ext>
            </a:extLst>
          </p:cNvPr>
          <p:cNvSpPr>
            <a:spLocks noGrp="1"/>
          </p:cNvSpPr>
          <p:nvPr/>
        </p:nvSpPr>
        <p:spPr>
          <a:xfrm>
            <a:off x="3524250" y="31813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5A623"/>
                </a:solidFill>
              </a:defRPr>
            </a:pPr>
            <a:r>
              <a:rPr sz="1800" b="1">
                <a:solidFill>
                  <a:srgbClr val="F5A623"/>
                </a:solidFill>
              </a:rPr>
              <a:t>Coverage map</a:t>
            </a:r>
          </a:p>
        </p:txBody>
      </p:sp>
      <p:sp>
        <p:nvSpPr>
          <p:cNvPr id="16" name="s8-tag-1">
            <a:extLst>
              <a:ext uri="{FF2B5EF4-FFF2-40B4-BE49-F238E27FC236}">
                <a16:creationId xmlns:a16="http://schemas.microsoft.com/office/drawing/2014/main" id="{A8B4F624-CC7C-40BC-880F-B87DD75863B6}"/>
              </a:ext>
            </a:extLst>
          </p:cNvPr>
          <p:cNvSpPr>
            <a:spLocks noGrp="1"/>
          </p:cNvSpPr>
          <p:nvPr/>
        </p:nvSpPr>
        <p:spPr>
          <a:xfrm>
            <a:off x="6191250" y="321945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8-tag-text-1">
            <a:extLst>
              <a:ext uri="{FF2B5EF4-FFF2-40B4-BE49-F238E27FC236}">
                <a16:creationId xmlns:a16="http://schemas.microsoft.com/office/drawing/2014/main" id="{5F94892B-947E-44A3-BED9-EDB20501A69F}"/>
              </a:ext>
            </a:extLst>
          </p:cNvPr>
          <p:cNvSpPr>
            <a:spLocks noGrp="1"/>
          </p:cNvSpPr>
          <p:nvPr/>
        </p:nvSpPr>
        <p:spPr>
          <a:xfrm>
            <a:off x="6324600" y="32766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Baseline maturity view</a:t>
            </a:r>
          </a:p>
        </p:txBody>
      </p:sp>
      <p:sp>
        <p:nvSpPr>
          <p:cNvPr id="18" name="s8-copy-1">
            <a:extLst>
              <a:ext uri="{FF2B5EF4-FFF2-40B4-BE49-F238E27FC236}">
                <a16:creationId xmlns:a16="http://schemas.microsoft.com/office/drawing/2014/main" id="{0AF73806-C750-4DF5-A6AE-A09AE330F004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SPM, BCP, Zero Trust, NHI governance, edge visibility and crisis simulation.</a:t>
            </a:r>
          </a:p>
        </p:txBody>
      </p:sp>
      <p:sp>
        <p:nvSpPr>
          <p:cNvPr id="19" name="s8-band-2">
            <a:extLst>
              <a:ext uri="{FF2B5EF4-FFF2-40B4-BE49-F238E27FC236}">
                <a16:creationId xmlns:a16="http://schemas.microsoft.com/office/drawing/2014/main" id="{F7A95333-635B-4E67-8A28-A219EA2D51BC}"/>
              </a:ext>
            </a:extLst>
          </p:cNvPr>
          <p:cNvSpPr>
            <a:spLocks noGrp="1"/>
          </p:cNvSpPr>
          <p:nvPr/>
        </p:nvSpPr>
        <p:spPr>
          <a:xfrm>
            <a:off x="552450" y="4381500"/>
            <a:ext cx="109918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8-rule-2">
            <a:extLst>
              <a:ext uri="{FF2B5EF4-FFF2-40B4-BE49-F238E27FC236}">
                <a16:creationId xmlns:a16="http://schemas.microsoft.com/office/drawing/2014/main" id="{9D9F689B-1EE4-4397-93BE-F2A87648C36D}"/>
              </a:ext>
            </a:extLst>
          </p:cNvPr>
          <p:cNvSpPr>
            <a:spLocks noGrp="1"/>
          </p:cNvSpPr>
          <p:nvPr/>
        </p:nvSpPr>
        <p:spPr>
          <a:xfrm>
            <a:off x="552450" y="4381500"/>
            <a:ext cx="85725" cy="106680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8-label-2">
            <a:extLst>
              <a:ext uri="{FF2B5EF4-FFF2-40B4-BE49-F238E27FC236}">
                <a16:creationId xmlns:a16="http://schemas.microsoft.com/office/drawing/2014/main" id="{F67DD6FA-8638-490C-BEA8-6ACF6D495814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Reinvestment case</a:t>
            </a:r>
          </a:p>
        </p:txBody>
      </p:sp>
      <p:sp>
        <p:nvSpPr>
          <p:cNvPr id="22" name="s8-big-2">
            <a:extLst>
              <a:ext uri="{FF2B5EF4-FFF2-40B4-BE49-F238E27FC236}">
                <a16:creationId xmlns:a16="http://schemas.microsoft.com/office/drawing/2014/main" id="{39C1D669-E047-4BED-B4EB-497F9CB38F49}"/>
              </a:ext>
            </a:extLst>
          </p:cNvPr>
          <p:cNvSpPr>
            <a:spLocks noGrp="1"/>
          </p:cNvSpPr>
          <p:nvPr/>
        </p:nvSpPr>
        <p:spPr>
          <a:xfrm>
            <a:off x="3524250" y="45148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50C878"/>
                </a:solidFill>
              </a:defRPr>
            </a:pPr>
            <a:r>
              <a:rPr sz="1800" b="1">
                <a:solidFill>
                  <a:srgbClr val="50C878"/>
                </a:solidFill>
              </a:rPr>
              <a:t>Prevention-first</a:t>
            </a:r>
          </a:p>
        </p:txBody>
      </p:sp>
      <p:sp>
        <p:nvSpPr>
          <p:cNvPr id="23" name="s8-tag-2">
            <a:extLst>
              <a:ext uri="{FF2B5EF4-FFF2-40B4-BE49-F238E27FC236}">
                <a16:creationId xmlns:a16="http://schemas.microsoft.com/office/drawing/2014/main" id="{B78C1BBD-6A31-4C95-B826-22349BF7FAA5}"/>
              </a:ext>
            </a:extLst>
          </p:cNvPr>
          <p:cNvSpPr>
            <a:spLocks noGrp="1"/>
          </p:cNvSpPr>
          <p:nvPr/>
        </p:nvSpPr>
        <p:spPr>
          <a:xfrm>
            <a:off x="6191250" y="455295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8-tag-text-2">
            <a:extLst>
              <a:ext uri="{FF2B5EF4-FFF2-40B4-BE49-F238E27FC236}">
                <a16:creationId xmlns:a16="http://schemas.microsoft.com/office/drawing/2014/main" id="{4ADF3236-96B3-48EA-B226-832C6D540BA9}"/>
              </a:ext>
            </a:extLst>
          </p:cNvPr>
          <p:cNvSpPr>
            <a:spLocks noGrp="1"/>
          </p:cNvSpPr>
          <p:nvPr/>
        </p:nvSpPr>
        <p:spPr>
          <a:xfrm>
            <a:off x="6324600" y="46101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Business case scope</a:t>
            </a:r>
          </a:p>
        </p:txBody>
      </p:sp>
      <p:sp>
        <p:nvSpPr>
          <p:cNvPr id="25" name="s8-copy-2">
            <a:extLst>
              <a:ext uri="{FF2B5EF4-FFF2-40B4-BE49-F238E27FC236}">
                <a16:creationId xmlns:a16="http://schemas.microsoft.com/office/drawing/2014/main" id="{86237F50-25D5-43DE-89D1-6073436DDD22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Zero Trust for machine identities, behavioral analytics, edge visibility and posture automation.</a:t>
            </a:r>
          </a:p>
        </p:txBody>
      </p:sp>
      <p:sp>
        <p:nvSpPr>
          <p:cNvPr id="26" name="s8-band-bottom">
            <a:extLst>
              <a:ext uri="{FF2B5EF4-FFF2-40B4-BE49-F238E27FC236}">
                <a16:creationId xmlns:a16="http://schemas.microsoft.com/office/drawing/2014/main" id="{08B54259-E924-421F-B4C5-45463613B65E}"/>
              </a:ext>
            </a:extLst>
          </p:cNvPr>
          <p:cNvSpPr>
            <a:spLocks noGrp="1"/>
          </p:cNvSpPr>
          <p:nvPr/>
        </p:nvSpPr>
        <p:spPr>
          <a:xfrm>
            <a:off x="552450" y="5962650"/>
            <a:ext cx="10991850" cy="495300"/>
          </a:xfrm>
          <a:prstGeom prst="roundRect">
            <a:avLst>
              <a:gd name="adj" fmla="val 15385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8-bottom">
            <a:extLst>
              <a:ext uri="{FF2B5EF4-FFF2-40B4-BE49-F238E27FC236}">
                <a16:creationId xmlns:a16="http://schemas.microsoft.com/office/drawing/2014/main" id="{987FA7BF-395B-464F-83DF-2CE6D5315D9A}"/>
              </a:ext>
            </a:extLst>
          </p:cNvPr>
          <p:cNvSpPr>
            <a:spLocks noGrp="1"/>
          </p:cNvSpPr>
          <p:nvPr/>
        </p:nvSpPr>
        <p:spPr>
          <a:xfrm>
            <a:off x="857250" y="609600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F8A55"/>
                </a:solidFill>
              </a:defRPr>
            </a:pPr>
            <a:r>
              <a:rPr sz="1275" b="1">
                <a:solidFill>
                  <a:srgbClr val="1F8A55"/>
                </a:solidFill>
              </a:rPr>
              <a:t>Verified internal figures turn this cost frame into a decision-ready reinvestment case.</a:t>
            </a:r>
          </a:p>
        </p:txBody>
      </p:sp>
    </p:spTree>
    <p:extLst>
      <p:ext uri="{BB962C8B-B14F-4D97-AF65-F5344CB8AC3E}">
        <p14:creationId xmlns:p14="http://schemas.microsoft.com/office/powerpoint/2010/main" val="75846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9-top">
            <a:extLst>
              <a:ext uri="{FF2B5EF4-FFF2-40B4-BE49-F238E27FC236}">
                <a16:creationId xmlns:a16="http://schemas.microsoft.com/office/drawing/2014/main" id="{26EB54D8-D043-477A-9FC8-80EA6315C2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9-eyebrow">
            <a:extLst>
              <a:ext uri="{FF2B5EF4-FFF2-40B4-BE49-F238E27FC236}">
                <a16:creationId xmlns:a16="http://schemas.microsoft.com/office/drawing/2014/main" id="{FF40D00D-47BA-4B78-A659-D1D765EAB0A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9</a:t>
            </a:r>
          </a:p>
        </p:txBody>
      </p:sp>
      <p:sp>
        <p:nvSpPr>
          <p:cNvPr id="3" name="s9-title">
            <a:extLst>
              <a:ext uri="{FF2B5EF4-FFF2-40B4-BE49-F238E27FC236}">
                <a16:creationId xmlns:a16="http://schemas.microsoft.com/office/drawing/2014/main" id="{3BFB1695-5E3C-4D8F-AA61-1FC046D7F49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Prospective Vision</a:t>
            </a:r>
          </a:p>
        </p:txBody>
      </p:sp>
      <p:sp>
        <p:nvSpPr>
          <p:cNvPr id="4" name="s9-subtitle">
            <a:extLst>
              <a:ext uri="{FF2B5EF4-FFF2-40B4-BE49-F238E27FC236}">
                <a16:creationId xmlns:a16="http://schemas.microsoft.com/office/drawing/2014/main" id="{4BF3C79D-9CBC-4AC6-A05B-E65704C44C7A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The Escalation of Offensive AI: what is coming in the next 12-18 months</a:t>
            </a:r>
          </a:p>
        </p:txBody>
      </p:sp>
      <p:sp>
        <p:nvSpPr>
          <p:cNvPr id="5" name="s9-frame">
            <a:extLst>
              <a:ext uri="{FF2B5EF4-FFF2-40B4-BE49-F238E27FC236}">
                <a16:creationId xmlns:a16="http://schemas.microsoft.com/office/drawing/2014/main" id="{F6536877-01B8-40ED-82E6-26DA2CE7DF90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0991850" cy="552450"/>
          </a:xfrm>
          <a:prstGeom prst="roundRect">
            <a:avLst>
              <a:gd name="adj" fmla="val 13793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9-frame-text">
            <a:extLst>
              <a:ext uri="{FF2B5EF4-FFF2-40B4-BE49-F238E27FC236}">
                <a16:creationId xmlns:a16="http://schemas.microsoft.com/office/drawing/2014/main" id="{1530A49E-BD7F-4890-A7A5-FF3003627486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8A55"/>
                </a:solidFill>
              </a:defRPr>
            </a:pPr>
            <a:r>
              <a:rPr sz="1350" b="1">
                <a:solidFill>
                  <a:srgbClr val="1F8A55"/>
                </a:solidFill>
              </a:rPr>
              <a:t>AI does not invent new attack categories. It removes the human bottleneck from existing ones.</a:t>
            </a:r>
          </a:p>
        </p:txBody>
      </p:sp>
      <p:sp>
        <p:nvSpPr>
          <p:cNvPr id="7" name="ai-1">
            <a:extLst>
              <a:ext uri="{FF2B5EF4-FFF2-40B4-BE49-F238E27FC236}">
                <a16:creationId xmlns:a16="http://schemas.microsoft.com/office/drawing/2014/main" id="{F8E16C4D-F504-4EA4-A2DB-AFA89CE7BD4D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10477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ai-1-rule">
            <a:extLst>
              <a:ext uri="{FF2B5EF4-FFF2-40B4-BE49-F238E27FC236}">
                <a16:creationId xmlns:a16="http://schemas.microsoft.com/office/drawing/2014/main" id="{927C5099-71CC-4032-99D5-AE887A138613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76200" cy="11239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ai-1-num">
            <a:extLst>
              <a:ext uri="{FF2B5EF4-FFF2-40B4-BE49-F238E27FC236}">
                <a16:creationId xmlns:a16="http://schemas.microsoft.com/office/drawing/2014/main" id="{13BA5179-B0E3-44F6-BDE9-299D2359C7BA}"/>
              </a:ext>
            </a:extLst>
          </p:cNvPr>
          <p:cNvSpPr>
            <a:spLocks noGrp="1"/>
          </p:cNvSpPr>
          <p:nvPr/>
        </p:nvSpPr>
        <p:spPr>
          <a:xfrm>
            <a:off x="1143000" y="2609850"/>
            <a:ext cx="476250" cy="47625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ai-1-num-text">
            <a:extLst>
              <a:ext uri="{FF2B5EF4-FFF2-40B4-BE49-F238E27FC236}">
                <a16:creationId xmlns:a16="http://schemas.microsoft.com/office/drawing/2014/main" id="{04ADCFE1-FED0-4F0C-85B9-B8C6CFF8CF80}"/>
              </a:ext>
            </a:extLst>
          </p:cNvPr>
          <p:cNvSpPr>
            <a:spLocks noGrp="1"/>
          </p:cNvSpPr>
          <p:nvPr/>
        </p:nvSpPr>
        <p:spPr>
          <a:xfrm>
            <a:off x="1143000" y="27241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ai-1-title">
            <a:extLst>
              <a:ext uri="{FF2B5EF4-FFF2-40B4-BE49-F238E27FC236}">
                <a16:creationId xmlns:a16="http://schemas.microsoft.com/office/drawing/2014/main" id="{FC731E94-B6F6-4B5D-885C-B2A964F86B08}"/>
              </a:ext>
            </a:extLst>
          </p:cNvPr>
          <p:cNvSpPr>
            <a:spLocks noGrp="1"/>
          </p:cNvSpPr>
          <p:nvPr/>
        </p:nvSpPr>
        <p:spPr>
          <a:xfrm>
            <a:off x="1809750" y="25527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Automated spear-phishing</a:t>
            </a:r>
          </a:p>
        </p:txBody>
      </p:sp>
      <p:sp>
        <p:nvSpPr>
          <p:cNvPr id="12" name="ai-1-cap">
            <a:extLst>
              <a:ext uri="{FF2B5EF4-FFF2-40B4-BE49-F238E27FC236}">
                <a16:creationId xmlns:a16="http://schemas.microsoft.com/office/drawing/2014/main" id="{B55B6A52-D0ED-4122-BF78-A0869BE62F5E}"/>
              </a:ext>
            </a:extLst>
          </p:cNvPr>
          <p:cNvSpPr>
            <a:spLocks noGrp="1"/>
          </p:cNvSpPr>
          <p:nvPr/>
        </p:nvSpPr>
        <p:spPr>
          <a:xfrm>
            <a:off x="1809750" y="28575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Flawless, role-specific lures at scale, in any language and context.</a:t>
            </a:r>
          </a:p>
        </p:txBody>
      </p:sp>
      <p:sp>
        <p:nvSpPr>
          <p:cNvPr id="13" name="ai-1-box">
            <a:extLst>
              <a:ext uri="{FF2B5EF4-FFF2-40B4-BE49-F238E27FC236}">
                <a16:creationId xmlns:a16="http://schemas.microsoft.com/office/drawing/2014/main" id="{A95E4671-814D-473B-90C1-7342BDCC84A5}"/>
              </a:ext>
            </a:extLst>
          </p:cNvPr>
          <p:cNvSpPr>
            <a:spLocks noGrp="1"/>
          </p:cNvSpPr>
          <p:nvPr/>
        </p:nvSpPr>
        <p:spPr>
          <a:xfrm>
            <a:off x="6572250" y="2571750"/>
            <a:ext cx="4191000" cy="647700"/>
          </a:xfrm>
          <a:prstGeom prst="roundRect">
            <a:avLst>
              <a:gd name="adj" fmla="val 11765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ai-1-consequence">
            <a:extLst>
              <a:ext uri="{FF2B5EF4-FFF2-40B4-BE49-F238E27FC236}">
                <a16:creationId xmlns:a16="http://schemas.microsoft.com/office/drawing/2014/main" id="{6B428313-0D9B-4F56-9000-FF1EEE74D487}"/>
              </a:ext>
            </a:extLst>
          </p:cNvPr>
          <p:cNvSpPr>
            <a:spLocks noGrp="1"/>
          </p:cNvSpPr>
          <p:nvPr/>
        </p:nvSpPr>
        <p:spPr>
          <a:xfrm>
            <a:off x="6762750" y="2705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Training shifts from spotting red flags to verifying requests.</a:t>
            </a:r>
          </a:p>
        </p:txBody>
      </p:sp>
      <p:sp>
        <p:nvSpPr>
          <p:cNvPr id="15" name="ai-2">
            <a:extLst>
              <a:ext uri="{FF2B5EF4-FFF2-40B4-BE49-F238E27FC236}">
                <a16:creationId xmlns:a16="http://schemas.microsoft.com/office/drawing/2014/main" id="{97B7ED48-E188-4AC1-ADDD-D5FDFE5D631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0477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ai-2-rule">
            <a:extLst>
              <a:ext uri="{FF2B5EF4-FFF2-40B4-BE49-F238E27FC236}">
                <a16:creationId xmlns:a16="http://schemas.microsoft.com/office/drawing/2014/main" id="{355230BD-29B6-48F6-A409-994B4BA5A3BD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76200" cy="11239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ai-2-num">
            <a:extLst>
              <a:ext uri="{FF2B5EF4-FFF2-40B4-BE49-F238E27FC236}">
                <a16:creationId xmlns:a16="http://schemas.microsoft.com/office/drawing/2014/main" id="{319920D0-011E-44A1-A039-A54F40C9B7A2}"/>
              </a:ext>
            </a:extLst>
          </p:cNvPr>
          <p:cNvSpPr>
            <a:spLocks noGrp="1"/>
          </p:cNvSpPr>
          <p:nvPr/>
        </p:nvSpPr>
        <p:spPr>
          <a:xfrm>
            <a:off x="1143000" y="3867150"/>
            <a:ext cx="476250" cy="47625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ai-2-num-text">
            <a:extLst>
              <a:ext uri="{FF2B5EF4-FFF2-40B4-BE49-F238E27FC236}">
                <a16:creationId xmlns:a16="http://schemas.microsoft.com/office/drawing/2014/main" id="{A1299643-8CE1-4B84-8196-4B97D40EA469}"/>
              </a:ext>
            </a:extLst>
          </p:cNvPr>
          <p:cNvSpPr>
            <a:spLocks noGrp="1"/>
          </p:cNvSpPr>
          <p:nvPr/>
        </p:nvSpPr>
        <p:spPr>
          <a:xfrm>
            <a:off x="1143000" y="39814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ai-2-title">
            <a:extLst>
              <a:ext uri="{FF2B5EF4-FFF2-40B4-BE49-F238E27FC236}">
                <a16:creationId xmlns:a16="http://schemas.microsoft.com/office/drawing/2014/main" id="{03D5F51B-CD9F-4CA1-BEE4-C56016531CC5}"/>
              </a:ext>
            </a:extLst>
          </p:cNvPr>
          <p:cNvSpPr>
            <a:spLocks noGrp="1"/>
          </p:cNvSpPr>
          <p:nvPr/>
        </p:nvSpPr>
        <p:spPr>
          <a:xfrm>
            <a:off x="1809750" y="38100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Autonomous malware agents</a:t>
            </a:r>
          </a:p>
        </p:txBody>
      </p:sp>
      <p:sp>
        <p:nvSpPr>
          <p:cNvPr id="20" name="ai-2-cap">
            <a:extLst>
              <a:ext uri="{FF2B5EF4-FFF2-40B4-BE49-F238E27FC236}">
                <a16:creationId xmlns:a16="http://schemas.microsoft.com/office/drawing/2014/main" id="{EEC9E46C-E09E-490E-89CE-49C5618942B9}"/>
              </a:ext>
            </a:extLst>
          </p:cNvPr>
          <p:cNvSpPr>
            <a:spLocks noGrp="1"/>
          </p:cNvSpPr>
          <p:nvPr/>
        </p:nvSpPr>
        <p:spPr>
          <a:xfrm>
            <a:off x="1809750" y="41148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Payloads adapt tactics as they encounter controls and environments.</a:t>
            </a:r>
          </a:p>
        </p:txBody>
      </p:sp>
      <p:sp>
        <p:nvSpPr>
          <p:cNvPr id="21" name="ai-2-box">
            <a:extLst>
              <a:ext uri="{FF2B5EF4-FFF2-40B4-BE49-F238E27FC236}">
                <a16:creationId xmlns:a16="http://schemas.microsoft.com/office/drawing/2014/main" id="{952A3C41-6545-4840-B9FB-53207252C3EE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4191000" cy="647700"/>
          </a:xfrm>
          <a:prstGeom prst="roundRect">
            <a:avLst>
              <a:gd name="adj" fmla="val 11765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ai-2-consequence">
            <a:extLst>
              <a:ext uri="{FF2B5EF4-FFF2-40B4-BE49-F238E27FC236}">
                <a16:creationId xmlns:a16="http://schemas.microsoft.com/office/drawing/2014/main" id="{8DC474EE-44EF-4FA4-8BF9-8156B086A3B9}"/>
              </a:ext>
            </a:extLst>
          </p:cNvPr>
          <p:cNvSpPr>
            <a:spLocks noGrp="1"/>
          </p:cNvSpPr>
          <p:nvPr/>
        </p:nvSpPr>
        <p:spPr>
          <a:xfrm>
            <a:off x="6762750" y="39624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Response windows compress from hours to minutes.</a:t>
            </a:r>
          </a:p>
        </p:txBody>
      </p:sp>
      <p:sp>
        <p:nvSpPr>
          <p:cNvPr id="23" name="ai-3">
            <a:extLst>
              <a:ext uri="{FF2B5EF4-FFF2-40B4-BE49-F238E27FC236}">
                <a16:creationId xmlns:a16="http://schemas.microsoft.com/office/drawing/2014/main" id="{3F5C9DAB-77D0-47AB-85C6-6C41E33E20B2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10477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ai-3-rule">
            <a:extLst>
              <a:ext uri="{FF2B5EF4-FFF2-40B4-BE49-F238E27FC236}">
                <a16:creationId xmlns:a16="http://schemas.microsoft.com/office/drawing/2014/main" id="{11FDFE35-C9E2-497F-B251-A6C63D10E785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76200" cy="1123950"/>
          </a:xfrm>
          <a:prstGeom prst="rect">
            <a:avLst/>
          </a:prstGeom>
          <a:solidFill>
            <a:srgbClr val="6B5BFF"/>
          </a:solidFill>
          <a:ln w="0">
            <a:solidFill>
              <a:srgbClr val="6B5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ai-3-num">
            <a:extLst>
              <a:ext uri="{FF2B5EF4-FFF2-40B4-BE49-F238E27FC236}">
                <a16:creationId xmlns:a16="http://schemas.microsoft.com/office/drawing/2014/main" id="{22ECC67F-8C44-4A2C-BB0A-A19DD346D1FE}"/>
              </a:ext>
            </a:extLst>
          </p:cNvPr>
          <p:cNvSpPr>
            <a:spLocks noGrp="1"/>
          </p:cNvSpPr>
          <p:nvPr/>
        </p:nvSpPr>
        <p:spPr>
          <a:xfrm>
            <a:off x="1143000" y="5124450"/>
            <a:ext cx="476250" cy="476250"/>
          </a:xfrm>
          <a:prstGeom prst="ellipse">
            <a:avLst/>
          </a:prstGeom>
          <a:solidFill>
            <a:srgbClr val="6B5B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ai-3-num-text">
            <a:extLst>
              <a:ext uri="{FF2B5EF4-FFF2-40B4-BE49-F238E27FC236}">
                <a16:creationId xmlns:a16="http://schemas.microsoft.com/office/drawing/2014/main" id="{6FD80A81-938E-4B93-8D06-06580AF65DE9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ai-3-title">
            <a:extLst>
              <a:ext uri="{FF2B5EF4-FFF2-40B4-BE49-F238E27FC236}">
                <a16:creationId xmlns:a16="http://schemas.microsoft.com/office/drawing/2014/main" id="{CAF8071D-3F4E-4C05-BE9E-9E8BE846CFAF}"/>
              </a:ext>
            </a:extLst>
          </p:cNvPr>
          <p:cNvSpPr>
            <a:spLocks noGrp="1"/>
          </p:cNvSpPr>
          <p:nvPr/>
        </p:nvSpPr>
        <p:spPr>
          <a:xfrm>
            <a:off x="1809750" y="50673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Deepfakes &amp; executive fraud</a:t>
            </a:r>
          </a:p>
        </p:txBody>
      </p:sp>
      <p:sp>
        <p:nvSpPr>
          <p:cNvPr id="28" name="ai-3-cap">
            <a:extLst>
              <a:ext uri="{FF2B5EF4-FFF2-40B4-BE49-F238E27FC236}">
                <a16:creationId xmlns:a16="http://schemas.microsoft.com/office/drawing/2014/main" id="{DA650DF5-D8A9-44BC-9C0C-D1914AEAB9BC}"/>
              </a:ext>
            </a:extLst>
          </p:cNvPr>
          <p:cNvSpPr>
            <a:spLocks noGrp="1"/>
          </p:cNvSpPr>
          <p:nvPr/>
        </p:nvSpPr>
        <p:spPr>
          <a:xfrm>
            <a:off x="1809750" y="53721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238"/>
                </a:solidFill>
              </a:defRPr>
            </a:pPr>
            <a:r>
              <a:rPr sz="1200">
                <a:solidFill>
                  <a:srgbClr val="263238"/>
                </a:solidFill>
              </a:rPr>
              <a:t>Voice and video cloning degrade trust in email, calls and meetings.</a:t>
            </a:r>
          </a:p>
        </p:txBody>
      </p:sp>
      <p:sp>
        <p:nvSpPr>
          <p:cNvPr id="29" name="ai-3-box">
            <a:extLst>
              <a:ext uri="{FF2B5EF4-FFF2-40B4-BE49-F238E27FC236}">
                <a16:creationId xmlns:a16="http://schemas.microsoft.com/office/drawing/2014/main" id="{96AC090E-5F5E-47CA-B62A-D0CE03B3160D}"/>
              </a:ext>
            </a:extLst>
          </p:cNvPr>
          <p:cNvSpPr>
            <a:spLocks noGrp="1"/>
          </p:cNvSpPr>
          <p:nvPr/>
        </p:nvSpPr>
        <p:spPr>
          <a:xfrm>
            <a:off x="6572250" y="5086350"/>
            <a:ext cx="4191000" cy="647700"/>
          </a:xfrm>
          <a:prstGeom prst="roundRect">
            <a:avLst>
              <a:gd name="adj" fmla="val 11765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ai-3-consequence">
            <a:extLst>
              <a:ext uri="{FF2B5EF4-FFF2-40B4-BE49-F238E27FC236}">
                <a16:creationId xmlns:a16="http://schemas.microsoft.com/office/drawing/2014/main" id="{48A41AA5-108F-4401-A5AC-E3918098F6D0}"/>
              </a:ext>
            </a:extLst>
          </p:cNvPr>
          <p:cNvSpPr>
            <a:spLocks noGrp="1"/>
          </p:cNvSpPr>
          <p:nvPr/>
        </p:nvSpPr>
        <p:spPr>
          <a:xfrm>
            <a:off x="6762750" y="52197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Sender identity is no longer a sufficient control.</a:t>
            </a:r>
          </a:p>
        </p:txBody>
      </p:sp>
    </p:spTree>
    <p:extLst>
      <p:ext uri="{BB962C8B-B14F-4D97-AF65-F5344CB8AC3E}">
        <p14:creationId xmlns:p14="http://schemas.microsoft.com/office/powerpoint/2010/main" val="1337510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10-top">
            <a:extLst>
              <a:ext uri="{FF2B5EF4-FFF2-40B4-BE49-F238E27FC236}">
                <a16:creationId xmlns:a16="http://schemas.microsoft.com/office/drawing/2014/main" id="{0C22F079-2561-480F-9CBE-F734CF6D66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10-eyebrow">
            <a:extLst>
              <a:ext uri="{FF2B5EF4-FFF2-40B4-BE49-F238E27FC236}">
                <a16:creationId xmlns:a16="http://schemas.microsoft.com/office/drawing/2014/main" id="{9A58B651-EA18-43B0-BFE4-299215702C0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55"/>
                </a:solidFill>
              </a:defRPr>
            </a:pPr>
            <a:r>
              <a:rPr sz="975" b="1">
                <a:solidFill>
                  <a:srgbClr val="1F8A55"/>
                </a:solidFill>
              </a:rPr>
              <a:t>SLIDE 10</a:t>
            </a:r>
          </a:p>
        </p:txBody>
      </p:sp>
      <p:sp>
        <p:nvSpPr>
          <p:cNvPr id="3" name="s10-title">
            <a:extLst>
              <a:ext uri="{FF2B5EF4-FFF2-40B4-BE49-F238E27FC236}">
                <a16:creationId xmlns:a16="http://schemas.microsoft.com/office/drawing/2014/main" id="{4DE470FB-F875-42D5-A8F7-22F3A7CCD28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Cyber Resilience First</a:t>
            </a:r>
          </a:p>
        </p:txBody>
      </p:sp>
      <p:sp>
        <p:nvSpPr>
          <p:cNvPr id="4" name="s10-subtitle">
            <a:extLst>
              <a:ext uri="{FF2B5EF4-FFF2-40B4-BE49-F238E27FC236}">
                <a16:creationId xmlns:a16="http://schemas.microsoft.com/office/drawing/2014/main" id="{E30B238D-E041-4678-9E1D-A838333EDA04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The 2026 priority: from prevention to survivability</a:t>
            </a:r>
          </a:p>
        </p:txBody>
      </p:sp>
      <p:sp>
        <p:nvSpPr>
          <p:cNvPr id="5" name="s10-frame">
            <a:extLst>
              <a:ext uri="{FF2B5EF4-FFF2-40B4-BE49-F238E27FC236}">
                <a16:creationId xmlns:a16="http://schemas.microsoft.com/office/drawing/2014/main" id="{FBB6CD8B-5A51-45B1-BA4B-64533320E9BB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0991850" cy="685800"/>
          </a:xfrm>
          <a:prstGeom prst="roundRect">
            <a:avLst>
              <a:gd name="adj" fmla="val 11111"/>
            </a:avLst>
          </a:prstGeom>
          <a:solidFill>
            <a:srgbClr val="F4FBF7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10-frame-text">
            <a:extLst>
              <a:ext uri="{FF2B5EF4-FFF2-40B4-BE49-F238E27FC236}">
                <a16:creationId xmlns:a16="http://schemas.microsoft.com/office/drawing/2014/main" id="{D977DC31-36A1-4FC7-B41D-B2EE1D3235D1}"/>
              </a:ext>
            </a:extLst>
          </p:cNvPr>
          <p:cNvSpPr>
            <a:spLocks noGrp="1"/>
          </p:cNvSpPr>
          <p:nvPr/>
        </p:nvSpPr>
        <p:spPr>
          <a:xfrm>
            <a:off x="857250" y="167640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F8A55"/>
                </a:solidFill>
              </a:defRPr>
            </a:pPr>
            <a:r>
              <a:rPr sz="1425" b="1">
                <a:solidFill>
                  <a:srgbClr val="1F8A55"/>
                </a:solidFill>
              </a:rPr>
              <a:t>Pure prevention is no longer sufficient against nation-state threats with time, resources and patience.</a:t>
            </a:r>
          </a:p>
        </p:txBody>
      </p:sp>
      <p:sp>
        <p:nvSpPr>
          <p:cNvPr id="7" name="pillar-1">
            <a:extLst>
              <a:ext uri="{FF2B5EF4-FFF2-40B4-BE49-F238E27FC236}">
                <a16:creationId xmlns:a16="http://schemas.microsoft.com/office/drawing/2014/main" id="{9B423DAE-88EE-4953-B4E8-126244B706D1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pillar-1-rule">
            <a:extLst>
              <a:ext uri="{FF2B5EF4-FFF2-40B4-BE49-F238E27FC236}">
                <a16:creationId xmlns:a16="http://schemas.microsoft.com/office/drawing/2014/main" id="{AA5A105F-2550-4511-8188-25BF9CEC816F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76200" cy="2381250"/>
          </a:xfrm>
          <a:prstGeom prst="rect">
            <a:avLst/>
          </a:prstGeom>
          <a:solidFill>
            <a:srgbClr val="50C878"/>
          </a:solidFill>
          <a:ln w="0">
            <a:solidFill>
              <a:srgbClr val="50C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pillar-1-num">
            <a:extLst>
              <a:ext uri="{FF2B5EF4-FFF2-40B4-BE49-F238E27FC236}">
                <a16:creationId xmlns:a16="http://schemas.microsoft.com/office/drawing/2014/main" id="{E8613F9A-1FD8-46B9-9C83-FF5681E1E133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419100" cy="4191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pillar-1-num-text">
            <a:extLst>
              <a:ext uri="{FF2B5EF4-FFF2-40B4-BE49-F238E27FC236}">
                <a16:creationId xmlns:a16="http://schemas.microsoft.com/office/drawing/2014/main" id="{223ABBE6-539C-4790-B8FF-89D26D3C904D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pillar-1-title">
            <a:extLst>
              <a:ext uri="{FF2B5EF4-FFF2-40B4-BE49-F238E27FC236}">
                <a16:creationId xmlns:a16="http://schemas.microsoft.com/office/drawing/2014/main" id="{B0E59D63-7314-4480-B62B-9DC2C8EDC030}"/>
              </a:ext>
            </a:extLst>
          </p:cNvPr>
          <p:cNvSpPr>
            <a:spLocks noGrp="1"/>
          </p:cNvSpPr>
          <p:nvPr/>
        </p:nvSpPr>
        <p:spPr>
          <a:xfrm>
            <a:off x="1352550" y="26860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Radical Zero Trust</a:t>
            </a:r>
          </a:p>
        </p:txBody>
      </p:sp>
      <p:sp>
        <p:nvSpPr>
          <p:cNvPr id="12" name="pillar-1-sub">
            <a:extLst>
              <a:ext uri="{FF2B5EF4-FFF2-40B4-BE49-F238E27FC236}">
                <a16:creationId xmlns:a16="http://schemas.microsoft.com/office/drawing/2014/main" id="{0BD65E1E-1589-466B-B1C0-AA2725FC9CD4}"/>
              </a:ext>
            </a:extLst>
          </p:cNvPr>
          <p:cNvSpPr>
            <a:spLocks noGrp="1"/>
          </p:cNvSpPr>
          <p:nvPr/>
        </p:nvSpPr>
        <p:spPr>
          <a:xfrm>
            <a:off x="1352550" y="2990850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0C878"/>
                </a:solidFill>
              </a:defRPr>
            </a:pPr>
            <a:r>
              <a:rPr sz="1125" b="1">
                <a:solidFill>
                  <a:srgbClr val="50C878"/>
                </a:solidFill>
              </a:rPr>
              <a:t>Human and machine identity</a:t>
            </a:r>
          </a:p>
        </p:txBody>
      </p:sp>
      <p:sp>
        <p:nvSpPr>
          <p:cNvPr id="13" name="pillar-1-dot-0">
            <a:extLst>
              <a:ext uri="{FF2B5EF4-FFF2-40B4-BE49-F238E27FC236}">
                <a16:creationId xmlns:a16="http://schemas.microsoft.com/office/drawing/2014/main" id="{4210635D-8087-431F-A869-971CC803C426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76200" cy="762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pillar-1-b-0">
            <a:extLst>
              <a:ext uri="{FF2B5EF4-FFF2-40B4-BE49-F238E27FC236}">
                <a16:creationId xmlns:a16="http://schemas.microsoft.com/office/drawing/2014/main" id="{45C901CE-C14E-42DE-904D-E3C5B1C05C35}"/>
              </a:ext>
            </a:extLst>
          </p:cNvPr>
          <p:cNvSpPr>
            <a:spLocks noGrp="1"/>
          </p:cNvSpPr>
          <p:nvPr/>
        </p:nvSpPr>
        <p:spPr>
          <a:xfrm>
            <a:off x="1028700" y="347662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NHI discovery and governance</a:t>
            </a:r>
          </a:p>
        </p:txBody>
      </p:sp>
      <p:sp>
        <p:nvSpPr>
          <p:cNvPr id="15" name="pillar-1-dot-1">
            <a:extLst>
              <a:ext uri="{FF2B5EF4-FFF2-40B4-BE49-F238E27FC236}">
                <a16:creationId xmlns:a16="http://schemas.microsoft.com/office/drawing/2014/main" id="{6D51D65F-A4FB-4C24-A39D-6B931DE6803E}"/>
              </a:ext>
            </a:extLst>
          </p:cNvPr>
          <p:cNvSpPr>
            <a:spLocks noGrp="1"/>
          </p:cNvSpPr>
          <p:nvPr/>
        </p:nvSpPr>
        <p:spPr>
          <a:xfrm>
            <a:off x="876300" y="3886200"/>
            <a:ext cx="76200" cy="762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pillar-1-b-1">
            <a:extLst>
              <a:ext uri="{FF2B5EF4-FFF2-40B4-BE49-F238E27FC236}">
                <a16:creationId xmlns:a16="http://schemas.microsoft.com/office/drawing/2014/main" id="{BA80B4AC-8440-4F24-A661-491FFD4BD60F}"/>
              </a:ext>
            </a:extLst>
          </p:cNvPr>
          <p:cNvSpPr>
            <a:spLocks noGrp="1"/>
          </p:cNvSpPr>
          <p:nvPr/>
        </p:nvSpPr>
        <p:spPr>
          <a:xfrm>
            <a:off x="1028700" y="380047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Zero Trust for service accounts</a:t>
            </a:r>
          </a:p>
        </p:txBody>
      </p:sp>
      <p:sp>
        <p:nvSpPr>
          <p:cNvPr id="17" name="pillar-1-dot-2">
            <a:extLst>
              <a:ext uri="{FF2B5EF4-FFF2-40B4-BE49-F238E27FC236}">
                <a16:creationId xmlns:a16="http://schemas.microsoft.com/office/drawing/2014/main" id="{EC7E1AD8-2E54-4F54-9165-634AD97150B8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76200" cy="76200"/>
          </a:xfrm>
          <a:prstGeom prst="ellipse">
            <a:avLst/>
          </a:prstGeom>
          <a:solidFill>
            <a:srgbClr val="50C8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pillar-1-b-2">
            <a:extLst>
              <a:ext uri="{FF2B5EF4-FFF2-40B4-BE49-F238E27FC236}">
                <a16:creationId xmlns:a16="http://schemas.microsoft.com/office/drawing/2014/main" id="{82B10628-5D55-441F-8499-730EF5109050}"/>
              </a:ext>
            </a:extLst>
          </p:cNvPr>
          <p:cNvSpPr>
            <a:spLocks noGrp="1"/>
          </p:cNvSpPr>
          <p:nvPr/>
        </p:nvSpPr>
        <p:spPr>
          <a:xfrm>
            <a:off x="1028700" y="412432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Identity threat detection</a:t>
            </a:r>
          </a:p>
        </p:txBody>
      </p:sp>
      <p:sp>
        <p:nvSpPr>
          <p:cNvPr id="19" name="pillar-2">
            <a:extLst>
              <a:ext uri="{FF2B5EF4-FFF2-40B4-BE49-F238E27FC236}">
                <a16:creationId xmlns:a16="http://schemas.microsoft.com/office/drawing/2014/main" id="{1BBA92DF-4FEC-48EB-8756-1934C25726E5}"/>
              </a:ext>
            </a:extLst>
          </p:cNvPr>
          <p:cNvSpPr>
            <a:spLocks noGrp="1"/>
          </p:cNvSpPr>
          <p:nvPr/>
        </p:nvSpPr>
        <p:spPr>
          <a:xfrm>
            <a:off x="4381500" y="251460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pillar-2-rule">
            <a:extLst>
              <a:ext uri="{FF2B5EF4-FFF2-40B4-BE49-F238E27FC236}">
                <a16:creationId xmlns:a16="http://schemas.microsoft.com/office/drawing/2014/main" id="{4E9FFF20-BE72-4C52-BF72-4856378995FE}"/>
              </a:ext>
            </a:extLst>
          </p:cNvPr>
          <p:cNvSpPr>
            <a:spLocks noGrp="1"/>
          </p:cNvSpPr>
          <p:nvPr/>
        </p:nvSpPr>
        <p:spPr>
          <a:xfrm>
            <a:off x="4381500" y="2514600"/>
            <a:ext cx="76200" cy="2381250"/>
          </a:xfrm>
          <a:prstGeom prst="rect">
            <a:avLst/>
          </a:prstGeom>
          <a:solidFill>
            <a:srgbClr val="28A6A1"/>
          </a:solidFill>
          <a:ln w="0">
            <a:solidFill>
              <a:srgbClr val="28A6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pillar-2-num">
            <a:extLst>
              <a:ext uri="{FF2B5EF4-FFF2-40B4-BE49-F238E27FC236}">
                <a16:creationId xmlns:a16="http://schemas.microsoft.com/office/drawing/2014/main" id="{F0E16464-5EE8-44E9-8638-651B24FE9A51}"/>
              </a:ext>
            </a:extLst>
          </p:cNvPr>
          <p:cNvSpPr>
            <a:spLocks noGrp="1"/>
          </p:cNvSpPr>
          <p:nvPr/>
        </p:nvSpPr>
        <p:spPr>
          <a:xfrm>
            <a:off x="4610100" y="2724150"/>
            <a:ext cx="419100" cy="41910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pillar-2-num-text">
            <a:extLst>
              <a:ext uri="{FF2B5EF4-FFF2-40B4-BE49-F238E27FC236}">
                <a16:creationId xmlns:a16="http://schemas.microsoft.com/office/drawing/2014/main" id="{71E30F6C-C3B0-4994-A6FE-831B3608DABD}"/>
              </a:ext>
            </a:extLst>
          </p:cNvPr>
          <p:cNvSpPr>
            <a:spLocks noGrp="1"/>
          </p:cNvSpPr>
          <p:nvPr/>
        </p:nvSpPr>
        <p:spPr>
          <a:xfrm>
            <a:off x="4610100" y="28194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pillar-2-title">
            <a:extLst>
              <a:ext uri="{FF2B5EF4-FFF2-40B4-BE49-F238E27FC236}">
                <a16:creationId xmlns:a16="http://schemas.microsoft.com/office/drawing/2014/main" id="{465CBFEF-DAD0-4374-BF38-48F5C6CA032F}"/>
              </a:ext>
            </a:extLst>
          </p:cNvPr>
          <p:cNvSpPr>
            <a:spLocks noGrp="1"/>
          </p:cNvSpPr>
          <p:nvPr/>
        </p:nvSpPr>
        <p:spPr>
          <a:xfrm>
            <a:off x="5181600" y="26860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Automated Posture</a:t>
            </a:r>
          </a:p>
        </p:txBody>
      </p:sp>
      <p:sp>
        <p:nvSpPr>
          <p:cNvPr id="24" name="pillar-2-sub">
            <a:extLst>
              <a:ext uri="{FF2B5EF4-FFF2-40B4-BE49-F238E27FC236}">
                <a16:creationId xmlns:a16="http://schemas.microsoft.com/office/drawing/2014/main" id="{51EB611F-A44B-4C49-A381-63FBEF23FC3E}"/>
              </a:ext>
            </a:extLst>
          </p:cNvPr>
          <p:cNvSpPr>
            <a:spLocks noGrp="1"/>
          </p:cNvSpPr>
          <p:nvPr/>
        </p:nvSpPr>
        <p:spPr>
          <a:xfrm>
            <a:off x="5181600" y="2990850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8A6A1"/>
                </a:solidFill>
              </a:defRPr>
            </a:pPr>
            <a:r>
              <a:rPr sz="1125" b="1">
                <a:solidFill>
                  <a:srgbClr val="28A6A1"/>
                </a:solidFill>
              </a:rPr>
              <a:t>Machine-speed response</a:t>
            </a:r>
          </a:p>
        </p:txBody>
      </p:sp>
      <p:sp>
        <p:nvSpPr>
          <p:cNvPr id="25" name="pillar-2-dot-0">
            <a:extLst>
              <a:ext uri="{FF2B5EF4-FFF2-40B4-BE49-F238E27FC236}">
                <a16:creationId xmlns:a16="http://schemas.microsoft.com/office/drawing/2014/main" id="{DFB0114D-52D8-405D-BBDD-4BBF04B7C7F3}"/>
              </a:ext>
            </a:extLst>
          </p:cNvPr>
          <p:cNvSpPr>
            <a:spLocks noGrp="1"/>
          </p:cNvSpPr>
          <p:nvPr/>
        </p:nvSpPr>
        <p:spPr>
          <a:xfrm>
            <a:off x="4705350" y="3562350"/>
            <a:ext cx="76200" cy="7620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pillar-2-b-0">
            <a:extLst>
              <a:ext uri="{FF2B5EF4-FFF2-40B4-BE49-F238E27FC236}">
                <a16:creationId xmlns:a16="http://schemas.microsoft.com/office/drawing/2014/main" id="{10B0F5F7-3D9C-4726-8FCE-708E8F39BE01}"/>
              </a:ext>
            </a:extLst>
          </p:cNvPr>
          <p:cNvSpPr>
            <a:spLocks noGrp="1"/>
          </p:cNvSpPr>
          <p:nvPr/>
        </p:nvSpPr>
        <p:spPr>
          <a:xfrm>
            <a:off x="4857750" y="347662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SOAR and auto-remediation</a:t>
            </a:r>
          </a:p>
        </p:txBody>
      </p:sp>
      <p:sp>
        <p:nvSpPr>
          <p:cNvPr id="27" name="pillar-2-dot-1">
            <a:extLst>
              <a:ext uri="{FF2B5EF4-FFF2-40B4-BE49-F238E27FC236}">
                <a16:creationId xmlns:a16="http://schemas.microsoft.com/office/drawing/2014/main" id="{B2ECBEBF-D9F1-43B1-AC21-C5A8B54B9AFD}"/>
              </a:ext>
            </a:extLst>
          </p:cNvPr>
          <p:cNvSpPr>
            <a:spLocks noGrp="1"/>
          </p:cNvSpPr>
          <p:nvPr/>
        </p:nvSpPr>
        <p:spPr>
          <a:xfrm>
            <a:off x="4705350" y="3886200"/>
            <a:ext cx="76200" cy="7620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pillar-2-b-1">
            <a:extLst>
              <a:ext uri="{FF2B5EF4-FFF2-40B4-BE49-F238E27FC236}">
                <a16:creationId xmlns:a16="http://schemas.microsoft.com/office/drawing/2014/main" id="{37417164-CBA4-47D5-B871-6962DDCA3652}"/>
              </a:ext>
            </a:extLst>
          </p:cNvPr>
          <p:cNvSpPr>
            <a:spLocks noGrp="1"/>
          </p:cNvSpPr>
          <p:nvPr/>
        </p:nvSpPr>
        <p:spPr>
          <a:xfrm>
            <a:off x="4857750" y="380047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Continuous posture monitoring</a:t>
            </a:r>
          </a:p>
        </p:txBody>
      </p:sp>
      <p:sp>
        <p:nvSpPr>
          <p:cNvPr id="29" name="pillar-2-dot-2">
            <a:extLst>
              <a:ext uri="{FF2B5EF4-FFF2-40B4-BE49-F238E27FC236}">
                <a16:creationId xmlns:a16="http://schemas.microsoft.com/office/drawing/2014/main" id="{D93A346A-F291-4451-9DF9-9E0DF5BCC9DD}"/>
              </a:ext>
            </a:extLst>
          </p:cNvPr>
          <p:cNvSpPr>
            <a:spLocks noGrp="1"/>
          </p:cNvSpPr>
          <p:nvPr/>
        </p:nvSpPr>
        <p:spPr>
          <a:xfrm>
            <a:off x="4705350" y="4210050"/>
            <a:ext cx="76200" cy="76200"/>
          </a:xfrm>
          <a:prstGeom prst="ellipse">
            <a:avLst/>
          </a:prstGeom>
          <a:solidFill>
            <a:srgbClr val="28A6A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pillar-2-b-2">
            <a:extLst>
              <a:ext uri="{FF2B5EF4-FFF2-40B4-BE49-F238E27FC236}">
                <a16:creationId xmlns:a16="http://schemas.microsoft.com/office/drawing/2014/main" id="{C1D94E1A-402F-4E9E-8211-7618291DCD85}"/>
              </a:ext>
            </a:extLst>
          </p:cNvPr>
          <p:cNvSpPr>
            <a:spLocks noGrp="1"/>
          </p:cNvSpPr>
          <p:nvPr/>
        </p:nvSpPr>
        <p:spPr>
          <a:xfrm>
            <a:off x="4857750" y="412432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Edge and supply-chain visibility</a:t>
            </a:r>
          </a:p>
        </p:txBody>
      </p:sp>
      <p:sp>
        <p:nvSpPr>
          <p:cNvPr id="31" name="pillar-3">
            <a:extLst>
              <a:ext uri="{FF2B5EF4-FFF2-40B4-BE49-F238E27FC236}">
                <a16:creationId xmlns:a16="http://schemas.microsoft.com/office/drawing/2014/main" id="{48672D94-D60B-4856-A4D5-1C8172545562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pillar-3-rule">
            <a:extLst>
              <a:ext uri="{FF2B5EF4-FFF2-40B4-BE49-F238E27FC236}">
                <a16:creationId xmlns:a16="http://schemas.microsoft.com/office/drawing/2014/main" id="{3F416A16-BD23-4C1C-B837-414F43181606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76200" cy="2381250"/>
          </a:xfrm>
          <a:prstGeom prst="rect">
            <a:avLst/>
          </a:prstGeom>
          <a:solidFill>
            <a:srgbClr val="6B5BFF"/>
          </a:solidFill>
          <a:ln w="0">
            <a:solidFill>
              <a:srgbClr val="6B5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pillar-3-num">
            <a:extLst>
              <a:ext uri="{FF2B5EF4-FFF2-40B4-BE49-F238E27FC236}">
                <a16:creationId xmlns:a16="http://schemas.microsoft.com/office/drawing/2014/main" id="{749E794B-4A7A-4546-9758-D98180C62A9A}"/>
              </a:ext>
            </a:extLst>
          </p:cNvPr>
          <p:cNvSpPr>
            <a:spLocks noGrp="1"/>
          </p:cNvSpPr>
          <p:nvPr/>
        </p:nvSpPr>
        <p:spPr>
          <a:xfrm>
            <a:off x="8439150" y="2724150"/>
            <a:ext cx="419100" cy="419100"/>
          </a:xfrm>
          <a:prstGeom prst="ellipse">
            <a:avLst/>
          </a:prstGeom>
          <a:solidFill>
            <a:srgbClr val="6B5B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pillar-3-num-text">
            <a:extLst>
              <a:ext uri="{FF2B5EF4-FFF2-40B4-BE49-F238E27FC236}">
                <a16:creationId xmlns:a16="http://schemas.microsoft.com/office/drawing/2014/main" id="{1AA22676-7D5E-407A-9DBE-58C59ED1C952}"/>
              </a:ext>
            </a:extLst>
          </p:cNvPr>
          <p:cNvSpPr>
            <a:spLocks noGrp="1"/>
          </p:cNvSpPr>
          <p:nvPr/>
        </p:nvSpPr>
        <p:spPr>
          <a:xfrm>
            <a:off x="8439150" y="28194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5" name="pillar-3-title">
            <a:extLst>
              <a:ext uri="{FF2B5EF4-FFF2-40B4-BE49-F238E27FC236}">
                <a16:creationId xmlns:a16="http://schemas.microsoft.com/office/drawing/2014/main" id="{F2417521-66A1-44DF-8653-56082A7EBF21}"/>
              </a:ext>
            </a:extLst>
          </p:cNvPr>
          <p:cNvSpPr>
            <a:spLocks noGrp="1"/>
          </p:cNvSpPr>
          <p:nvPr/>
        </p:nvSpPr>
        <p:spPr>
          <a:xfrm>
            <a:off x="9010650" y="26860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Degraded-Mode BCP</a:t>
            </a:r>
          </a:p>
        </p:txBody>
      </p:sp>
      <p:sp>
        <p:nvSpPr>
          <p:cNvPr id="36" name="pillar-3-sub">
            <a:extLst>
              <a:ext uri="{FF2B5EF4-FFF2-40B4-BE49-F238E27FC236}">
                <a16:creationId xmlns:a16="http://schemas.microsoft.com/office/drawing/2014/main" id="{44665CFB-F59F-4EFB-8DEF-833D271A4D86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B5BFF"/>
                </a:solidFill>
              </a:defRPr>
            </a:pPr>
            <a:r>
              <a:rPr sz="1125" b="1">
                <a:solidFill>
                  <a:srgbClr val="6B5BFF"/>
                </a:solidFill>
              </a:rPr>
              <a:t>Operate through compromise</a:t>
            </a:r>
          </a:p>
        </p:txBody>
      </p:sp>
      <p:sp>
        <p:nvSpPr>
          <p:cNvPr id="37" name="pillar-3-dot-0">
            <a:extLst>
              <a:ext uri="{FF2B5EF4-FFF2-40B4-BE49-F238E27FC236}">
                <a16:creationId xmlns:a16="http://schemas.microsoft.com/office/drawing/2014/main" id="{781172F4-4FD8-470B-9619-B791B7E3B3DD}"/>
              </a:ext>
            </a:extLst>
          </p:cNvPr>
          <p:cNvSpPr>
            <a:spLocks noGrp="1"/>
          </p:cNvSpPr>
          <p:nvPr/>
        </p:nvSpPr>
        <p:spPr>
          <a:xfrm>
            <a:off x="8534400" y="3562350"/>
            <a:ext cx="76200" cy="76200"/>
          </a:xfrm>
          <a:prstGeom prst="ellipse">
            <a:avLst/>
          </a:prstGeom>
          <a:solidFill>
            <a:srgbClr val="6B5B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pillar-3-b-0">
            <a:extLst>
              <a:ext uri="{FF2B5EF4-FFF2-40B4-BE49-F238E27FC236}">
                <a16:creationId xmlns:a16="http://schemas.microsoft.com/office/drawing/2014/main" id="{767C1180-5CE7-435F-8F24-34DD9C9AE5F9}"/>
              </a:ext>
            </a:extLst>
          </p:cNvPr>
          <p:cNvSpPr>
            <a:spLocks noGrp="1"/>
          </p:cNvSpPr>
          <p:nvPr/>
        </p:nvSpPr>
        <p:spPr>
          <a:xfrm>
            <a:off x="8686800" y="347662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Critical functions in degraded mode</a:t>
            </a:r>
          </a:p>
        </p:txBody>
      </p:sp>
      <p:sp>
        <p:nvSpPr>
          <p:cNvPr id="39" name="pillar-3-dot-1">
            <a:extLst>
              <a:ext uri="{FF2B5EF4-FFF2-40B4-BE49-F238E27FC236}">
                <a16:creationId xmlns:a16="http://schemas.microsoft.com/office/drawing/2014/main" id="{D51A3057-D962-4B9B-90E6-194C22975122}"/>
              </a:ext>
            </a:extLst>
          </p:cNvPr>
          <p:cNvSpPr>
            <a:spLocks noGrp="1"/>
          </p:cNvSpPr>
          <p:nvPr/>
        </p:nvSpPr>
        <p:spPr>
          <a:xfrm>
            <a:off x="8534400" y="3886200"/>
            <a:ext cx="76200" cy="76200"/>
          </a:xfrm>
          <a:prstGeom prst="ellipse">
            <a:avLst/>
          </a:prstGeom>
          <a:solidFill>
            <a:srgbClr val="6B5B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pillar-3-b-1">
            <a:extLst>
              <a:ext uri="{FF2B5EF4-FFF2-40B4-BE49-F238E27FC236}">
                <a16:creationId xmlns:a16="http://schemas.microsoft.com/office/drawing/2014/main" id="{FE766734-A4EB-4C3A-8C1F-A476037961BC}"/>
              </a:ext>
            </a:extLst>
          </p:cNvPr>
          <p:cNvSpPr>
            <a:spLocks noGrp="1"/>
          </p:cNvSpPr>
          <p:nvPr/>
        </p:nvSpPr>
        <p:spPr>
          <a:xfrm>
            <a:off x="8686800" y="380047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Nation-state tabletop exercises</a:t>
            </a:r>
          </a:p>
        </p:txBody>
      </p:sp>
      <p:sp>
        <p:nvSpPr>
          <p:cNvPr id="41" name="pillar-3-dot-2">
            <a:extLst>
              <a:ext uri="{FF2B5EF4-FFF2-40B4-BE49-F238E27FC236}">
                <a16:creationId xmlns:a16="http://schemas.microsoft.com/office/drawing/2014/main" id="{0DBB6B4E-C798-497E-B489-14B00ED39B9A}"/>
              </a:ext>
            </a:extLst>
          </p:cNvPr>
          <p:cNvSpPr>
            <a:spLocks noGrp="1"/>
          </p:cNvSpPr>
          <p:nvPr/>
        </p:nvSpPr>
        <p:spPr>
          <a:xfrm>
            <a:off x="8534400" y="4210050"/>
            <a:ext cx="76200" cy="76200"/>
          </a:xfrm>
          <a:prstGeom prst="ellipse">
            <a:avLst/>
          </a:prstGeom>
          <a:solidFill>
            <a:srgbClr val="6B5B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pillar-3-b-2">
            <a:extLst>
              <a:ext uri="{FF2B5EF4-FFF2-40B4-BE49-F238E27FC236}">
                <a16:creationId xmlns:a16="http://schemas.microsoft.com/office/drawing/2014/main" id="{6CD814F9-45DF-42EC-9010-3998C0BCF374}"/>
              </a:ext>
            </a:extLst>
          </p:cNvPr>
          <p:cNvSpPr>
            <a:spLocks noGrp="1"/>
          </p:cNvSpPr>
          <p:nvPr/>
        </p:nvSpPr>
        <p:spPr>
          <a:xfrm>
            <a:off x="8686800" y="4124325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263238"/>
                </a:solidFill>
              </a:defRPr>
            </a:pPr>
            <a:r>
              <a:rPr sz="1125">
                <a:solidFill>
                  <a:srgbClr val="263238"/>
                </a:solidFill>
              </a:rPr>
              <a:t>Client, regulator and ExCo comms</a:t>
            </a:r>
          </a:p>
        </p:txBody>
      </p:sp>
      <p:sp>
        <p:nvSpPr>
          <p:cNvPr id="43" name="s10-final">
            <a:extLst>
              <a:ext uri="{FF2B5EF4-FFF2-40B4-BE49-F238E27FC236}">
                <a16:creationId xmlns:a16="http://schemas.microsoft.com/office/drawing/2014/main" id="{AA28FF3A-5C6B-4E83-BEAC-BE9F0E0F7EFD}"/>
              </a:ext>
            </a:extLst>
          </p:cNvPr>
          <p:cNvSpPr>
            <a:spLocks noGrp="1"/>
          </p:cNvSpPr>
          <p:nvPr/>
        </p:nvSpPr>
        <p:spPr>
          <a:xfrm>
            <a:off x="1143000" y="5314950"/>
            <a:ext cx="9906000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DDE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10-final-text">
            <a:extLst>
              <a:ext uri="{FF2B5EF4-FFF2-40B4-BE49-F238E27FC236}">
                <a16:creationId xmlns:a16="http://schemas.microsoft.com/office/drawing/2014/main" id="{D3DE5840-FAC0-4912-9C49-97709CE5CD6F}"/>
              </a:ext>
            </a:extLst>
          </p:cNvPr>
          <p:cNvSpPr>
            <a:spLocks noGrp="1"/>
          </p:cNvSpPr>
          <p:nvPr/>
        </p:nvSpPr>
        <p:spPr>
          <a:xfrm>
            <a:off x="1485900" y="5524500"/>
            <a:ext cx="922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The question is no longer if we will be breached. It is whether we will still be operating the day after.</a:t>
            </a:r>
          </a:p>
        </p:txBody>
      </p:sp>
      <p:sp>
        <p:nvSpPr>
          <p:cNvPr id="45" name="s10-footer">
            <a:extLst>
              <a:ext uri="{FF2B5EF4-FFF2-40B4-BE49-F238E27FC236}">
                <a16:creationId xmlns:a16="http://schemas.microsoft.com/office/drawing/2014/main" id="{42C867F6-28BE-4F29-9833-A7732212BA2F}"/>
              </a:ext>
            </a:extLst>
          </p:cNvPr>
          <p:cNvSpPr>
            <a:spLocks noGrp="1"/>
          </p:cNvSpPr>
          <p:nvPr/>
        </p:nvSpPr>
        <p:spPr>
          <a:xfrm>
            <a:off x="10668000" y="63436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F8A55"/>
                </a:solidFill>
              </a:defRPr>
            </a:pPr>
            <a:r>
              <a:rPr sz="1050" b="1">
                <a:solidFill>
                  <a:srgbClr val="1F8A55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91815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Microsoft Office PowerPoint</Application>
  <DocSecurity>0</DocSecurity>
  <PresentationFormat>Widescreen</PresentationFormat>
  <Paragraphs>251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Pagna Disso, Jules</cp:lastModifiedBy>
  <cp:revision>1</cp:revision>
  <dcterms:created xsi:type="dcterms:W3CDTF">2026-07-09T22:02:29Z</dcterms:created>
  <dcterms:modified xsi:type="dcterms:W3CDTF">2026-07-10T07:25:58Z</dcterms:modified>
</cp:coreProperties>
</file>