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Before the agenda, one number: two hundred thousand. That is how many corporate devices belonging to Stryker, a medical equipment manufacturer, were factory-reset simultaneously across 79 countries in March 2026. Not encrypted, not stolen -- wiped. This was not a ransomware gang looking for a payout. It was Iran, sending a message. I'm opening with Stryker because it is not an outlier -- it is the new baseline. Over the next ~25 minutes I will walk through what has changed in the threat landscape over the last 18 months, who is doing what to whom, and what it means for the decisions this committee needs to make. The core message: the distinction between cybercrime, corporate espionage, and state-sponsored warfare has definitively blurred. We are no longer defending against criminals -- we are operating in a contested geopolitical space. 15-20 minutes are reserved at the end for discussion.
Anticipated questions:
Q: Why Stryker -- are they in our supply chain? A: No. The case matters because it demonstrates industrial-scale destructive capability deployed against a private company for geopolitical retaliation, not financial gain -- that is the shift we need to unpack.
Q: Is this the worst attack of the year? A: It is the most visible. More concerning is what we only discover later -- such as the Chinese compromise of Singapore's four major telecom operators, dormant for months before detection. Silent pre-positioning may be the bigger strategic threat.
Q: How long is this presentation? A: 25 minutes of content, with 15-20 minutes deliberately left for questions, because the discussion is where the value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years we treated cybercriminals, spies, and soldiers as distinct threat categories with distinct tools and targets. That model is obsolete. Three shifts explain why. First, pre-positioning: nation-states quietly infiltrate critical infrastructure -- energy, telecoms, logistics -- and stay dormant, sometimes for years, as a loaded weapon for the moment a crisis escalates. Second, AI asymmetry: AI is now a core operational component for every serious actor, automating reconnaissance and producing contextually precise phishing at a speed our defenders cannot match. Third, the hybrid model: states orchestrate an ecosystem of elite APTs, cybercriminal syndicates, and hacktivists, which buys them plausible deniability -- attribution takes months, by which time the political moment has passed. The consequence: we are operating in a contested geopolitical space with a state-level adversary, and that reframes budget, architecture, third-party risk, and crisis response.
Anticipated questions:
Q: Are we seeing pre-positioning in our own infrastructure? A: Pre-positioning is designed to be invisible, so absence of detection is not absence of presence. Our detection today is built for active attacks, not dormant ones -- closing that gap is one of the investments in this briefing.
Q: If attribution is deliberately blurred, does it matter who's behind an attack? A: Not for the immediate response, but it matters enormously for strategic posture -- it shapes where we invest and what we monitor most closely.
Q: Is AI really a game-changer or hype? A: It's measurable -- what took an attacker a week now takes minutes. The economics of attack have collapsed, meaning more attacks, more targeted,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meet the adversaries. Over this slide and the next I'll cover the four nation-states that dominate the threat landscape -- what matters is not the names but that each has a distinct motivation and therefore a distinct playbook. China, in one word, is patient. Its goal is not to disrupt us but to surpass us economically over decades -- so it favors 'Living off the Land' tradecraft that looks, to our monitoring tools, like a normal system administrator. The clearest example is UNC3886, which compromised all four major Singapore telecom operators for months of undetected espionage. Russia is the opposite -- it wants us to know it was there but not be able to prove it. Its cyber operations are an extension of military doctrine, synchronized with kinetic operations. Its signature move is the wiper disguised as ransomware: the goal was never payment, it was destruction with deniability. In December-January, coordinated attacks hit about thirty sites of the Polish power grid -- Poland being a critical logistics hub for Ukraine support is not a coincidence. Same category on paper, completely different playbooks in practice: China wants your secrets, Russia wants your operations offline.
Anticipated questions:
Q: Which is the bigger threat to us? A: China is the bigger risk to our long-term competitive position through IP theft; Russia is the bigger risk to operational continuity given our exposure to sanctions enforcement and Ukraine-related financing. We plan for both.
Q: If they use our own tools (Living off the Land), can we even detect them? A: Yes, but it requires behavioral analytics rather than malware signatures -- an admin tool used at 3am from an unusual location. UEBA and a mature SOC are non-negotiable here.
Q: Is Russia still capable given the war and sanctions? A: Categorically yes -- cyber is one of the few domains where Russia has increased activity since 2022, precisely because it's cheap, deniable, and asymmetric.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Iran and North Korea are the opportunists of the Big Four -- less strategic patience, more unpredictability. Iran is defined by volatility: technical sophistication is medium, but aggression and speed compensate. Its signature is the wiper-plus-leak -- destroy data, then publish it for psychological impact. The clearest example is Handala's attack on Stryker: two hundred thousand devices wiped across 79 countries. Stryker had no political profile -- being a prominent Western company in the wrong sector was sufficient targeting logic. North Korea is the outlier: motivated purely by money to fund a sanctioned regime, operating like an elite cybercrime syndicate with state protection. It targets crypto exchanges, banks, and defense IP. The Lazarus case in late 2025 is textbook: $30.4M stolen from Upbit, simultaneously with drone-manufacturing IP theft from three European defense firms -- one operation, two revenue streams. The consequence for us: no private-sector target is out of scope anymore.
Anticipated questions:
Q: As a bank, aren't we North Korea's dream target? A: Yes, and we treat them accordingly -- our SWIFT controls, transaction monitoring, and crypto-exposure framework are calibrated with North Korea as the top-tier financial adversary. What's changed is the speed of laundering, which has essentially collapsed our recovery window.
Q: Iran attacked a medical device company -- why would they attack us? A: Two vectors: sanctions enforcement makes us a symbolic target, and client exposure to sectors Iran considers adversarial makes us collateral even without being the primary target.
Q: Should we worry less about Iran since their sophistication is only medium? A: No -- sophistication is not the same as impact. Iran's Stryker attack wasn't technically extraordinary, but it wiped 200,000 devices. We weigh impact times likelihood, and Iran scores high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who -- now how. Three shifts, each breaking a specific assumption our current architecture is built on. First: 'log in, don't break in.' Attackers stopped forcing the perimeter and instead authenticate using Non-Human Identities -- API keys and service tokens that outnumber human accounts roughly 45 to 1, often with weak rotation and no MFA. Our Zero-Trust was built for humans; attackers moved to machines. Second, invisibility: Living off the Land uses tools already on our systems, so EDR sees a normal admin script. Edge devices -- routers, VPNs, firewalls -- can't host agents at all, so attackers set up shop there. This is exactly what UNC3886 did in Singapore for months before detection. Third, triple extortion: encrypt, exfiltrate-and-threaten-to-leak, then contact clients, executives and regulators directly. Payment doesn't end the crisis because payment was never the point -- the goal is destabilization. Synthesis: every euro spent optimizing for the old model doesn't help against the new one -- that's the case for the reinvestment I'll walk through shortly.
Anticipated questions:
Q: What's our actual NHI-to-human ratio? A: We don't have a precise count yet -- NHI discovery and inventory is one of the first investments I'll ask this committee to sanction. Industry benchmarks put it between 30:1 and 60:1 for our scale.
Q: If EDR can't catch Living off the Land, why keep paying for it? A: EDR still catches the bulk of noisier, less sophisticated attacks. The answer is to layer behavioral analytics on top -- defense in depth, not defense replacement.
Q: Should we ever pay a ransom? A: Our position is that we do not pay -- sanctions risk, no guarantee it stops the leak, and it makes us a repeat target. Our investment goes into resilience and recovery, not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concrete, attributed events from the past nine months. First, Lazarus: in a single quarter, North Korea stole $30.4M in crypto from Upbit -- direct funding for the regime -- while simultaneously infiltrating three European defense companies for drone IP. Cybercrime, espionage, and state-sponsorship, all in one campaign. For us as a financial institution, Lazarus is an active, well-resourced adversary with a proven playbook against exactly our kind of infrastructure, and laundering speed now measured in minutes changes our detection-and-recovery model. Second, the Polish grid: between December and January, roughly thirty sites of Poland's national power grid were hit by state-backed hacktivist proxies -- not the Russian state directly. Poland is the primary logistics hub for Ukraine support, so this is not a coincidence; it's a grey-zone operation, deliberately deniable. We don't have to be the target to bear the cost -- critical infrastructure attacks are systemic risk events for a bank regardless of who's on the target list.
Anticipated questions:
Q: Have we been targeted by Lazarus specifically? A: We've observed Lazarus-attributable reconnaissance against our external infrastructure, consistent with every tier-1 bank. We're not aware of a successful intrusion -- which is exactly why the visibility investments discussed later matter.
Q: Did the Polish grid attack cause blackouts? A: Not widespread blackouts, but operational degradation and significant emergency response cost -- the strategic value for Russia was demonstrating capability and imposing cost on a NATO logistics hub.
Q: $30M laundered in minutes -- can we not freeze anything anymore? A: Traditional freezes depend on identifying the destination account before funds move; cross-chain bridges collapse that window to seconds. The industry is moving toward pre-transaction risk scoring and shared intel feeds, but the asymmetry currently favors the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most operationally significant attacks of the period, presented together because they show the same capability deployed for opposite purposes. UNC3886 compromised all four major Singapore telecom operators using zero-days and rootkits, undetected for months. Singapore's response -- 'Cyber Guardian,' its largest-ever cyber defense operation -- shows the seriousness. Critically, during the dwell time the group was not exploiting access, it was preserving it: pre-positioning in its purest form, a compromise held in reserve for a future crisis. Prevention is exponentially cheaper than eviction. Handala's attack on Stryker -- the case I opened with -- required the same months of quiet pre-positioning, but then detonated it: 200,000+ devices wiped simultaneously across 79 countries. Stryker had no political profile; being a prominent Western industrial company was sufficient targeting logic. The synthesis: the same fundamental capability -- patient infiltration -- deployed for silent espionage on one side and loud destruction on the other, and in their early stages, indistinguishable. Our detection posture has to assume any unexplained anomaly could be either.
Anticipated questions:
Q: What's stopping the same group from being inside our infrastructure right now? A: Nothing structural -- our telecom providers face the same edge-device constraints. What we control is dependency management, so a compromised telecom link doesn't equate to a compromised bank.
Q: Stryker is medical, we're a bank -- is our situation different? A: Different specifics, same logic -- we are a prominent Western financial institution that enforces sanctions and finances sensitive sectors, so our symbolic value as a target may be higher, not lower.
Q: The Chinese group didn't 'do' anything -- is that really a problem? A: Yes, absolutely -- a dormant compromise is a loaded weapon inside the infrastructure, and the compromise itself is the strategic act; activation is just the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what a major cyber crisis costs us, where we stand today, and the economics of reinvestment. Industry benchmarks put the average major breach in EU financial services at €8-12M -- and when an incident is attributed to a nation-state, that figure multiplies 3 to 5x, because sophistication extends dwell time, forensics complexity, and remediation scope. DORA non-compliance alone can reach 2% of annual turnover. On posture: we are strong on security posture management and tested business continuity plans. We have material gaps on Non-Human Identity management -- still in discovery -- and edge device visibility, partly a vendor architecture problem. These are not failures; they are the natural lag between how fast the threat evolved and how fast the roadmap adapted. The economic case: industry data consistently shows €1 invested in prevention avoids €10-15 in remediation. The specific asks -- Zero-Trust, NHI governance, behavioral analytics, edge visibility -- map directly to the TTP trends already covered. This is threat-informed reinvestment, not generic security spend. The question is not whether to invest more, but whether we invest ahead of a crisis or after one.
Anticipated questions:
Q: Where does the €8-12M figure come from? A: It's a modeled, bottom-up industry benchmark across downtime, reputational cost, regulatory exposure, and forensics/legal cost -- defensible, but a modeled estimate, not an actuarial certainty; I can share full methodology with risk committee.
Q: What specifically are you asking us to fund? A: Three workstreams -- NHI discovery and governance, a behavioral-analytics/UEBA layer on top of existing EDR, and an edge-visibility and supply-chain review. Detailed business cases to follow at the next steering committee.
Q: What's the risk of not doing this? A: Probabilistic, not deterministic -- the likelihood of a major nation-state-attributable incident in a 24-month horizon is materially elevated, and our current NHI/edge gaps mean the impact would land at the upper end of the cost range, not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look at the next 12-18 months, because the pace of AI-driven capability means these are operational realities, not distant scenarios. AI does not create new categories of attack -- spear-phishing, adaptive malware, and executive impersonation all existed. What AI does is remove the human bottleneck, collapsing cost, scale, and detection windows simultaneously. First, automated spear-phishing at scale: what took a day of research now takes seconds, in any language, referencing real LinkedIn activity -- we have to shift budget from human vigilance to technical controls. Second, autonomous malware agents: malware that adapts to the defenses it encounters in real time, shrinking our response window -- automated response (SOAR) moves from optional to essential. Third, deepfakes and executive fraud: live, interactive video cloning is now feasible, and voice-only variants have already caused multi-million-euro losses at peer firms -- financial authorization workflows must be redesigned around channel-independent verification, because the identity of the sender is no longer a control.
Anticipated questions:
Q: Has BNP Paribas experienced a deepfake attempt? A: We've observed voice-cloning attempts against mid-level finance staff, none successful due to existing dual-authorization controls; no video-based attempt yet, but we assess it as when, not if, and are building it into our next tabletop.
Q: Should we stop awareness training since it's losing value? A: No -- we change what we train on, shifting from 'detect the fake' to 'verify the legitimate' through independent channels.
Q: Can we use AI to defend, or is this one-sided? A: We already do, in behavioral analytics and automated response -- but the attacker gets faster leverage in the short term because attack needs one success while defense needs full coverage. That gap closes over years; we have to defend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close where we started, with a different frame. When I opened, I said the distinction between cybercrime, espionage, and warfare has blurred; over the last 25 minutes I've shown the actors, tactics, and cases that make that operationally real. Now: what do we do about it? Pure prevention is no longer sufficient against a nation-state with unlimited time and resources -- not by us, not by any institution. So the 2026 priority shifts the question from 'how do we prevent every intrusion' to 'how do we keep operating -- serving clients, moving payments -- while under active compromise.' That requires three shifts. First, radical Zero-Trust adoption extended to machine identities -- our direct answer to 'log in, don't break in.' Second, automated security posture management, because human-in-the-loop defense loses to machine-speed adversaries. Third, and most important, degraded-mode business continuity: the ability to operate through a compromise, not just recover from an outage -- this is where I need the committee's active engagement in the coming quarters. Cyber risk is no longer an IT concern -- it is inextricably linked to geopolitics and business strategy, and its governance belongs in this room. The question is no longer if we will be breached. It is whether we will still be operating the day after. Thank you -- I'm ready for your questions.
Anticipated questions:
Q: What are your top three asks from this committee? A: First, sanction the NHI discovery and governance program. Second, endorse the BCP shift from 'recovery from outage' to 'operations under compromise.' Third, commit to an ExCo-level nation-state tabletop within six months.
Q: What's the timeline for decisions? A: NHI program sanction within 60 days; BCP framework shift within one quarter; ExCo tabletop within six months. Each month of delay is a month the exposure described today stays open.
Q: What if the threat is overstated? A: The incidents shown are documented, attributed, and independently verified; the trend synthesis is professional judgment and reasonable people could disagree at the margins. Even if the threat were 30% less severe, the three investments proposed are still net-positive -- they close identified gaps and align with regulatory direction regardless of the exact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C"/>
        </a:solidFill>
      </p:bgPr>
    </p:bg>
    <p:spTree>
      <p:nvGrpSpPr>
        <p:cNvPr id="1" name=""/>
        <p:cNvGrpSpPr/>
        <p:nvPr/>
      </p:nvGrpSpPr>
      <p:grpSpPr>
        <a:xfrm>
          <a:off x="0" y="0"/>
          <a:ext cx="0" cy="0"/>
          <a:chOff x="0" y="0"/>
          <a:chExt cx="0" cy="0"/>
        </a:xfrm>
      </p:grpSpPr>
      <p:sp>
        <p:nvSpPr>
          <p:cNvPr id="2" name="Text 0"/>
          <p:cNvSpPr/>
          <p:nvPr/>
        </p:nvSpPr>
        <p:spPr>
          <a:xfrm>
            <a:off x="502920" y="594360"/>
            <a:ext cx="11185855" cy="320040"/>
          </a:xfrm>
          <a:prstGeom prst="rect">
            <a:avLst/>
          </a:prstGeom>
          <a:noFill/>
          <a:ln/>
        </p:spPr>
        <p:txBody>
          <a:bodyPr wrap="square" lIns="0" tIns="0" rIns="0" bIns="0" rtlCol="0" anchor="ctr"/>
          <a:lstStyle/>
          <a:p>
            <a:pPr indent="0" marL="0">
              <a:buNone/>
            </a:pPr>
            <a:r>
              <a:rPr lang="en-US" sz="1200" b="1" spc="300" kern="0" dirty="0">
                <a:solidFill>
                  <a:srgbClr val="50C878"/>
                </a:solidFill>
                <a:latin typeface="Calibri" pitchFamily="34" charset="0"/>
                <a:ea typeface="Calibri" pitchFamily="34" charset="-122"/>
                <a:cs typeface="Calibri" pitchFamily="34" charset="-120"/>
              </a:rPr>
              <a:t>CYBER THREAT INTELLIGENCE BRIEFING</a:t>
            </a:r>
            <a:endParaRPr lang="en-US" sz="1200" dirty="0"/>
          </a:p>
        </p:txBody>
      </p:sp>
      <p:sp>
        <p:nvSpPr>
          <p:cNvPr id="3" name="Text 1"/>
          <p:cNvSpPr/>
          <p:nvPr/>
        </p:nvSpPr>
        <p:spPr>
          <a:xfrm>
            <a:off x="502920" y="960120"/>
            <a:ext cx="11185855"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Cyber Threat Intelligence</a:t>
            </a:r>
            <a:endParaRPr lang="en-US" sz="4200" dirty="0"/>
          </a:p>
        </p:txBody>
      </p:sp>
      <p:sp>
        <p:nvSpPr>
          <p:cNvPr id="4" name="Text 2"/>
          <p:cNvSpPr/>
          <p:nvPr/>
        </p:nvSpPr>
        <p:spPr>
          <a:xfrm>
            <a:off x="502920" y="1691640"/>
            <a:ext cx="11185855" cy="457200"/>
          </a:xfrm>
          <a:prstGeom prst="rect">
            <a:avLst/>
          </a:prstGeom>
          <a:noFill/>
          <a:ln/>
        </p:spPr>
        <p:txBody>
          <a:bodyPr wrap="square" lIns="0" tIns="0" rIns="0" bIns="0" rtlCol="0" anchor="ctr"/>
          <a:lstStyle/>
          <a:p>
            <a:pPr indent="0" marL="0">
              <a:buNone/>
            </a:pPr>
            <a:r>
              <a:rPr lang="en-US" sz="1700" i="1" dirty="0">
                <a:solidFill>
                  <a:srgbClr val="A9C9B6"/>
                </a:solidFill>
                <a:latin typeface="Calibri" pitchFamily="34" charset="0"/>
                <a:ea typeface="Calibri" pitchFamily="34" charset="-122"/>
                <a:cs typeface="Calibri" pitchFamily="34" charset="-120"/>
              </a:rPr>
              <a:t>2025–2026 Threat Landscape: Geopolitics, APTs &amp; Resilience</a:t>
            </a:r>
            <a:endParaRPr lang="en-US" sz="1700" dirty="0"/>
          </a:p>
        </p:txBody>
      </p:sp>
      <p:sp>
        <p:nvSpPr>
          <p:cNvPr id="5" name="Text 3"/>
          <p:cNvSpPr/>
          <p:nvPr/>
        </p:nvSpPr>
        <p:spPr>
          <a:xfrm>
            <a:off x="0" y="2514600"/>
            <a:ext cx="12191695" cy="1737360"/>
          </a:xfrm>
          <a:prstGeom prst="rect">
            <a:avLst/>
          </a:prstGeom>
          <a:noFill/>
          <a:ln/>
        </p:spPr>
        <p:txBody>
          <a:bodyPr wrap="square" lIns="0" tIns="0" rIns="0" bIns="0" rtlCol="0" anchor="ctr"/>
          <a:lstStyle/>
          <a:p>
            <a:pPr algn="ctr" indent="0" marL="0">
              <a:buNone/>
            </a:pPr>
            <a:r>
              <a:rPr lang="en-US" sz="12800" b="1" dirty="0">
                <a:solidFill>
                  <a:srgbClr val="50C878"/>
                </a:solidFill>
                <a:latin typeface="Cambria" pitchFamily="34" charset="0"/>
                <a:ea typeface="Cambria" pitchFamily="34" charset="-122"/>
                <a:cs typeface="Cambria" pitchFamily="34" charset="-120"/>
              </a:rPr>
              <a:t>200,000</a:t>
            </a:r>
            <a:endParaRPr lang="en-US" sz="12800" dirty="0"/>
          </a:p>
        </p:txBody>
      </p:sp>
      <p:sp>
        <p:nvSpPr>
          <p:cNvPr id="6" name="Text 4"/>
          <p:cNvSpPr/>
          <p:nvPr/>
        </p:nvSpPr>
        <p:spPr>
          <a:xfrm>
            <a:off x="502920" y="4279392"/>
            <a:ext cx="11185855" cy="41148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corporate devices factory-reset in a single coordinated attack</a:t>
            </a:r>
            <a:endParaRPr lang="en-US" sz="1700" dirty="0"/>
          </a:p>
        </p:txBody>
      </p:sp>
      <p:sp>
        <p:nvSpPr>
          <p:cNvPr id="7" name="Text 5"/>
          <p:cNvSpPr/>
          <p:nvPr/>
        </p:nvSpPr>
        <p:spPr>
          <a:xfrm>
            <a:off x="502920" y="4700016"/>
            <a:ext cx="11185855" cy="365760"/>
          </a:xfrm>
          <a:prstGeom prst="rect">
            <a:avLst/>
          </a:prstGeom>
          <a:noFill/>
          <a:ln/>
        </p:spPr>
        <p:txBody>
          <a:bodyPr wrap="square" lIns="0" tIns="0" rIns="0" bIns="0" rtlCol="0" anchor="ctr"/>
          <a:lstStyle/>
          <a:p>
            <a:pPr algn="ctr" indent="0" marL="0">
              <a:buNone/>
            </a:pPr>
            <a:r>
              <a:rPr lang="en-US" sz="1250" i="1" dirty="0">
                <a:solidFill>
                  <a:srgbClr val="A9C9B6"/>
                </a:solidFill>
                <a:latin typeface="Calibri" pitchFamily="34" charset="0"/>
                <a:ea typeface="Calibri" pitchFamily="34" charset="-122"/>
                <a:cs typeface="Calibri" pitchFamily="34" charset="-120"/>
              </a:rPr>
              <a:t>Stryker, March 2026  —  79 countries, one Iranian-linked group</a:t>
            </a:r>
            <a:endParaRPr lang="en-US" sz="1250" dirty="0"/>
          </a:p>
        </p:txBody>
      </p:sp>
      <p:sp>
        <p:nvSpPr>
          <p:cNvPr id="8" name="Text 6"/>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A9C9B6"/>
                </a:solidFill>
                <a:latin typeface="Calibri" pitchFamily="34" charset="0"/>
                <a:ea typeface="Calibri" pitchFamily="34" charset="-122"/>
                <a:cs typeface="Calibri" pitchFamily="34" charset="-120"/>
              </a:rPr>
              <a:t>CYBER THREAT INTELLIGENCE  |  EXCO BRIEFING</a:t>
            </a:r>
            <a:endParaRPr lang="en-US" sz="900" dirty="0"/>
          </a:p>
        </p:txBody>
      </p:sp>
      <p:sp>
        <p:nvSpPr>
          <p:cNvPr id="9" name="Text 7"/>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A9C9B6"/>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The New Paradigm</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Cybercrime, espionage, and warfare have definitively blurred</a:t>
            </a:r>
            <a:endParaRPr lang="en-US" sz="1500" dirty="0"/>
          </a:p>
        </p:txBody>
      </p:sp>
      <p:sp>
        <p:nvSpPr>
          <p:cNvPr id="4" name="Shape 2"/>
          <p:cNvSpPr/>
          <p:nvPr/>
        </p:nvSpPr>
        <p:spPr>
          <a:xfrm>
            <a:off x="502920" y="1508760"/>
            <a:ext cx="5364328" cy="4343400"/>
          </a:xfrm>
          <a:prstGeom prst="roundRect">
            <a:avLst>
              <a:gd name="adj" fmla="val 1263"/>
            </a:avLst>
          </a:prstGeom>
          <a:solidFill>
            <a:srgbClr val="EAF7F0"/>
          </a:solidFill>
          <a:ln/>
          <a:effectLst>
            <a:outerShdw sx="100000" sy="100000" kx="0" ky="0" algn="bl" rotWithShape="0" blurRad="101600" dist="38100" dir="2700000">
              <a:srgbClr val="000000">
                <a:alpha val="14000"/>
              </a:srgbClr>
            </a:outerShdw>
          </a:effectLst>
        </p:spPr>
      </p:sp>
      <p:sp>
        <p:nvSpPr>
          <p:cNvPr id="5" name="Text 3"/>
          <p:cNvSpPr/>
          <p:nvPr/>
        </p:nvSpPr>
        <p:spPr>
          <a:xfrm>
            <a:off x="777240" y="1709928"/>
            <a:ext cx="4815688" cy="320040"/>
          </a:xfrm>
          <a:prstGeom prst="rect">
            <a:avLst/>
          </a:prstGeom>
          <a:noFill/>
          <a:ln/>
        </p:spPr>
        <p:txBody>
          <a:bodyPr wrap="square" lIns="0" tIns="0" rIns="0" bIns="0" rtlCol="0" anchor="ctr"/>
          <a:lstStyle/>
          <a:p>
            <a:pPr indent="0" marL="0">
              <a:buNone/>
            </a:pPr>
            <a:r>
              <a:rPr lang="en-US" sz="1300" b="1" spc="150" kern="0" dirty="0">
                <a:solidFill>
                  <a:srgbClr val="708090"/>
                </a:solidFill>
                <a:latin typeface="Calibri" pitchFamily="34" charset="0"/>
                <a:ea typeface="Calibri" pitchFamily="34" charset="-122"/>
                <a:cs typeface="Calibri" pitchFamily="34" charset="-120"/>
              </a:rPr>
              <a:t>THE SHIFT</a:t>
            </a:r>
            <a:endParaRPr lang="en-US" sz="1300" dirty="0"/>
          </a:p>
        </p:txBody>
      </p:sp>
      <p:sp>
        <p:nvSpPr>
          <p:cNvPr id="6" name="Shape 4"/>
          <p:cNvSpPr/>
          <p:nvPr/>
        </p:nvSpPr>
        <p:spPr>
          <a:xfrm>
            <a:off x="777240" y="219456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7" name="Image 0" descr="preencoded.png">    </p:cNvPr>
          <p:cNvPicPr>
            <a:picLocks noChangeAspect="1"/>
          </p:cNvPicPr>
          <p:nvPr/>
        </p:nvPicPr>
        <p:blipFill>
          <a:blip r:embed="rId1"/>
          <a:stretch>
            <a:fillRect/>
          </a:stretch>
        </p:blipFill>
        <p:spPr>
          <a:xfrm>
            <a:off x="886968" y="2304288"/>
            <a:ext cx="237744" cy="237744"/>
          </a:xfrm>
          <a:prstGeom prst="rect">
            <a:avLst/>
          </a:prstGeom>
        </p:spPr>
      </p:pic>
      <p:sp>
        <p:nvSpPr>
          <p:cNvPr id="8" name="Text 5"/>
          <p:cNvSpPr/>
          <p:nvPr/>
        </p:nvSpPr>
        <p:spPr>
          <a:xfrm>
            <a:off x="1399032" y="2167128"/>
            <a:ext cx="4175608" cy="292608"/>
          </a:xfrm>
          <a:prstGeom prst="rect">
            <a:avLst/>
          </a:prstGeom>
          <a:noFill/>
          <a:ln/>
        </p:spPr>
        <p:txBody>
          <a:bodyPr wrap="square" lIns="0" tIns="0" rIns="0" bIns="0" rtlCol="0" anchor="ctr"/>
          <a:lstStyle/>
          <a:p>
            <a:pPr indent="0" marL="0">
              <a:buNone/>
            </a:pPr>
            <a:r>
              <a:rPr lang="en-US" sz="1350" b="1" dirty="0">
                <a:solidFill>
                  <a:srgbClr val="1E7A45"/>
                </a:solidFill>
                <a:latin typeface="Calibri" pitchFamily="34" charset="0"/>
                <a:ea typeface="Calibri" pitchFamily="34" charset="-122"/>
                <a:cs typeface="Calibri" pitchFamily="34" charset="-120"/>
              </a:rPr>
              <a:t>Pre-positioning</a:t>
            </a:r>
            <a:endParaRPr lang="en-US" sz="1350" dirty="0"/>
          </a:p>
        </p:txBody>
      </p:sp>
      <p:sp>
        <p:nvSpPr>
          <p:cNvPr id="9" name="Text 6"/>
          <p:cNvSpPr/>
          <p:nvPr/>
        </p:nvSpPr>
        <p:spPr>
          <a:xfrm>
            <a:off x="1399032" y="2450592"/>
            <a:ext cx="4175608" cy="685800"/>
          </a:xfrm>
          <a:prstGeom prst="rect">
            <a:avLst/>
          </a:prstGeom>
          <a:noFill/>
          <a:ln/>
        </p:spPr>
        <p:txBody>
          <a:bodyPr wrap="square" lIns="0" tIns="0" rIns="0" bIns="0" rtlCol="0" anchor="ctr"/>
          <a:lstStyle/>
          <a:p>
            <a:pPr indent="0" marL="0">
              <a:lnSpc>
                <a:spcPct val="105000"/>
              </a:lnSpc>
              <a:buNone/>
            </a:pPr>
            <a:r>
              <a:rPr lang="en-US" sz="1100" dirty="0">
                <a:solidFill>
                  <a:srgbClr val="3A454D"/>
                </a:solidFill>
                <a:latin typeface="Calibri" pitchFamily="34" charset="0"/>
                <a:ea typeface="Calibri" pitchFamily="34" charset="-122"/>
                <a:cs typeface="Calibri" pitchFamily="34" charset="-120"/>
              </a:rPr>
              <a:t>Dormant infiltration of critical infrastructure — laying groundwork for sabotage.</a:t>
            </a:r>
            <a:endParaRPr lang="en-US" sz="1100" dirty="0"/>
          </a:p>
        </p:txBody>
      </p:sp>
      <p:sp>
        <p:nvSpPr>
          <p:cNvPr id="10" name="Shape 7"/>
          <p:cNvSpPr/>
          <p:nvPr/>
        </p:nvSpPr>
        <p:spPr>
          <a:xfrm>
            <a:off x="777240" y="3364992"/>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1" name="Image 1" descr="preencoded.png">    </p:cNvPr>
          <p:cNvPicPr>
            <a:picLocks noChangeAspect="1"/>
          </p:cNvPicPr>
          <p:nvPr/>
        </p:nvPicPr>
        <p:blipFill>
          <a:blip r:embed="rId2"/>
          <a:stretch>
            <a:fillRect/>
          </a:stretch>
        </p:blipFill>
        <p:spPr>
          <a:xfrm>
            <a:off x="886968" y="3474720"/>
            <a:ext cx="237744" cy="237744"/>
          </a:xfrm>
          <a:prstGeom prst="rect">
            <a:avLst/>
          </a:prstGeom>
        </p:spPr>
      </p:pic>
      <p:sp>
        <p:nvSpPr>
          <p:cNvPr id="12" name="Text 8"/>
          <p:cNvSpPr/>
          <p:nvPr/>
        </p:nvSpPr>
        <p:spPr>
          <a:xfrm>
            <a:off x="1399032" y="3337560"/>
            <a:ext cx="4175608" cy="292608"/>
          </a:xfrm>
          <a:prstGeom prst="rect">
            <a:avLst/>
          </a:prstGeom>
          <a:noFill/>
          <a:ln/>
        </p:spPr>
        <p:txBody>
          <a:bodyPr wrap="square" lIns="0" tIns="0" rIns="0" bIns="0" rtlCol="0" anchor="ctr"/>
          <a:lstStyle/>
          <a:p>
            <a:pPr indent="0" marL="0">
              <a:buNone/>
            </a:pPr>
            <a:r>
              <a:rPr lang="en-US" sz="1350" b="1" dirty="0">
                <a:solidFill>
                  <a:srgbClr val="1E7A45"/>
                </a:solidFill>
                <a:latin typeface="Calibri" pitchFamily="34" charset="0"/>
                <a:ea typeface="Calibri" pitchFamily="34" charset="-122"/>
                <a:cs typeface="Calibri" pitchFamily="34" charset="-120"/>
              </a:rPr>
              <a:t>AI Asymmetry</a:t>
            </a:r>
            <a:endParaRPr lang="en-US" sz="1350" dirty="0"/>
          </a:p>
        </p:txBody>
      </p:sp>
      <p:sp>
        <p:nvSpPr>
          <p:cNvPr id="13" name="Text 9"/>
          <p:cNvSpPr/>
          <p:nvPr/>
        </p:nvSpPr>
        <p:spPr>
          <a:xfrm>
            <a:off x="1399032" y="3621024"/>
            <a:ext cx="4175608" cy="685800"/>
          </a:xfrm>
          <a:prstGeom prst="rect">
            <a:avLst/>
          </a:prstGeom>
          <a:noFill/>
          <a:ln/>
        </p:spPr>
        <p:txBody>
          <a:bodyPr wrap="square" lIns="0" tIns="0" rIns="0" bIns="0" rtlCol="0" anchor="ctr"/>
          <a:lstStyle/>
          <a:p>
            <a:pPr indent="0" marL="0">
              <a:lnSpc>
                <a:spcPct val="105000"/>
              </a:lnSpc>
              <a:buNone/>
            </a:pPr>
            <a:r>
              <a:rPr lang="en-US" sz="1100" dirty="0">
                <a:solidFill>
                  <a:srgbClr val="3A454D"/>
                </a:solidFill>
                <a:latin typeface="Calibri" pitchFamily="34" charset="0"/>
                <a:ea typeface="Calibri" pitchFamily="34" charset="-122"/>
                <a:cs typeface="Calibri" pitchFamily="34" charset="-120"/>
              </a:rPr>
              <a:t>AI is now core to offensive tradecraft — automated recon and spear-phishing at scale.</a:t>
            </a:r>
            <a:endParaRPr lang="en-US" sz="1100" dirty="0"/>
          </a:p>
        </p:txBody>
      </p:sp>
      <p:sp>
        <p:nvSpPr>
          <p:cNvPr id="14" name="Shape 10"/>
          <p:cNvSpPr/>
          <p:nvPr/>
        </p:nvSpPr>
        <p:spPr>
          <a:xfrm>
            <a:off x="777240" y="4535424"/>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5" name="Image 2" descr="preencoded.png">    </p:cNvPr>
          <p:cNvPicPr>
            <a:picLocks noChangeAspect="1"/>
          </p:cNvPicPr>
          <p:nvPr/>
        </p:nvPicPr>
        <p:blipFill>
          <a:blip r:embed="rId3"/>
          <a:stretch>
            <a:fillRect/>
          </a:stretch>
        </p:blipFill>
        <p:spPr>
          <a:xfrm>
            <a:off x="886968" y="4645152"/>
            <a:ext cx="237744" cy="237744"/>
          </a:xfrm>
          <a:prstGeom prst="rect">
            <a:avLst/>
          </a:prstGeom>
        </p:spPr>
      </p:pic>
      <p:sp>
        <p:nvSpPr>
          <p:cNvPr id="16" name="Text 11"/>
          <p:cNvSpPr/>
          <p:nvPr/>
        </p:nvSpPr>
        <p:spPr>
          <a:xfrm>
            <a:off x="1399032" y="4507992"/>
            <a:ext cx="4175608" cy="292608"/>
          </a:xfrm>
          <a:prstGeom prst="rect">
            <a:avLst/>
          </a:prstGeom>
          <a:noFill/>
          <a:ln/>
        </p:spPr>
        <p:txBody>
          <a:bodyPr wrap="square" lIns="0" tIns="0" rIns="0" bIns="0" rtlCol="0" anchor="ctr"/>
          <a:lstStyle/>
          <a:p>
            <a:pPr indent="0" marL="0">
              <a:buNone/>
            </a:pPr>
            <a:r>
              <a:rPr lang="en-US" sz="1350" b="1" dirty="0">
                <a:solidFill>
                  <a:srgbClr val="1E7A45"/>
                </a:solidFill>
                <a:latin typeface="Calibri" pitchFamily="34" charset="0"/>
                <a:ea typeface="Calibri" pitchFamily="34" charset="-122"/>
                <a:cs typeface="Calibri" pitchFamily="34" charset="-120"/>
              </a:rPr>
              <a:t>Hybrid Model</a:t>
            </a:r>
            <a:endParaRPr lang="en-US" sz="1350" dirty="0"/>
          </a:p>
        </p:txBody>
      </p:sp>
      <p:sp>
        <p:nvSpPr>
          <p:cNvPr id="17" name="Text 12"/>
          <p:cNvSpPr/>
          <p:nvPr/>
        </p:nvSpPr>
        <p:spPr>
          <a:xfrm>
            <a:off x="1399032" y="4791456"/>
            <a:ext cx="4175608" cy="685800"/>
          </a:xfrm>
          <a:prstGeom prst="rect">
            <a:avLst/>
          </a:prstGeom>
          <a:noFill/>
          <a:ln/>
        </p:spPr>
        <p:txBody>
          <a:bodyPr wrap="square" lIns="0" tIns="0" rIns="0" bIns="0" rtlCol="0" anchor="ctr"/>
          <a:lstStyle/>
          <a:p>
            <a:pPr indent="0" marL="0">
              <a:lnSpc>
                <a:spcPct val="105000"/>
              </a:lnSpc>
              <a:buNone/>
            </a:pPr>
            <a:r>
              <a:rPr lang="en-US" sz="1100" dirty="0">
                <a:solidFill>
                  <a:srgbClr val="3A454D"/>
                </a:solidFill>
                <a:latin typeface="Calibri" pitchFamily="34" charset="0"/>
                <a:ea typeface="Calibri" pitchFamily="34" charset="-122"/>
                <a:cs typeface="Calibri" pitchFamily="34" charset="-120"/>
              </a:rPr>
              <a:t>State APTs + cybercriminals + hacktivists = plausible deniability.</a:t>
            </a:r>
            <a:endParaRPr lang="en-US" sz="1100" dirty="0"/>
          </a:p>
        </p:txBody>
      </p:sp>
      <p:sp>
        <p:nvSpPr>
          <p:cNvPr id="18" name="Shape 13"/>
          <p:cNvSpPr/>
          <p:nvPr/>
        </p:nvSpPr>
        <p:spPr>
          <a:xfrm>
            <a:off x="6324448" y="1508760"/>
            <a:ext cx="5364328" cy="4343400"/>
          </a:xfrm>
          <a:prstGeom prst="roundRect">
            <a:avLst>
              <a:gd name="adj" fmla="val 1263"/>
            </a:avLst>
          </a:prstGeom>
          <a:solidFill>
            <a:srgbClr val="EAF7F0"/>
          </a:solidFill>
          <a:ln/>
          <a:effectLst>
            <a:outerShdw sx="100000" sy="100000" kx="0" ky="0" algn="bl" rotWithShape="0" blurRad="101600" dist="38100" dir="2700000">
              <a:srgbClr val="000000">
                <a:alpha val="14000"/>
              </a:srgbClr>
            </a:outerShdw>
          </a:effectLst>
        </p:spPr>
      </p:sp>
      <p:sp>
        <p:nvSpPr>
          <p:cNvPr id="19" name="Text 14"/>
          <p:cNvSpPr/>
          <p:nvPr/>
        </p:nvSpPr>
        <p:spPr>
          <a:xfrm>
            <a:off x="6598768" y="1709928"/>
            <a:ext cx="4815688" cy="320040"/>
          </a:xfrm>
          <a:prstGeom prst="rect">
            <a:avLst/>
          </a:prstGeom>
          <a:noFill/>
          <a:ln/>
        </p:spPr>
        <p:txBody>
          <a:bodyPr wrap="square" lIns="0" tIns="0" rIns="0" bIns="0" rtlCol="0" anchor="ctr"/>
          <a:lstStyle/>
          <a:p>
            <a:pPr indent="0" marL="0">
              <a:buNone/>
            </a:pPr>
            <a:r>
              <a:rPr lang="en-US" sz="1300" b="1" spc="100" kern="0" dirty="0">
                <a:solidFill>
                  <a:srgbClr val="708090"/>
                </a:solidFill>
                <a:latin typeface="Calibri" pitchFamily="34" charset="0"/>
                <a:ea typeface="Calibri" pitchFamily="34" charset="-122"/>
                <a:cs typeface="Calibri" pitchFamily="34" charset="-120"/>
              </a:rPr>
              <a:t>HYBRID STRATEGIES UNPACKED</a:t>
            </a:r>
            <a:endParaRPr lang="en-US" sz="1300" dirty="0"/>
          </a:p>
        </p:txBody>
      </p:sp>
      <p:sp>
        <p:nvSpPr>
          <p:cNvPr id="20" name="Shape 15"/>
          <p:cNvSpPr/>
          <p:nvPr/>
        </p:nvSpPr>
        <p:spPr>
          <a:xfrm>
            <a:off x="6598768" y="2167128"/>
            <a:ext cx="402336" cy="402336"/>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1" name="Image 3" descr="preencoded.png">    </p:cNvPr>
          <p:cNvPicPr>
            <a:picLocks noChangeAspect="1"/>
          </p:cNvPicPr>
          <p:nvPr/>
        </p:nvPicPr>
        <p:blipFill>
          <a:blip r:embed="rId4"/>
          <a:stretch>
            <a:fillRect/>
          </a:stretch>
        </p:blipFill>
        <p:spPr>
          <a:xfrm>
            <a:off x="6695328" y="2263689"/>
            <a:ext cx="209215" cy="209215"/>
          </a:xfrm>
          <a:prstGeom prst="rect">
            <a:avLst/>
          </a:prstGeom>
        </p:spPr>
      </p:pic>
      <p:sp>
        <p:nvSpPr>
          <p:cNvPr id="22" name="Text 16"/>
          <p:cNvSpPr/>
          <p:nvPr/>
        </p:nvSpPr>
        <p:spPr>
          <a:xfrm>
            <a:off x="7129120" y="2139696"/>
            <a:ext cx="4267048" cy="274320"/>
          </a:xfrm>
          <a:prstGeom prst="rect">
            <a:avLst/>
          </a:prstGeom>
          <a:noFill/>
          <a:ln/>
        </p:spPr>
        <p:txBody>
          <a:bodyPr wrap="square" lIns="0" tIns="0" rIns="0" bIns="0" rtlCol="0" anchor="ctr"/>
          <a:lstStyle/>
          <a:p>
            <a:pPr indent="0" marL="0">
              <a:buNone/>
            </a:pPr>
            <a:r>
              <a:rPr lang="en-US" sz="1250" b="1" dirty="0">
                <a:solidFill>
                  <a:srgbClr val="1E7A45"/>
                </a:solidFill>
                <a:latin typeface="Calibri" pitchFamily="34" charset="0"/>
                <a:ea typeface="Calibri" pitchFamily="34" charset="-122"/>
                <a:cs typeface="Calibri" pitchFamily="34" charset="-120"/>
              </a:rPr>
              <a:t>Outsourcing</a:t>
            </a:r>
            <a:endParaRPr lang="en-US" sz="1250" dirty="0"/>
          </a:p>
        </p:txBody>
      </p:sp>
      <p:sp>
        <p:nvSpPr>
          <p:cNvPr id="23" name="Text 17"/>
          <p:cNvSpPr/>
          <p:nvPr/>
        </p:nvSpPr>
        <p:spPr>
          <a:xfrm>
            <a:off x="7129120" y="2395728"/>
            <a:ext cx="4267048" cy="502920"/>
          </a:xfrm>
          <a:prstGeom prst="rect">
            <a:avLst/>
          </a:prstGeom>
          <a:noFill/>
          <a:ln/>
        </p:spPr>
        <p:txBody>
          <a:bodyPr wrap="square" lIns="0" tIns="0" rIns="0" bIns="0" rtlCol="0" anchor="ctr"/>
          <a:lstStyle/>
          <a:p>
            <a:pPr indent="0" marL="0">
              <a:lnSpc>
                <a:spcPct val="100000"/>
              </a:lnSpc>
              <a:buNone/>
            </a:pPr>
            <a:r>
              <a:rPr lang="en-US" sz="1050" dirty="0">
                <a:solidFill>
                  <a:srgbClr val="3A454D"/>
                </a:solidFill>
                <a:latin typeface="Calibri" pitchFamily="34" charset="0"/>
                <a:ea typeface="Calibri" pitchFamily="34" charset="-122"/>
                <a:cs typeface="Calibri" pitchFamily="34" charset="-120"/>
              </a:rPr>
              <a:t>States sponsor elite APTs while leveraging common cybercriminals.</a:t>
            </a:r>
            <a:endParaRPr lang="en-US" sz="1050" dirty="0"/>
          </a:p>
        </p:txBody>
      </p:sp>
      <p:sp>
        <p:nvSpPr>
          <p:cNvPr id="24" name="Shape 18"/>
          <p:cNvSpPr/>
          <p:nvPr/>
        </p:nvSpPr>
        <p:spPr>
          <a:xfrm>
            <a:off x="6598768" y="3081528"/>
            <a:ext cx="402336" cy="402336"/>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5" name="Image 4" descr="preencoded.png">    </p:cNvPr>
          <p:cNvPicPr>
            <a:picLocks noChangeAspect="1"/>
          </p:cNvPicPr>
          <p:nvPr/>
        </p:nvPicPr>
        <p:blipFill>
          <a:blip r:embed="rId5"/>
          <a:stretch>
            <a:fillRect/>
          </a:stretch>
        </p:blipFill>
        <p:spPr>
          <a:xfrm>
            <a:off x="6695328" y="3178089"/>
            <a:ext cx="209215" cy="209215"/>
          </a:xfrm>
          <a:prstGeom prst="rect">
            <a:avLst/>
          </a:prstGeom>
        </p:spPr>
      </p:pic>
      <p:sp>
        <p:nvSpPr>
          <p:cNvPr id="26" name="Text 19"/>
          <p:cNvSpPr/>
          <p:nvPr/>
        </p:nvSpPr>
        <p:spPr>
          <a:xfrm>
            <a:off x="7129120" y="3054096"/>
            <a:ext cx="4267048" cy="274320"/>
          </a:xfrm>
          <a:prstGeom prst="rect">
            <a:avLst/>
          </a:prstGeom>
          <a:noFill/>
          <a:ln/>
        </p:spPr>
        <p:txBody>
          <a:bodyPr wrap="square" lIns="0" tIns="0" rIns="0" bIns="0" rtlCol="0" anchor="ctr"/>
          <a:lstStyle/>
          <a:p>
            <a:pPr indent="0" marL="0">
              <a:buNone/>
            </a:pPr>
            <a:r>
              <a:rPr lang="en-US" sz="1250" b="1" dirty="0">
                <a:solidFill>
                  <a:srgbClr val="1E7A45"/>
                </a:solidFill>
                <a:latin typeface="Calibri" pitchFamily="34" charset="0"/>
                <a:ea typeface="Calibri" pitchFamily="34" charset="-122"/>
                <a:cs typeface="Calibri" pitchFamily="34" charset="-120"/>
              </a:rPr>
              <a:t>State Hacktivism</a:t>
            </a:r>
            <a:endParaRPr lang="en-US" sz="1250" dirty="0"/>
          </a:p>
        </p:txBody>
      </p:sp>
      <p:sp>
        <p:nvSpPr>
          <p:cNvPr id="27" name="Text 20"/>
          <p:cNvSpPr/>
          <p:nvPr/>
        </p:nvSpPr>
        <p:spPr>
          <a:xfrm>
            <a:off x="7129120" y="3310128"/>
            <a:ext cx="4267048" cy="502920"/>
          </a:xfrm>
          <a:prstGeom prst="rect">
            <a:avLst/>
          </a:prstGeom>
          <a:noFill/>
          <a:ln/>
        </p:spPr>
        <p:txBody>
          <a:bodyPr wrap="square" lIns="0" tIns="0" rIns="0" bIns="0" rtlCol="0" anchor="ctr"/>
          <a:lstStyle/>
          <a:p>
            <a:pPr indent="0" marL="0">
              <a:lnSpc>
                <a:spcPct val="100000"/>
              </a:lnSpc>
              <a:buNone/>
            </a:pPr>
            <a:r>
              <a:rPr lang="en-US" sz="1050" dirty="0">
                <a:solidFill>
                  <a:srgbClr val="3A454D"/>
                </a:solidFill>
                <a:latin typeface="Calibri" pitchFamily="34" charset="0"/>
                <a:ea typeface="Calibri" pitchFamily="34" charset="-122"/>
                <a:cs typeface="Calibri" pitchFamily="34" charset="-120"/>
              </a:rPr>
              <a:t>Proxy groups claim “politically motivated” attacks to intimidate.</a:t>
            </a:r>
            <a:endParaRPr lang="en-US" sz="1050" dirty="0"/>
          </a:p>
        </p:txBody>
      </p:sp>
      <p:sp>
        <p:nvSpPr>
          <p:cNvPr id="28" name="Shape 21"/>
          <p:cNvSpPr/>
          <p:nvPr/>
        </p:nvSpPr>
        <p:spPr>
          <a:xfrm>
            <a:off x="6598768" y="3995928"/>
            <a:ext cx="402336" cy="402336"/>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9" name="Image 5" descr="preencoded.png">    </p:cNvPr>
          <p:cNvPicPr>
            <a:picLocks noChangeAspect="1"/>
          </p:cNvPicPr>
          <p:nvPr/>
        </p:nvPicPr>
        <p:blipFill>
          <a:blip r:embed="rId6"/>
          <a:stretch>
            <a:fillRect/>
          </a:stretch>
        </p:blipFill>
        <p:spPr>
          <a:xfrm>
            <a:off x="6695328" y="4092489"/>
            <a:ext cx="209215" cy="209215"/>
          </a:xfrm>
          <a:prstGeom prst="rect">
            <a:avLst/>
          </a:prstGeom>
        </p:spPr>
      </p:pic>
      <p:sp>
        <p:nvSpPr>
          <p:cNvPr id="30" name="Text 22"/>
          <p:cNvSpPr/>
          <p:nvPr/>
        </p:nvSpPr>
        <p:spPr>
          <a:xfrm>
            <a:off x="7129120" y="3968496"/>
            <a:ext cx="4267048" cy="274320"/>
          </a:xfrm>
          <a:prstGeom prst="rect">
            <a:avLst/>
          </a:prstGeom>
          <a:noFill/>
          <a:ln/>
        </p:spPr>
        <p:txBody>
          <a:bodyPr wrap="square" lIns="0" tIns="0" rIns="0" bIns="0" rtlCol="0" anchor="ctr"/>
          <a:lstStyle/>
          <a:p>
            <a:pPr indent="0" marL="0">
              <a:buNone/>
            </a:pPr>
            <a:r>
              <a:rPr lang="en-US" sz="1250" b="1" dirty="0">
                <a:solidFill>
                  <a:srgbClr val="1E7A45"/>
                </a:solidFill>
                <a:latin typeface="Calibri" pitchFamily="34" charset="0"/>
                <a:ea typeface="Calibri" pitchFamily="34" charset="-122"/>
                <a:cs typeface="Calibri" pitchFamily="34" charset="-120"/>
              </a:rPr>
              <a:t>Plausible Deniability</a:t>
            </a:r>
            <a:endParaRPr lang="en-US" sz="1250" dirty="0"/>
          </a:p>
        </p:txBody>
      </p:sp>
      <p:sp>
        <p:nvSpPr>
          <p:cNvPr id="31" name="Text 23"/>
          <p:cNvSpPr/>
          <p:nvPr/>
        </p:nvSpPr>
        <p:spPr>
          <a:xfrm>
            <a:off x="7129120" y="4224528"/>
            <a:ext cx="4267048" cy="502920"/>
          </a:xfrm>
          <a:prstGeom prst="rect">
            <a:avLst/>
          </a:prstGeom>
          <a:noFill/>
          <a:ln/>
        </p:spPr>
        <p:txBody>
          <a:bodyPr wrap="square" lIns="0" tIns="0" rIns="0" bIns="0" rtlCol="0" anchor="ctr"/>
          <a:lstStyle/>
          <a:p>
            <a:pPr indent="0" marL="0">
              <a:lnSpc>
                <a:spcPct val="100000"/>
              </a:lnSpc>
              <a:buNone/>
            </a:pPr>
            <a:r>
              <a:rPr lang="en-US" sz="1050" dirty="0">
                <a:solidFill>
                  <a:srgbClr val="3A454D"/>
                </a:solidFill>
                <a:latin typeface="Calibri" pitchFamily="34" charset="0"/>
                <a:ea typeface="Calibri" pitchFamily="34" charset="-122"/>
                <a:cs typeface="Calibri" pitchFamily="34" charset="-120"/>
              </a:rPr>
              <a:t>Deliberately blurred technical traces complicate attribution.</a:t>
            </a:r>
            <a:endParaRPr lang="en-US" sz="1050" dirty="0"/>
          </a:p>
        </p:txBody>
      </p:sp>
      <p:sp>
        <p:nvSpPr>
          <p:cNvPr id="32" name="Shape 24"/>
          <p:cNvSpPr/>
          <p:nvPr/>
        </p:nvSpPr>
        <p:spPr>
          <a:xfrm>
            <a:off x="6598768" y="4910328"/>
            <a:ext cx="402336" cy="402336"/>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33" name="Image 6" descr="preencoded.png">    </p:cNvPr>
          <p:cNvPicPr>
            <a:picLocks noChangeAspect="1"/>
          </p:cNvPicPr>
          <p:nvPr/>
        </p:nvPicPr>
        <p:blipFill>
          <a:blip r:embed="rId7"/>
          <a:stretch>
            <a:fillRect/>
          </a:stretch>
        </p:blipFill>
        <p:spPr>
          <a:xfrm>
            <a:off x="6695328" y="5006889"/>
            <a:ext cx="209215" cy="209215"/>
          </a:xfrm>
          <a:prstGeom prst="rect">
            <a:avLst/>
          </a:prstGeom>
        </p:spPr>
      </p:pic>
      <p:sp>
        <p:nvSpPr>
          <p:cNvPr id="34" name="Text 25"/>
          <p:cNvSpPr/>
          <p:nvPr/>
        </p:nvSpPr>
        <p:spPr>
          <a:xfrm>
            <a:off x="7129120" y="4882896"/>
            <a:ext cx="4267048" cy="274320"/>
          </a:xfrm>
          <a:prstGeom prst="rect">
            <a:avLst/>
          </a:prstGeom>
          <a:noFill/>
          <a:ln/>
        </p:spPr>
        <p:txBody>
          <a:bodyPr wrap="square" lIns="0" tIns="0" rIns="0" bIns="0" rtlCol="0" anchor="ctr"/>
          <a:lstStyle/>
          <a:p>
            <a:pPr indent="0" marL="0">
              <a:buNone/>
            </a:pPr>
            <a:r>
              <a:rPr lang="en-US" sz="1250" b="1" dirty="0">
                <a:solidFill>
                  <a:srgbClr val="1E7A45"/>
                </a:solidFill>
                <a:latin typeface="Calibri" pitchFamily="34" charset="0"/>
                <a:ea typeface="Calibri" pitchFamily="34" charset="-122"/>
                <a:cs typeface="Calibri" pitchFamily="34" charset="-120"/>
              </a:rPr>
              <a:t>Information Warfare</a:t>
            </a:r>
            <a:endParaRPr lang="en-US" sz="1250" dirty="0"/>
          </a:p>
        </p:txBody>
      </p:sp>
      <p:sp>
        <p:nvSpPr>
          <p:cNvPr id="35" name="Text 26"/>
          <p:cNvSpPr/>
          <p:nvPr/>
        </p:nvSpPr>
        <p:spPr>
          <a:xfrm>
            <a:off x="7129120" y="5138928"/>
            <a:ext cx="4267048" cy="502920"/>
          </a:xfrm>
          <a:prstGeom prst="rect">
            <a:avLst/>
          </a:prstGeom>
          <a:noFill/>
          <a:ln/>
        </p:spPr>
        <p:txBody>
          <a:bodyPr wrap="square" lIns="0" tIns="0" rIns="0" bIns="0" rtlCol="0" anchor="ctr"/>
          <a:lstStyle/>
          <a:p>
            <a:pPr indent="0" marL="0">
              <a:lnSpc>
                <a:spcPct val="100000"/>
              </a:lnSpc>
              <a:buNone/>
            </a:pPr>
            <a:r>
              <a:rPr lang="en-US" sz="1050" dirty="0">
                <a:solidFill>
                  <a:srgbClr val="3A454D"/>
                </a:solidFill>
                <a:latin typeface="Calibri" pitchFamily="34" charset="0"/>
                <a:ea typeface="Calibri" pitchFamily="34" charset="-122"/>
                <a:cs typeface="Calibri" pitchFamily="34" charset="-120"/>
              </a:rPr>
              <a:t>Destructive hacks + hack-and-leak to manipulate public opinion.</a:t>
            </a:r>
            <a:endParaRPr lang="en-US" sz="1050" dirty="0"/>
          </a:p>
        </p:txBody>
      </p:sp>
      <p:sp>
        <p:nvSpPr>
          <p:cNvPr id="36" name="Shape 27"/>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37" name="Text 28"/>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“We are no longer defending against criminals. We are operating in a contested geopolitical space.”</a:t>
            </a:r>
            <a:endParaRPr lang="en-US" sz="1350" dirty="0"/>
          </a:p>
        </p:txBody>
      </p:sp>
      <p:sp>
        <p:nvSpPr>
          <p:cNvPr id="38"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39" name="Text 30"/>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Threat Actor Mapping (1 / 2)</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The “Big Four” — Part 1: Patient Espionage vs. Kinetic Sabotage</a:t>
            </a:r>
            <a:endParaRPr lang="en-US" sz="1500" dirty="0"/>
          </a:p>
        </p:txBody>
      </p:sp>
      <p:sp>
        <p:nvSpPr>
          <p:cNvPr id="4" name="Shape 2"/>
          <p:cNvSpPr/>
          <p:nvPr/>
        </p:nvSpPr>
        <p:spPr>
          <a:xfrm>
            <a:off x="502920"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77240" y="1737360"/>
            <a:ext cx="548640" cy="54864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908914" y="1869034"/>
            <a:ext cx="285293" cy="285293"/>
          </a:xfrm>
          <a:prstGeom prst="rect">
            <a:avLst/>
          </a:prstGeom>
        </p:spPr>
      </p:pic>
      <p:sp>
        <p:nvSpPr>
          <p:cNvPr id="7" name="Text 4"/>
          <p:cNvSpPr/>
          <p:nvPr/>
        </p:nvSpPr>
        <p:spPr>
          <a:xfrm>
            <a:off x="1463040" y="1682496"/>
            <a:ext cx="4152748" cy="365760"/>
          </a:xfrm>
          <a:prstGeom prst="rect">
            <a:avLst/>
          </a:prstGeom>
          <a:noFill/>
          <a:ln/>
        </p:spPr>
        <p:txBody>
          <a:bodyPr wrap="square" lIns="0" tIns="0" rIns="0" bIns="0" rtlCol="0" anchor="ctr"/>
          <a:lstStyle/>
          <a:p>
            <a:pPr indent="0" marL="0">
              <a:buNone/>
            </a:pPr>
            <a:r>
              <a:rPr lang="en-US" sz="1800" b="1" dirty="0">
                <a:solidFill>
                  <a:srgbClr val="1E7A45"/>
                </a:solidFill>
                <a:latin typeface="Cambria" pitchFamily="34" charset="0"/>
                <a:ea typeface="Cambria" pitchFamily="34" charset="-122"/>
                <a:cs typeface="Cambria" pitchFamily="34" charset="-120"/>
              </a:rPr>
              <a:t>CHINA</a:t>
            </a:r>
            <a:endParaRPr lang="en-US" sz="1800" dirty="0"/>
          </a:p>
        </p:txBody>
      </p:sp>
      <p:sp>
        <p:nvSpPr>
          <p:cNvPr id="8" name="Text 5"/>
          <p:cNvSpPr/>
          <p:nvPr/>
        </p:nvSpPr>
        <p:spPr>
          <a:xfrm>
            <a:off x="1463040" y="2011680"/>
            <a:ext cx="4152748" cy="320040"/>
          </a:xfrm>
          <a:prstGeom prst="rect">
            <a:avLst/>
          </a:prstGeom>
          <a:noFill/>
          <a:ln/>
        </p:spPr>
        <p:txBody>
          <a:bodyPr wrap="square" lIns="0" tIns="0" rIns="0" bIns="0" rtlCol="0" anchor="ctr"/>
          <a:lstStyle/>
          <a:p>
            <a:pPr indent="0" marL="0">
              <a:buNone/>
            </a:pPr>
            <a:r>
              <a:rPr lang="en-US" sz="1100" dirty="0">
                <a:solidFill>
                  <a:srgbClr val="708090"/>
                </a:solidFill>
                <a:latin typeface="Calibri" pitchFamily="34" charset="0"/>
                <a:ea typeface="Calibri" pitchFamily="34" charset="-122"/>
                <a:cs typeface="Calibri" pitchFamily="34" charset="-120"/>
              </a:rPr>
              <a:t>Espionage &amp; IP Theft</a:t>
            </a:r>
            <a:endParaRPr lang="en-US" sz="1100" dirty="0"/>
          </a:p>
        </p:txBody>
      </p:sp>
      <p:sp>
        <p:nvSpPr>
          <p:cNvPr id="9" name="Text 6"/>
          <p:cNvSpPr/>
          <p:nvPr/>
        </p:nvSpPr>
        <p:spPr>
          <a:xfrm>
            <a:off x="777240" y="2414016"/>
            <a:ext cx="4838548" cy="365760"/>
          </a:xfrm>
          <a:prstGeom prst="rect">
            <a:avLst/>
          </a:prstGeom>
          <a:noFill/>
          <a:ln/>
        </p:spPr>
        <p:txBody>
          <a:bodyPr wrap="square" lIns="0" tIns="0" rIns="0" bIns="0" rtlCol="0" anchor="ctr"/>
          <a:lstStyle/>
          <a:p>
            <a:pPr indent="0" marL="0">
              <a:buNone/>
            </a:pPr>
            <a:r>
              <a:rPr lang="en-US" sz="1250" b="1" i="1" dirty="0">
                <a:solidFill>
                  <a:srgbClr val="3A454D"/>
                </a:solidFill>
                <a:latin typeface="Cambria" pitchFamily="34" charset="0"/>
                <a:ea typeface="Cambria" pitchFamily="34" charset="-122"/>
                <a:cs typeface="Cambria" pitchFamily="34" charset="-120"/>
              </a:rPr>
              <a:t>“Patient economic dominance.”</a:t>
            </a:r>
            <a:endParaRPr lang="en-US" sz="1250" dirty="0"/>
          </a:p>
        </p:txBody>
      </p:sp>
      <p:sp>
        <p:nvSpPr>
          <p:cNvPr id="10" name="Shape 7"/>
          <p:cNvSpPr/>
          <p:nvPr/>
        </p:nvSpPr>
        <p:spPr>
          <a:xfrm>
            <a:off x="777240" y="2779776"/>
            <a:ext cx="4838548" cy="0"/>
          </a:xfrm>
          <a:prstGeom prst="line">
            <a:avLst/>
          </a:prstGeom>
          <a:noFill/>
          <a:ln w="9525">
            <a:solidFill>
              <a:srgbClr val="708090">
                <a:alpha val="45000"/>
              </a:srgbClr>
            </a:solidFill>
            <a:prstDash val="solid"/>
          </a:ln>
        </p:spPr>
      </p:sp>
      <p:sp>
        <p:nvSpPr>
          <p:cNvPr id="11" name="Text 8"/>
          <p:cNvSpPr/>
          <p:nvPr/>
        </p:nvSpPr>
        <p:spPr>
          <a:xfrm>
            <a:off x="777240" y="2898648"/>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MOTIVATION</a:t>
            </a:r>
            <a:endParaRPr lang="en-US" sz="950" dirty="0"/>
          </a:p>
        </p:txBody>
      </p:sp>
      <p:sp>
        <p:nvSpPr>
          <p:cNvPr id="12" name="Text 9"/>
          <p:cNvSpPr/>
          <p:nvPr/>
        </p:nvSpPr>
        <p:spPr>
          <a:xfrm>
            <a:off x="2057400" y="2898648"/>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Long-term strategic advantage &amp; global economic dominance</a:t>
            </a:r>
            <a:endParaRPr lang="en-US" sz="1050" dirty="0"/>
          </a:p>
        </p:txBody>
      </p:sp>
      <p:sp>
        <p:nvSpPr>
          <p:cNvPr id="13" name="Shape 10"/>
          <p:cNvSpPr/>
          <p:nvPr/>
        </p:nvSpPr>
        <p:spPr>
          <a:xfrm>
            <a:off x="777240" y="3351276"/>
            <a:ext cx="4838548" cy="0"/>
          </a:xfrm>
          <a:prstGeom prst="line">
            <a:avLst/>
          </a:prstGeom>
          <a:noFill/>
          <a:ln w="6350">
            <a:solidFill>
              <a:srgbClr val="708090">
                <a:alpha val="45000"/>
              </a:srgbClr>
            </a:solidFill>
            <a:prstDash val="solid"/>
          </a:ln>
        </p:spPr>
      </p:sp>
      <p:sp>
        <p:nvSpPr>
          <p:cNvPr id="14" name="Text 11"/>
          <p:cNvSpPr/>
          <p:nvPr/>
        </p:nvSpPr>
        <p:spPr>
          <a:xfrm>
            <a:off x="777240" y="3387852"/>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TARGETS</a:t>
            </a:r>
            <a:endParaRPr lang="en-US" sz="950" dirty="0"/>
          </a:p>
        </p:txBody>
      </p:sp>
      <p:sp>
        <p:nvSpPr>
          <p:cNvPr id="15" name="Text 12"/>
          <p:cNvSpPr/>
          <p:nvPr/>
        </p:nvSpPr>
        <p:spPr>
          <a:xfrm>
            <a:off x="2057400" y="3387852"/>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Intellectual property, critical infrastructure, advanced manufacturing</a:t>
            </a:r>
            <a:endParaRPr lang="en-US" sz="1050" dirty="0"/>
          </a:p>
        </p:txBody>
      </p:sp>
      <p:sp>
        <p:nvSpPr>
          <p:cNvPr id="16" name="Shape 13"/>
          <p:cNvSpPr/>
          <p:nvPr/>
        </p:nvSpPr>
        <p:spPr>
          <a:xfrm>
            <a:off x="777240" y="3840480"/>
            <a:ext cx="4838548" cy="0"/>
          </a:xfrm>
          <a:prstGeom prst="line">
            <a:avLst/>
          </a:prstGeom>
          <a:noFill/>
          <a:ln w="6350">
            <a:solidFill>
              <a:srgbClr val="708090">
                <a:alpha val="45000"/>
              </a:srgbClr>
            </a:solidFill>
            <a:prstDash val="solid"/>
          </a:ln>
        </p:spPr>
      </p:sp>
      <p:sp>
        <p:nvSpPr>
          <p:cNvPr id="17" name="Text 14"/>
          <p:cNvSpPr/>
          <p:nvPr/>
        </p:nvSpPr>
        <p:spPr>
          <a:xfrm>
            <a:off x="777240" y="3877056"/>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METHODS</a:t>
            </a:r>
            <a:endParaRPr lang="en-US" sz="950" dirty="0"/>
          </a:p>
        </p:txBody>
      </p:sp>
      <p:sp>
        <p:nvSpPr>
          <p:cNvPr id="18" name="Text 15"/>
          <p:cNvSpPr/>
          <p:nvPr/>
        </p:nvSpPr>
        <p:spPr>
          <a:xfrm>
            <a:off x="2057400" y="3877056"/>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Stealthy, low-noise TTPs — extensive “Living off the Land”</a:t>
            </a:r>
            <a:endParaRPr lang="en-US" sz="1050" dirty="0"/>
          </a:p>
        </p:txBody>
      </p:sp>
      <p:sp>
        <p:nvSpPr>
          <p:cNvPr id="19" name="Shape 16"/>
          <p:cNvSpPr/>
          <p:nvPr/>
        </p:nvSpPr>
        <p:spPr>
          <a:xfrm>
            <a:off x="777240" y="4329684"/>
            <a:ext cx="4838548" cy="0"/>
          </a:xfrm>
          <a:prstGeom prst="line">
            <a:avLst/>
          </a:prstGeom>
          <a:noFill/>
          <a:ln w="6350">
            <a:solidFill>
              <a:srgbClr val="708090">
                <a:alpha val="45000"/>
              </a:srgbClr>
            </a:solidFill>
            <a:prstDash val="solid"/>
          </a:ln>
        </p:spPr>
      </p:sp>
      <p:sp>
        <p:nvSpPr>
          <p:cNvPr id="20" name="Text 17"/>
          <p:cNvSpPr/>
          <p:nvPr/>
        </p:nvSpPr>
        <p:spPr>
          <a:xfrm>
            <a:off x="777240" y="4366260"/>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SIGNATURE</a:t>
            </a:r>
            <a:endParaRPr lang="en-US" sz="950" dirty="0"/>
          </a:p>
        </p:txBody>
      </p:sp>
      <p:sp>
        <p:nvSpPr>
          <p:cNvPr id="21" name="Text 18"/>
          <p:cNvSpPr/>
          <p:nvPr/>
        </p:nvSpPr>
        <p:spPr>
          <a:xfrm>
            <a:off x="2057400" y="4366260"/>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Patience — dwell times measured in months to years</a:t>
            </a:r>
            <a:endParaRPr lang="en-US" sz="1050" dirty="0"/>
          </a:p>
        </p:txBody>
      </p:sp>
      <p:sp>
        <p:nvSpPr>
          <p:cNvPr id="22" name="Shape 19"/>
          <p:cNvSpPr/>
          <p:nvPr/>
        </p:nvSpPr>
        <p:spPr>
          <a:xfrm>
            <a:off x="777240" y="4818888"/>
            <a:ext cx="4838548" cy="0"/>
          </a:xfrm>
          <a:prstGeom prst="line">
            <a:avLst/>
          </a:prstGeom>
          <a:noFill/>
          <a:ln w="6350">
            <a:solidFill>
              <a:srgbClr val="708090">
                <a:alpha val="45000"/>
              </a:srgbClr>
            </a:solidFill>
            <a:prstDash val="solid"/>
          </a:ln>
        </p:spPr>
      </p:sp>
      <p:sp>
        <p:nvSpPr>
          <p:cNvPr id="23" name="Text 20"/>
          <p:cNvSpPr/>
          <p:nvPr/>
        </p:nvSpPr>
        <p:spPr>
          <a:xfrm>
            <a:off x="777240" y="4855464"/>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RECENT</a:t>
            </a:r>
            <a:endParaRPr lang="en-US" sz="950" dirty="0"/>
          </a:p>
        </p:txBody>
      </p:sp>
      <p:sp>
        <p:nvSpPr>
          <p:cNvPr id="24" name="Text 21"/>
          <p:cNvSpPr/>
          <p:nvPr/>
        </p:nvSpPr>
        <p:spPr>
          <a:xfrm>
            <a:off x="2057400" y="4855464"/>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UNC3886 — Singapore telecoms compromise (Feb 2026)</a:t>
            </a:r>
            <a:endParaRPr lang="en-US" sz="1050" dirty="0"/>
          </a:p>
        </p:txBody>
      </p:sp>
      <p:sp>
        <p:nvSpPr>
          <p:cNvPr id="25" name="Shape 22"/>
          <p:cNvSpPr/>
          <p:nvPr/>
        </p:nvSpPr>
        <p:spPr>
          <a:xfrm>
            <a:off x="6301588"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26" name="Shape 23"/>
          <p:cNvSpPr/>
          <p:nvPr/>
        </p:nvSpPr>
        <p:spPr>
          <a:xfrm>
            <a:off x="6575908" y="1737360"/>
            <a:ext cx="548640" cy="54864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7" name="Image 1" descr="preencoded.png">    </p:cNvPr>
          <p:cNvPicPr>
            <a:picLocks noChangeAspect="1"/>
          </p:cNvPicPr>
          <p:nvPr/>
        </p:nvPicPr>
        <p:blipFill>
          <a:blip r:embed="rId2"/>
          <a:stretch>
            <a:fillRect/>
          </a:stretch>
        </p:blipFill>
        <p:spPr>
          <a:xfrm>
            <a:off x="6707581" y="1869034"/>
            <a:ext cx="285293" cy="285293"/>
          </a:xfrm>
          <a:prstGeom prst="rect">
            <a:avLst/>
          </a:prstGeom>
        </p:spPr>
      </p:pic>
      <p:sp>
        <p:nvSpPr>
          <p:cNvPr id="28" name="Text 24"/>
          <p:cNvSpPr/>
          <p:nvPr/>
        </p:nvSpPr>
        <p:spPr>
          <a:xfrm>
            <a:off x="7261708" y="1682496"/>
            <a:ext cx="4152748" cy="365760"/>
          </a:xfrm>
          <a:prstGeom prst="rect">
            <a:avLst/>
          </a:prstGeom>
          <a:noFill/>
          <a:ln/>
        </p:spPr>
        <p:txBody>
          <a:bodyPr wrap="square" lIns="0" tIns="0" rIns="0" bIns="0" rtlCol="0" anchor="ctr"/>
          <a:lstStyle/>
          <a:p>
            <a:pPr indent="0" marL="0">
              <a:buNone/>
            </a:pPr>
            <a:r>
              <a:rPr lang="en-US" sz="1800" b="1" dirty="0">
                <a:solidFill>
                  <a:srgbClr val="1E7A45"/>
                </a:solidFill>
                <a:latin typeface="Cambria" pitchFamily="34" charset="0"/>
                <a:ea typeface="Cambria" pitchFamily="34" charset="-122"/>
                <a:cs typeface="Cambria" pitchFamily="34" charset="-120"/>
              </a:rPr>
              <a:t>RUSSIA</a:t>
            </a:r>
            <a:endParaRPr lang="en-US" sz="1800" dirty="0"/>
          </a:p>
        </p:txBody>
      </p:sp>
      <p:sp>
        <p:nvSpPr>
          <p:cNvPr id="29" name="Text 25"/>
          <p:cNvSpPr/>
          <p:nvPr/>
        </p:nvSpPr>
        <p:spPr>
          <a:xfrm>
            <a:off x="7261708" y="2011680"/>
            <a:ext cx="4152748" cy="320040"/>
          </a:xfrm>
          <a:prstGeom prst="rect">
            <a:avLst/>
          </a:prstGeom>
          <a:noFill/>
          <a:ln/>
        </p:spPr>
        <p:txBody>
          <a:bodyPr wrap="square" lIns="0" tIns="0" rIns="0" bIns="0" rtlCol="0" anchor="ctr"/>
          <a:lstStyle/>
          <a:p>
            <a:pPr indent="0" marL="0">
              <a:buNone/>
            </a:pPr>
            <a:r>
              <a:rPr lang="en-US" sz="1100" dirty="0">
                <a:solidFill>
                  <a:srgbClr val="708090"/>
                </a:solidFill>
                <a:latin typeface="Calibri" pitchFamily="34" charset="0"/>
                <a:ea typeface="Calibri" pitchFamily="34" charset="-122"/>
                <a:cs typeface="Calibri" pitchFamily="34" charset="-120"/>
              </a:rPr>
              <a:t>Sabotage &amp; Disruption</a:t>
            </a:r>
            <a:endParaRPr lang="en-US" sz="1100" dirty="0"/>
          </a:p>
        </p:txBody>
      </p:sp>
      <p:sp>
        <p:nvSpPr>
          <p:cNvPr id="30" name="Text 26"/>
          <p:cNvSpPr/>
          <p:nvPr/>
        </p:nvSpPr>
        <p:spPr>
          <a:xfrm>
            <a:off x="6575908" y="2414016"/>
            <a:ext cx="4838548" cy="365760"/>
          </a:xfrm>
          <a:prstGeom prst="rect">
            <a:avLst/>
          </a:prstGeom>
          <a:noFill/>
          <a:ln/>
        </p:spPr>
        <p:txBody>
          <a:bodyPr wrap="square" lIns="0" tIns="0" rIns="0" bIns="0" rtlCol="0" anchor="ctr"/>
          <a:lstStyle/>
          <a:p>
            <a:pPr indent="0" marL="0">
              <a:buNone/>
            </a:pPr>
            <a:r>
              <a:rPr lang="en-US" sz="1250" b="1" i="1" dirty="0">
                <a:solidFill>
                  <a:srgbClr val="3A454D"/>
                </a:solidFill>
                <a:latin typeface="Cambria" pitchFamily="34" charset="0"/>
                <a:ea typeface="Cambria" pitchFamily="34" charset="-122"/>
                <a:cs typeface="Cambria" pitchFamily="34" charset="-120"/>
              </a:rPr>
              <a:t>“Cyber as an extension of the battlefield.”</a:t>
            </a:r>
            <a:endParaRPr lang="en-US" sz="1250" dirty="0"/>
          </a:p>
        </p:txBody>
      </p:sp>
      <p:sp>
        <p:nvSpPr>
          <p:cNvPr id="31" name="Shape 27"/>
          <p:cNvSpPr/>
          <p:nvPr/>
        </p:nvSpPr>
        <p:spPr>
          <a:xfrm>
            <a:off x="6575908" y="2779776"/>
            <a:ext cx="4838548" cy="0"/>
          </a:xfrm>
          <a:prstGeom prst="line">
            <a:avLst/>
          </a:prstGeom>
          <a:noFill/>
          <a:ln w="9525">
            <a:solidFill>
              <a:srgbClr val="708090">
                <a:alpha val="45000"/>
              </a:srgbClr>
            </a:solidFill>
            <a:prstDash val="solid"/>
          </a:ln>
        </p:spPr>
      </p:sp>
      <p:sp>
        <p:nvSpPr>
          <p:cNvPr id="32" name="Text 28"/>
          <p:cNvSpPr/>
          <p:nvPr/>
        </p:nvSpPr>
        <p:spPr>
          <a:xfrm>
            <a:off x="6575908" y="2898648"/>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MOTIVATION</a:t>
            </a:r>
            <a:endParaRPr lang="en-US" sz="950" dirty="0"/>
          </a:p>
        </p:txBody>
      </p:sp>
      <p:sp>
        <p:nvSpPr>
          <p:cNvPr id="33" name="Text 29"/>
          <p:cNvSpPr/>
          <p:nvPr/>
        </p:nvSpPr>
        <p:spPr>
          <a:xfrm>
            <a:off x="7856068" y="2898648"/>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Geopolitical intimidation integrated with kinetic operations</a:t>
            </a:r>
            <a:endParaRPr lang="en-US" sz="1050" dirty="0"/>
          </a:p>
        </p:txBody>
      </p:sp>
      <p:sp>
        <p:nvSpPr>
          <p:cNvPr id="34" name="Shape 30"/>
          <p:cNvSpPr/>
          <p:nvPr/>
        </p:nvSpPr>
        <p:spPr>
          <a:xfrm>
            <a:off x="6575908" y="3351276"/>
            <a:ext cx="4838548" cy="0"/>
          </a:xfrm>
          <a:prstGeom prst="line">
            <a:avLst/>
          </a:prstGeom>
          <a:noFill/>
          <a:ln w="6350">
            <a:solidFill>
              <a:srgbClr val="708090">
                <a:alpha val="45000"/>
              </a:srgbClr>
            </a:solidFill>
            <a:prstDash val="solid"/>
          </a:ln>
        </p:spPr>
      </p:sp>
      <p:sp>
        <p:nvSpPr>
          <p:cNvPr id="35" name="Text 31"/>
          <p:cNvSpPr/>
          <p:nvPr/>
        </p:nvSpPr>
        <p:spPr>
          <a:xfrm>
            <a:off x="6575908" y="3387852"/>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TARGETS</a:t>
            </a:r>
            <a:endParaRPr lang="en-US" sz="950" dirty="0"/>
          </a:p>
        </p:txBody>
      </p:sp>
      <p:sp>
        <p:nvSpPr>
          <p:cNvPr id="36" name="Text 32"/>
          <p:cNvSpPr/>
          <p:nvPr/>
        </p:nvSpPr>
        <p:spPr>
          <a:xfrm>
            <a:off x="7856068" y="3387852"/>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Energy grids, government networks, logistics, Ukraine supply lines</a:t>
            </a:r>
            <a:endParaRPr lang="en-US" sz="1050" dirty="0"/>
          </a:p>
        </p:txBody>
      </p:sp>
      <p:sp>
        <p:nvSpPr>
          <p:cNvPr id="37" name="Shape 33"/>
          <p:cNvSpPr/>
          <p:nvPr/>
        </p:nvSpPr>
        <p:spPr>
          <a:xfrm>
            <a:off x="6575908" y="3840480"/>
            <a:ext cx="4838548" cy="0"/>
          </a:xfrm>
          <a:prstGeom prst="line">
            <a:avLst/>
          </a:prstGeom>
          <a:noFill/>
          <a:ln w="6350">
            <a:solidFill>
              <a:srgbClr val="708090">
                <a:alpha val="45000"/>
              </a:srgbClr>
            </a:solidFill>
            <a:prstDash val="solid"/>
          </a:ln>
        </p:spPr>
      </p:sp>
      <p:sp>
        <p:nvSpPr>
          <p:cNvPr id="38" name="Text 34"/>
          <p:cNvSpPr/>
          <p:nvPr/>
        </p:nvSpPr>
        <p:spPr>
          <a:xfrm>
            <a:off x="6575908" y="3877056"/>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METHODS</a:t>
            </a:r>
            <a:endParaRPr lang="en-US" sz="950" dirty="0"/>
          </a:p>
        </p:txBody>
      </p:sp>
      <p:sp>
        <p:nvSpPr>
          <p:cNvPr id="39" name="Text 35"/>
          <p:cNvSpPr/>
          <p:nvPr/>
        </p:nvSpPr>
        <p:spPr>
          <a:xfrm>
            <a:off x="7856068" y="3877056"/>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Heavy proxy reliance; destructive wipers disguised as ransomware</a:t>
            </a:r>
            <a:endParaRPr lang="en-US" sz="1050" dirty="0"/>
          </a:p>
        </p:txBody>
      </p:sp>
      <p:sp>
        <p:nvSpPr>
          <p:cNvPr id="40" name="Shape 36"/>
          <p:cNvSpPr/>
          <p:nvPr/>
        </p:nvSpPr>
        <p:spPr>
          <a:xfrm>
            <a:off x="6575908" y="4329684"/>
            <a:ext cx="4838548" cy="0"/>
          </a:xfrm>
          <a:prstGeom prst="line">
            <a:avLst/>
          </a:prstGeom>
          <a:noFill/>
          <a:ln w="6350">
            <a:solidFill>
              <a:srgbClr val="708090">
                <a:alpha val="45000"/>
              </a:srgbClr>
            </a:solidFill>
            <a:prstDash val="solid"/>
          </a:ln>
        </p:spPr>
      </p:sp>
      <p:sp>
        <p:nvSpPr>
          <p:cNvPr id="41" name="Text 37"/>
          <p:cNvSpPr/>
          <p:nvPr/>
        </p:nvSpPr>
        <p:spPr>
          <a:xfrm>
            <a:off x="6575908" y="4366260"/>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SIGNATURE</a:t>
            </a:r>
            <a:endParaRPr lang="en-US" sz="950" dirty="0"/>
          </a:p>
        </p:txBody>
      </p:sp>
      <p:sp>
        <p:nvSpPr>
          <p:cNvPr id="42" name="Text 38"/>
          <p:cNvSpPr/>
          <p:nvPr/>
        </p:nvSpPr>
        <p:spPr>
          <a:xfrm>
            <a:off x="7856068" y="4366260"/>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Deniability — hacktivist proxies muddy attribution</a:t>
            </a:r>
            <a:endParaRPr lang="en-US" sz="1050" dirty="0"/>
          </a:p>
        </p:txBody>
      </p:sp>
      <p:sp>
        <p:nvSpPr>
          <p:cNvPr id="43" name="Shape 39"/>
          <p:cNvSpPr/>
          <p:nvPr/>
        </p:nvSpPr>
        <p:spPr>
          <a:xfrm>
            <a:off x="6575908" y="4818888"/>
            <a:ext cx="4838548" cy="0"/>
          </a:xfrm>
          <a:prstGeom prst="line">
            <a:avLst/>
          </a:prstGeom>
          <a:noFill/>
          <a:ln w="6350">
            <a:solidFill>
              <a:srgbClr val="708090">
                <a:alpha val="45000"/>
              </a:srgbClr>
            </a:solidFill>
            <a:prstDash val="solid"/>
          </a:ln>
        </p:spPr>
      </p:sp>
      <p:sp>
        <p:nvSpPr>
          <p:cNvPr id="44" name="Text 40"/>
          <p:cNvSpPr/>
          <p:nvPr/>
        </p:nvSpPr>
        <p:spPr>
          <a:xfrm>
            <a:off x="6575908" y="4855464"/>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RECENT</a:t>
            </a:r>
            <a:endParaRPr lang="en-US" sz="950" dirty="0"/>
          </a:p>
        </p:txBody>
      </p:sp>
      <p:sp>
        <p:nvSpPr>
          <p:cNvPr id="45" name="Text 41"/>
          <p:cNvSpPr/>
          <p:nvPr/>
        </p:nvSpPr>
        <p:spPr>
          <a:xfrm>
            <a:off x="7856068" y="4855464"/>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Polish power grid — ~30 sites (Dec 2025–Jan 2026)</a:t>
            </a:r>
            <a:endParaRPr lang="en-US" sz="1050" dirty="0"/>
          </a:p>
        </p:txBody>
      </p:sp>
      <p:sp>
        <p:nvSpPr>
          <p:cNvPr id="46" name="Shape 42"/>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47" name="Text 43"/>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Same category — “nation-state” — completely different playbooks. Our defense must match both.</a:t>
            </a:r>
            <a:endParaRPr lang="en-US" sz="1350" dirty="0"/>
          </a:p>
        </p:txBody>
      </p:sp>
      <p:sp>
        <p:nvSpPr>
          <p:cNvPr id="48" name="Text 4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49" name="Text 45"/>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Threat Actor Mapping (2 / 2)</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The “Big Four” — Part 2: Aggressive Retaliation vs. State-Funded Crime</a:t>
            </a:r>
            <a:endParaRPr lang="en-US" sz="1500" dirty="0"/>
          </a:p>
        </p:txBody>
      </p:sp>
      <p:sp>
        <p:nvSpPr>
          <p:cNvPr id="4" name="Shape 2"/>
          <p:cNvSpPr/>
          <p:nvPr/>
        </p:nvSpPr>
        <p:spPr>
          <a:xfrm>
            <a:off x="502920"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77240" y="1737360"/>
            <a:ext cx="548640" cy="54864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908914" y="1869034"/>
            <a:ext cx="285293" cy="285293"/>
          </a:xfrm>
          <a:prstGeom prst="rect">
            <a:avLst/>
          </a:prstGeom>
        </p:spPr>
      </p:pic>
      <p:sp>
        <p:nvSpPr>
          <p:cNvPr id="7" name="Text 4"/>
          <p:cNvSpPr/>
          <p:nvPr/>
        </p:nvSpPr>
        <p:spPr>
          <a:xfrm>
            <a:off x="1463040" y="1682496"/>
            <a:ext cx="4152748" cy="365760"/>
          </a:xfrm>
          <a:prstGeom prst="rect">
            <a:avLst/>
          </a:prstGeom>
          <a:noFill/>
          <a:ln/>
        </p:spPr>
        <p:txBody>
          <a:bodyPr wrap="square" lIns="0" tIns="0" rIns="0" bIns="0" rtlCol="0" anchor="ctr"/>
          <a:lstStyle/>
          <a:p>
            <a:pPr indent="0" marL="0">
              <a:buNone/>
            </a:pPr>
            <a:r>
              <a:rPr lang="en-US" sz="1800" b="1" dirty="0">
                <a:solidFill>
                  <a:srgbClr val="1E7A45"/>
                </a:solidFill>
                <a:latin typeface="Cambria" pitchFamily="34" charset="0"/>
                <a:ea typeface="Cambria" pitchFamily="34" charset="-122"/>
                <a:cs typeface="Cambria" pitchFamily="34" charset="-120"/>
              </a:rPr>
              <a:t>IRAN</a:t>
            </a:r>
            <a:endParaRPr lang="en-US" sz="1800" dirty="0"/>
          </a:p>
        </p:txBody>
      </p:sp>
      <p:sp>
        <p:nvSpPr>
          <p:cNvPr id="8" name="Text 5"/>
          <p:cNvSpPr/>
          <p:nvPr/>
        </p:nvSpPr>
        <p:spPr>
          <a:xfrm>
            <a:off x="1463040" y="2011680"/>
            <a:ext cx="4152748" cy="320040"/>
          </a:xfrm>
          <a:prstGeom prst="rect">
            <a:avLst/>
          </a:prstGeom>
          <a:noFill/>
          <a:ln/>
        </p:spPr>
        <p:txBody>
          <a:bodyPr wrap="square" lIns="0" tIns="0" rIns="0" bIns="0" rtlCol="0" anchor="ctr"/>
          <a:lstStyle/>
          <a:p>
            <a:pPr indent="0" marL="0">
              <a:buNone/>
            </a:pPr>
            <a:r>
              <a:rPr lang="en-US" sz="1100" dirty="0">
                <a:solidFill>
                  <a:srgbClr val="708090"/>
                </a:solidFill>
                <a:latin typeface="Calibri" pitchFamily="34" charset="0"/>
                <a:ea typeface="Calibri" pitchFamily="34" charset="-122"/>
                <a:cs typeface="Calibri" pitchFamily="34" charset="-120"/>
              </a:rPr>
              <a:t>Retaliation &amp; Pressure</a:t>
            </a:r>
            <a:endParaRPr lang="en-US" sz="1100" dirty="0"/>
          </a:p>
        </p:txBody>
      </p:sp>
      <p:sp>
        <p:nvSpPr>
          <p:cNvPr id="9" name="Text 6"/>
          <p:cNvSpPr/>
          <p:nvPr/>
        </p:nvSpPr>
        <p:spPr>
          <a:xfrm>
            <a:off x="777240" y="2414016"/>
            <a:ext cx="4838548" cy="365760"/>
          </a:xfrm>
          <a:prstGeom prst="rect">
            <a:avLst/>
          </a:prstGeom>
          <a:noFill/>
          <a:ln/>
        </p:spPr>
        <p:txBody>
          <a:bodyPr wrap="square" lIns="0" tIns="0" rIns="0" bIns="0" rtlCol="0" anchor="ctr"/>
          <a:lstStyle/>
          <a:p>
            <a:pPr indent="0" marL="0">
              <a:buNone/>
            </a:pPr>
            <a:r>
              <a:rPr lang="en-US" sz="1250" b="1" i="1" dirty="0">
                <a:solidFill>
                  <a:srgbClr val="3A454D"/>
                </a:solidFill>
                <a:latin typeface="Cambria" pitchFamily="34" charset="0"/>
                <a:ea typeface="Cambria" pitchFamily="34" charset="-122"/>
                <a:cs typeface="Cambria" pitchFamily="34" charset="-120"/>
              </a:rPr>
              <a:t>“Loud, aggressive, unpredictable.”</a:t>
            </a:r>
            <a:endParaRPr lang="en-US" sz="1250" dirty="0"/>
          </a:p>
        </p:txBody>
      </p:sp>
      <p:sp>
        <p:nvSpPr>
          <p:cNvPr id="10" name="Shape 7"/>
          <p:cNvSpPr/>
          <p:nvPr/>
        </p:nvSpPr>
        <p:spPr>
          <a:xfrm>
            <a:off x="777240" y="2779776"/>
            <a:ext cx="4838548" cy="0"/>
          </a:xfrm>
          <a:prstGeom prst="line">
            <a:avLst/>
          </a:prstGeom>
          <a:noFill/>
          <a:ln w="9525">
            <a:solidFill>
              <a:srgbClr val="708090">
                <a:alpha val="45000"/>
              </a:srgbClr>
            </a:solidFill>
            <a:prstDash val="solid"/>
          </a:ln>
        </p:spPr>
      </p:sp>
      <p:sp>
        <p:nvSpPr>
          <p:cNvPr id="11" name="Text 8"/>
          <p:cNvSpPr/>
          <p:nvPr/>
        </p:nvSpPr>
        <p:spPr>
          <a:xfrm>
            <a:off x="777240" y="2898648"/>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MOTIVATION</a:t>
            </a:r>
            <a:endParaRPr lang="en-US" sz="950" dirty="0"/>
          </a:p>
        </p:txBody>
      </p:sp>
      <p:sp>
        <p:nvSpPr>
          <p:cNvPr id="12" name="Text 9"/>
          <p:cNvSpPr/>
          <p:nvPr/>
        </p:nvSpPr>
        <p:spPr>
          <a:xfrm>
            <a:off x="2057400" y="2898648"/>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Retaliatory operations, demonstration of force, regional destabilization</a:t>
            </a:r>
            <a:endParaRPr lang="en-US" sz="1050" dirty="0"/>
          </a:p>
        </p:txBody>
      </p:sp>
      <p:sp>
        <p:nvSpPr>
          <p:cNvPr id="13" name="Shape 10"/>
          <p:cNvSpPr/>
          <p:nvPr/>
        </p:nvSpPr>
        <p:spPr>
          <a:xfrm>
            <a:off x="777240" y="3351276"/>
            <a:ext cx="4838548" cy="0"/>
          </a:xfrm>
          <a:prstGeom prst="line">
            <a:avLst/>
          </a:prstGeom>
          <a:noFill/>
          <a:ln w="6350">
            <a:solidFill>
              <a:srgbClr val="708090">
                <a:alpha val="45000"/>
              </a:srgbClr>
            </a:solidFill>
            <a:prstDash val="solid"/>
          </a:ln>
        </p:spPr>
      </p:sp>
      <p:sp>
        <p:nvSpPr>
          <p:cNvPr id="14" name="Text 11"/>
          <p:cNvSpPr/>
          <p:nvPr/>
        </p:nvSpPr>
        <p:spPr>
          <a:xfrm>
            <a:off x="777240" y="3387852"/>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TARGETS</a:t>
            </a:r>
            <a:endParaRPr lang="en-US" sz="950" dirty="0"/>
          </a:p>
        </p:txBody>
      </p:sp>
      <p:sp>
        <p:nvSpPr>
          <p:cNvPr id="15" name="Text 12"/>
          <p:cNvSpPr/>
          <p:nvPr/>
        </p:nvSpPr>
        <p:spPr>
          <a:xfrm>
            <a:off x="2057400" y="3387852"/>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Defense contractors, political adversaries, critical infrastructure</a:t>
            </a:r>
            <a:endParaRPr lang="en-US" sz="1050" dirty="0"/>
          </a:p>
        </p:txBody>
      </p:sp>
      <p:sp>
        <p:nvSpPr>
          <p:cNvPr id="16" name="Shape 13"/>
          <p:cNvSpPr/>
          <p:nvPr/>
        </p:nvSpPr>
        <p:spPr>
          <a:xfrm>
            <a:off x="777240" y="3840480"/>
            <a:ext cx="4838548" cy="0"/>
          </a:xfrm>
          <a:prstGeom prst="line">
            <a:avLst/>
          </a:prstGeom>
          <a:noFill/>
          <a:ln w="6350">
            <a:solidFill>
              <a:srgbClr val="708090">
                <a:alpha val="45000"/>
              </a:srgbClr>
            </a:solidFill>
            <a:prstDash val="solid"/>
          </a:ln>
        </p:spPr>
      </p:sp>
      <p:sp>
        <p:nvSpPr>
          <p:cNvPr id="17" name="Text 14"/>
          <p:cNvSpPr/>
          <p:nvPr/>
        </p:nvSpPr>
        <p:spPr>
          <a:xfrm>
            <a:off x="777240" y="3877056"/>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METHODS</a:t>
            </a:r>
            <a:endParaRPr lang="en-US" sz="950" dirty="0"/>
          </a:p>
        </p:txBody>
      </p:sp>
      <p:sp>
        <p:nvSpPr>
          <p:cNvPr id="18" name="Text 15"/>
          <p:cNvSpPr/>
          <p:nvPr/>
        </p:nvSpPr>
        <p:spPr>
          <a:xfrm>
            <a:off x="2057400" y="3877056"/>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Destructive wipers + aggressive psyops (“hack-and-leak”)</a:t>
            </a:r>
            <a:endParaRPr lang="en-US" sz="1050" dirty="0"/>
          </a:p>
        </p:txBody>
      </p:sp>
      <p:sp>
        <p:nvSpPr>
          <p:cNvPr id="19" name="Shape 16"/>
          <p:cNvSpPr/>
          <p:nvPr/>
        </p:nvSpPr>
        <p:spPr>
          <a:xfrm>
            <a:off x="777240" y="4329684"/>
            <a:ext cx="4838548" cy="0"/>
          </a:xfrm>
          <a:prstGeom prst="line">
            <a:avLst/>
          </a:prstGeom>
          <a:noFill/>
          <a:ln w="6350">
            <a:solidFill>
              <a:srgbClr val="708090">
                <a:alpha val="45000"/>
              </a:srgbClr>
            </a:solidFill>
            <a:prstDash val="solid"/>
          </a:ln>
        </p:spPr>
      </p:sp>
      <p:sp>
        <p:nvSpPr>
          <p:cNvPr id="20" name="Text 17"/>
          <p:cNvSpPr/>
          <p:nvPr/>
        </p:nvSpPr>
        <p:spPr>
          <a:xfrm>
            <a:off x="777240" y="4366260"/>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SIGNATURE</a:t>
            </a:r>
            <a:endParaRPr lang="en-US" sz="950" dirty="0"/>
          </a:p>
        </p:txBody>
      </p:sp>
      <p:sp>
        <p:nvSpPr>
          <p:cNvPr id="21" name="Text 18"/>
          <p:cNvSpPr/>
          <p:nvPr/>
        </p:nvSpPr>
        <p:spPr>
          <a:xfrm>
            <a:off x="2057400" y="4366260"/>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Volatility — attacks track geopolitical flashpoints in real time</a:t>
            </a:r>
            <a:endParaRPr lang="en-US" sz="1050" dirty="0"/>
          </a:p>
        </p:txBody>
      </p:sp>
      <p:sp>
        <p:nvSpPr>
          <p:cNvPr id="22" name="Shape 19"/>
          <p:cNvSpPr/>
          <p:nvPr/>
        </p:nvSpPr>
        <p:spPr>
          <a:xfrm>
            <a:off x="777240" y="4818888"/>
            <a:ext cx="4838548" cy="0"/>
          </a:xfrm>
          <a:prstGeom prst="line">
            <a:avLst/>
          </a:prstGeom>
          <a:noFill/>
          <a:ln w="6350">
            <a:solidFill>
              <a:srgbClr val="708090">
                <a:alpha val="45000"/>
              </a:srgbClr>
            </a:solidFill>
            <a:prstDash val="solid"/>
          </a:ln>
        </p:spPr>
      </p:sp>
      <p:sp>
        <p:nvSpPr>
          <p:cNvPr id="23" name="Text 20"/>
          <p:cNvSpPr/>
          <p:nvPr/>
        </p:nvSpPr>
        <p:spPr>
          <a:xfrm>
            <a:off x="777240" y="4855464"/>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RECENT</a:t>
            </a:r>
            <a:endParaRPr lang="en-US" sz="950" dirty="0"/>
          </a:p>
        </p:txBody>
      </p:sp>
      <p:sp>
        <p:nvSpPr>
          <p:cNvPr id="24" name="Text 21"/>
          <p:cNvSpPr/>
          <p:nvPr/>
        </p:nvSpPr>
        <p:spPr>
          <a:xfrm>
            <a:off x="2057400" y="4855464"/>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Handala — Stryker wiper, 200,000 devices (March 2026)</a:t>
            </a:r>
            <a:endParaRPr lang="en-US" sz="1050" dirty="0"/>
          </a:p>
        </p:txBody>
      </p:sp>
      <p:sp>
        <p:nvSpPr>
          <p:cNvPr id="25" name="Shape 22"/>
          <p:cNvSpPr/>
          <p:nvPr/>
        </p:nvSpPr>
        <p:spPr>
          <a:xfrm>
            <a:off x="6301588"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26" name="Shape 23"/>
          <p:cNvSpPr/>
          <p:nvPr/>
        </p:nvSpPr>
        <p:spPr>
          <a:xfrm>
            <a:off x="6575908" y="1737360"/>
            <a:ext cx="548640" cy="54864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7" name="Image 1" descr="preencoded.png">    </p:cNvPr>
          <p:cNvPicPr>
            <a:picLocks noChangeAspect="1"/>
          </p:cNvPicPr>
          <p:nvPr/>
        </p:nvPicPr>
        <p:blipFill>
          <a:blip r:embed="rId2"/>
          <a:stretch>
            <a:fillRect/>
          </a:stretch>
        </p:blipFill>
        <p:spPr>
          <a:xfrm>
            <a:off x="6707581" y="1869034"/>
            <a:ext cx="285293" cy="285293"/>
          </a:xfrm>
          <a:prstGeom prst="rect">
            <a:avLst/>
          </a:prstGeom>
        </p:spPr>
      </p:pic>
      <p:sp>
        <p:nvSpPr>
          <p:cNvPr id="28" name="Text 24"/>
          <p:cNvSpPr/>
          <p:nvPr/>
        </p:nvSpPr>
        <p:spPr>
          <a:xfrm>
            <a:off x="7261708" y="1682496"/>
            <a:ext cx="4152748" cy="365760"/>
          </a:xfrm>
          <a:prstGeom prst="rect">
            <a:avLst/>
          </a:prstGeom>
          <a:noFill/>
          <a:ln/>
        </p:spPr>
        <p:txBody>
          <a:bodyPr wrap="square" lIns="0" tIns="0" rIns="0" bIns="0" rtlCol="0" anchor="ctr"/>
          <a:lstStyle/>
          <a:p>
            <a:pPr indent="0" marL="0">
              <a:buNone/>
            </a:pPr>
            <a:r>
              <a:rPr lang="en-US" sz="1800" b="1" dirty="0">
                <a:solidFill>
                  <a:srgbClr val="1E7A45"/>
                </a:solidFill>
                <a:latin typeface="Cambria" pitchFamily="34" charset="0"/>
                <a:ea typeface="Cambria" pitchFamily="34" charset="-122"/>
                <a:cs typeface="Cambria" pitchFamily="34" charset="-120"/>
              </a:rPr>
              <a:t>NORTH KOREA</a:t>
            </a:r>
            <a:endParaRPr lang="en-US" sz="1800" dirty="0"/>
          </a:p>
        </p:txBody>
      </p:sp>
      <p:sp>
        <p:nvSpPr>
          <p:cNvPr id="29" name="Text 25"/>
          <p:cNvSpPr/>
          <p:nvPr/>
        </p:nvSpPr>
        <p:spPr>
          <a:xfrm>
            <a:off x="7261708" y="2011680"/>
            <a:ext cx="4152748" cy="320040"/>
          </a:xfrm>
          <a:prstGeom prst="rect">
            <a:avLst/>
          </a:prstGeom>
          <a:noFill/>
          <a:ln/>
        </p:spPr>
        <p:txBody>
          <a:bodyPr wrap="square" lIns="0" tIns="0" rIns="0" bIns="0" rtlCol="0" anchor="ctr"/>
          <a:lstStyle/>
          <a:p>
            <a:pPr indent="0" marL="0">
              <a:buNone/>
            </a:pPr>
            <a:r>
              <a:rPr lang="en-US" sz="1100" dirty="0">
                <a:solidFill>
                  <a:srgbClr val="708090"/>
                </a:solidFill>
                <a:latin typeface="Calibri" pitchFamily="34" charset="0"/>
                <a:ea typeface="Calibri" pitchFamily="34" charset="-122"/>
                <a:cs typeface="Calibri" pitchFamily="34" charset="-120"/>
              </a:rPr>
              <a:t>State Funding &amp; Crypto</a:t>
            </a:r>
            <a:endParaRPr lang="en-US" sz="1100" dirty="0"/>
          </a:p>
        </p:txBody>
      </p:sp>
      <p:sp>
        <p:nvSpPr>
          <p:cNvPr id="30" name="Text 26"/>
          <p:cNvSpPr/>
          <p:nvPr/>
        </p:nvSpPr>
        <p:spPr>
          <a:xfrm>
            <a:off x="6575908" y="2414016"/>
            <a:ext cx="4838548" cy="365760"/>
          </a:xfrm>
          <a:prstGeom prst="rect">
            <a:avLst/>
          </a:prstGeom>
          <a:noFill/>
          <a:ln/>
        </p:spPr>
        <p:txBody>
          <a:bodyPr wrap="square" lIns="0" tIns="0" rIns="0" bIns="0" rtlCol="0" anchor="ctr"/>
          <a:lstStyle/>
          <a:p>
            <a:pPr indent="0" marL="0">
              <a:buNone/>
            </a:pPr>
            <a:r>
              <a:rPr lang="en-US" sz="1250" b="1" i="1" dirty="0">
                <a:solidFill>
                  <a:srgbClr val="3A454D"/>
                </a:solidFill>
                <a:latin typeface="Cambria" pitchFamily="34" charset="0"/>
                <a:ea typeface="Cambria" pitchFamily="34" charset="-122"/>
                <a:cs typeface="Cambria" pitchFamily="34" charset="-120"/>
              </a:rPr>
              <a:t>“An elite cybercrime syndicate wearing a state uniform.”</a:t>
            </a:r>
            <a:endParaRPr lang="en-US" sz="1250" dirty="0"/>
          </a:p>
        </p:txBody>
      </p:sp>
      <p:sp>
        <p:nvSpPr>
          <p:cNvPr id="31" name="Shape 27"/>
          <p:cNvSpPr/>
          <p:nvPr/>
        </p:nvSpPr>
        <p:spPr>
          <a:xfrm>
            <a:off x="6575908" y="2779776"/>
            <a:ext cx="4838548" cy="0"/>
          </a:xfrm>
          <a:prstGeom prst="line">
            <a:avLst/>
          </a:prstGeom>
          <a:noFill/>
          <a:ln w="9525">
            <a:solidFill>
              <a:srgbClr val="708090">
                <a:alpha val="45000"/>
              </a:srgbClr>
            </a:solidFill>
            <a:prstDash val="solid"/>
          </a:ln>
        </p:spPr>
      </p:sp>
      <p:sp>
        <p:nvSpPr>
          <p:cNvPr id="32" name="Text 28"/>
          <p:cNvSpPr/>
          <p:nvPr/>
        </p:nvSpPr>
        <p:spPr>
          <a:xfrm>
            <a:off x="6575908" y="2898648"/>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MOTIVATION</a:t>
            </a:r>
            <a:endParaRPr lang="en-US" sz="950" dirty="0"/>
          </a:p>
        </p:txBody>
      </p:sp>
      <p:sp>
        <p:nvSpPr>
          <p:cNvPr id="33" name="Text 29"/>
          <p:cNvSpPr/>
          <p:nvPr/>
        </p:nvSpPr>
        <p:spPr>
          <a:xfrm>
            <a:off x="7856068" y="2898648"/>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Bypass international sanctions &amp; fund state weapons programs</a:t>
            </a:r>
            <a:endParaRPr lang="en-US" sz="1050" dirty="0"/>
          </a:p>
        </p:txBody>
      </p:sp>
      <p:sp>
        <p:nvSpPr>
          <p:cNvPr id="34" name="Shape 30"/>
          <p:cNvSpPr/>
          <p:nvPr/>
        </p:nvSpPr>
        <p:spPr>
          <a:xfrm>
            <a:off x="6575908" y="3351276"/>
            <a:ext cx="4838548" cy="0"/>
          </a:xfrm>
          <a:prstGeom prst="line">
            <a:avLst/>
          </a:prstGeom>
          <a:noFill/>
          <a:ln w="6350">
            <a:solidFill>
              <a:srgbClr val="708090">
                <a:alpha val="45000"/>
              </a:srgbClr>
            </a:solidFill>
            <a:prstDash val="solid"/>
          </a:ln>
        </p:spPr>
      </p:sp>
      <p:sp>
        <p:nvSpPr>
          <p:cNvPr id="35" name="Text 31"/>
          <p:cNvSpPr/>
          <p:nvPr/>
        </p:nvSpPr>
        <p:spPr>
          <a:xfrm>
            <a:off x="6575908" y="3387852"/>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TARGETS</a:t>
            </a:r>
            <a:endParaRPr lang="en-US" sz="950" dirty="0"/>
          </a:p>
        </p:txBody>
      </p:sp>
      <p:sp>
        <p:nvSpPr>
          <p:cNvPr id="36" name="Text 32"/>
          <p:cNvSpPr/>
          <p:nvPr/>
        </p:nvSpPr>
        <p:spPr>
          <a:xfrm>
            <a:off x="7856068" y="3387852"/>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Cryptocurrency exchanges, banking institutions, defense supply chains</a:t>
            </a:r>
            <a:endParaRPr lang="en-US" sz="1050" dirty="0"/>
          </a:p>
        </p:txBody>
      </p:sp>
      <p:sp>
        <p:nvSpPr>
          <p:cNvPr id="37" name="Shape 33"/>
          <p:cNvSpPr/>
          <p:nvPr/>
        </p:nvSpPr>
        <p:spPr>
          <a:xfrm>
            <a:off x="6575908" y="3840480"/>
            <a:ext cx="4838548" cy="0"/>
          </a:xfrm>
          <a:prstGeom prst="line">
            <a:avLst/>
          </a:prstGeom>
          <a:noFill/>
          <a:ln w="6350">
            <a:solidFill>
              <a:srgbClr val="708090">
                <a:alpha val="45000"/>
              </a:srgbClr>
            </a:solidFill>
            <a:prstDash val="solid"/>
          </a:ln>
        </p:spPr>
      </p:sp>
      <p:sp>
        <p:nvSpPr>
          <p:cNvPr id="38" name="Text 34"/>
          <p:cNvSpPr/>
          <p:nvPr/>
        </p:nvSpPr>
        <p:spPr>
          <a:xfrm>
            <a:off x="6575908" y="3877056"/>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METHODS</a:t>
            </a:r>
            <a:endParaRPr lang="en-US" sz="950" dirty="0"/>
          </a:p>
        </p:txBody>
      </p:sp>
      <p:sp>
        <p:nvSpPr>
          <p:cNvPr id="39" name="Text 35"/>
          <p:cNvSpPr/>
          <p:nvPr/>
        </p:nvSpPr>
        <p:spPr>
          <a:xfrm>
            <a:off x="7856068" y="3877056"/>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Operates like an elite cybercrime syndicate — massive financial theft</a:t>
            </a:r>
            <a:endParaRPr lang="en-US" sz="1050" dirty="0"/>
          </a:p>
        </p:txBody>
      </p:sp>
      <p:sp>
        <p:nvSpPr>
          <p:cNvPr id="40" name="Shape 36"/>
          <p:cNvSpPr/>
          <p:nvPr/>
        </p:nvSpPr>
        <p:spPr>
          <a:xfrm>
            <a:off x="6575908" y="4329684"/>
            <a:ext cx="4838548" cy="0"/>
          </a:xfrm>
          <a:prstGeom prst="line">
            <a:avLst/>
          </a:prstGeom>
          <a:noFill/>
          <a:ln w="6350">
            <a:solidFill>
              <a:srgbClr val="708090">
                <a:alpha val="45000"/>
              </a:srgbClr>
            </a:solidFill>
            <a:prstDash val="solid"/>
          </a:ln>
        </p:spPr>
      </p:sp>
      <p:sp>
        <p:nvSpPr>
          <p:cNvPr id="41" name="Text 37"/>
          <p:cNvSpPr/>
          <p:nvPr/>
        </p:nvSpPr>
        <p:spPr>
          <a:xfrm>
            <a:off x="6575908" y="4366260"/>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SIGNATURE</a:t>
            </a:r>
            <a:endParaRPr lang="en-US" sz="950" dirty="0"/>
          </a:p>
        </p:txBody>
      </p:sp>
      <p:sp>
        <p:nvSpPr>
          <p:cNvPr id="42" name="Text 38"/>
          <p:cNvSpPr/>
          <p:nvPr/>
        </p:nvSpPr>
        <p:spPr>
          <a:xfrm>
            <a:off x="7856068" y="4366260"/>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Profitability — every operation must generate hard currency</a:t>
            </a:r>
            <a:endParaRPr lang="en-US" sz="1050" dirty="0"/>
          </a:p>
        </p:txBody>
      </p:sp>
      <p:sp>
        <p:nvSpPr>
          <p:cNvPr id="43" name="Shape 39"/>
          <p:cNvSpPr/>
          <p:nvPr/>
        </p:nvSpPr>
        <p:spPr>
          <a:xfrm>
            <a:off x="6575908" y="4818888"/>
            <a:ext cx="4838548" cy="0"/>
          </a:xfrm>
          <a:prstGeom prst="line">
            <a:avLst/>
          </a:prstGeom>
          <a:noFill/>
          <a:ln w="6350">
            <a:solidFill>
              <a:srgbClr val="708090">
                <a:alpha val="45000"/>
              </a:srgbClr>
            </a:solidFill>
            <a:prstDash val="solid"/>
          </a:ln>
        </p:spPr>
      </p:sp>
      <p:sp>
        <p:nvSpPr>
          <p:cNvPr id="44" name="Text 40"/>
          <p:cNvSpPr/>
          <p:nvPr/>
        </p:nvSpPr>
        <p:spPr>
          <a:xfrm>
            <a:off x="6575908" y="4855464"/>
            <a:ext cx="1234440" cy="489204"/>
          </a:xfrm>
          <a:prstGeom prst="rect">
            <a:avLst/>
          </a:prstGeom>
          <a:noFill/>
          <a:ln/>
        </p:spPr>
        <p:txBody>
          <a:bodyPr wrap="square" lIns="0" tIns="0" rIns="0" bIns="0" rtlCol="0" anchor="t"/>
          <a:lstStyle/>
          <a:p>
            <a:pPr indent="0" marL="0">
              <a:buNone/>
            </a:pPr>
            <a:r>
              <a:rPr lang="en-US" sz="950" b="1" spc="50" kern="0" dirty="0">
                <a:solidFill>
                  <a:srgbClr val="708090"/>
                </a:solidFill>
                <a:latin typeface="Calibri" pitchFamily="34" charset="0"/>
                <a:ea typeface="Calibri" pitchFamily="34" charset="-122"/>
                <a:cs typeface="Calibri" pitchFamily="34" charset="-120"/>
              </a:rPr>
              <a:t>RECENT</a:t>
            </a:r>
            <a:endParaRPr lang="en-US" sz="950" dirty="0"/>
          </a:p>
        </p:txBody>
      </p:sp>
      <p:sp>
        <p:nvSpPr>
          <p:cNvPr id="45" name="Text 41"/>
          <p:cNvSpPr/>
          <p:nvPr/>
        </p:nvSpPr>
        <p:spPr>
          <a:xfrm>
            <a:off x="7856068" y="4855464"/>
            <a:ext cx="3558388" cy="489204"/>
          </a:xfrm>
          <a:prstGeom prst="rect">
            <a:avLst/>
          </a:prstGeom>
          <a:noFill/>
          <a:ln/>
        </p:spPr>
        <p:txBody>
          <a:bodyPr wrap="square" lIns="0" tIns="0" rIns="0" bIns="0" rtlCol="0" anchor="t"/>
          <a:lstStyle/>
          <a:p>
            <a:pPr indent="0" marL="0">
              <a:buNone/>
            </a:pPr>
            <a:r>
              <a:rPr lang="en-US" sz="1050" dirty="0">
                <a:solidFill>
                  <a:srgbClr val="3A454D"/>
                </a:solidFill>
                <a:latin typeface="Calibri" pitchFamily="34" charset="0"/>
                <a:ea typeface="Calibri" pitchFamily="34" charset="-122"/>
                <a:cs typeface="Calibri" pitchFamily="34" charset="-120"/>
              </a:rPr>
              <a:t>Lazarus — $30.4M Upbit theft + European drone IP (late 2025)</a:t>
            </a:r>
            <a:endParaRPr lang="en-US" sz="1050" dirty="0"/>
          </a:p>
        </p:txBody>
      </p:sp>
      <p:sp>
        <p:nvSpPr>
          <p:cNvPr id="46" name="Shape 42"/>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47" name="Text 43"/>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Four actors. Four motivations. One shared consequence: no private-sector target is out of scope.</a:t>
            </a:r>
            <a:endParaRPr lang="en-US" sz="1350" dirty="0"/>
          </a:p>
        </p:txBody>
      </p:sp>
      <p:sp>
        <p:nvSpPr>
          <p:cNvPr id="48" name="Text 4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49" name="Text 45"/>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The Evolution of TTPs</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2025–2026 — Three shifts that broke our old defense model</a:t>
            </a:r>
            <a:endParaRPr lang="en-US" sz="1500" dirty="0"/>
          </a:p>
        </p:txBody>
      </p:sp>
      <p:sp>
        <p:nvSpPr>
          <p:cNvPr id="4" name="Shape 2"/>
          <p:cNvSpPr/>
          <p:nvPr/>
        </p:nvSpPr>
        <p:spPr>
          <a:xfrm>
            <a:off x="502920" y="1481328"/>
            <a:ext cx="3484778" cy="416052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58952"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879653" y="1830629"/>
            <a:ext cx="261518" cy="261518"/>
          </a:xfrm>
          <a:prstGeom prst="rect">
            <a:avLst/>
          </a:prstGeom>
        </p:spPr>
      </p:pic>
      <p:sp>
        <p:nvSpPr>
          <p:cNvPr id="7" name="Text 4"/>
          <p:cNvSpPr/>
          <p:nvPr/>
        </p:nvSpPr>
        <p:spPr>
          <a:xfrm>
            <a:off x="758952" y="2267712"/>
            <a:ext cx="2972714" cy="228600"/>
          </a:xfrm>
          <a:prstGeom prst="rect">
            <a:avLst/>
          </a:prstGeom>
          <a:noFill/>
          <a:ln/>
        </p:spPr>
        <p:txBody>
          <a:bodyPr wrap="square" lIns="0" tIns="0" rIns="0" bIns="0" rtlCol="0" anchor="ctr"/>
          <a:lstStyle/>
          <a:p>
            <a:pPr indent="0" marL="0">
              <a:buNone/>
            </a:pPr>
            <a:r>
              <a:rPr lang="en-US" sz="950" b="1" spc="150" kern="0" dirty="0">
                <a:solidFill>
                  <a:srgbClr val="708090"/>
                </a:solidFill>
                <a:latin typeface="Calibri" pitchFamily="34" charset="0"/>
                <a:ea typeface="Calibri" pitchFamily="34" charset="-122"/>
                <a:cs typeface="Calibri" pitchFamily="34" charset="-120"/>
              </a:rPr>
              <a:t>TREND 1</a:t>
            </a:r>
            <a:endParaRPr lang="en-US" sz="950" dirty="0"/>
          </a:p>
        </p:txBody>
      </p:sp>
      <p:sp>
        <p:nvSpPr>
          <p:cNvPr id="8" name="Text 5"/>
          <p:cNvSpPr/>
          <p:nvPr/>
        </p:nvSpPr>
        <p:spPr>
          <a:xfrm>
            <a:off x="758952" y="2468880"/>
            <a:ext cx="2972714" cy="502920"/>
          </a:xfrm>
          <a:prstGeom prst="rect">
            <a:avLst/>
          </a:prstGeom>
          <a:noFill/>
          <a:ln/>
        </p:spPr>
        <p:txBody>
          <a:bodyPr wrap="square" lIns="0" tIns="0" rIns="0" bIns="0" rtlCol="0" anchor="ctr"/>
          <a:lstStyle/>
          <a:p>
            <a:pPr indent="0" marL="0">
              <a:buNone/>
            </a:pPr>
            <a:r>
              <a:rPr lang="en-US" sz="1450" b="1" dirty="0">
                <a:solidFill>
                  <a:srgbClr val="1E7A45"/>
                </a:solidFill>
                <a:latin typeface="Cambria" pitchFamily="34" charset="0"/>
                <a:ea typeface="Cambria" pitchFamily="34" charset="-122"/>
                <a:cs typeface="Cambria" pitchFamily="34" charset="-120"/>
              </a:rPr>
              <a:t>Identity &gt; Exploitation</a:t>
            </a:r>
            <a:endParaRPr lang="en-US" sz="1450" dirty="0"/>
          </a:p>
        </p:txBody>
      </p:sp>
      <p:sp>
        <p:nvSpPr>
          <p:cNvPr id="9" name="Text 6"/>
          <p:cNvSpPr/>
          <p:nvPr/>
        </p:nvSpPr>
        <p:spPr>
          <a:xfrm>
            <a:off x="758952" y="2926080"/>
            <a:ext cx="2972714" cy="274320"/>
          </a:xfrm>
          <a:prstGeom prst="rect">
            <a:avLst/>
          </a:prstGeom>
          <a:noFill/>
          <a:ln/>
        </p:spPr>
        <p:txBody>
          <a:bodyPr wrap="square" lIns="0" tIns="0" rIns="0" bIns="0" rtlCol="0" anchor="ctr"/>
          <a:lstStyle/>
          <a:p>
            <a:pPr indent="0" marL="0">
              <a:buNone/>
            </a:pPr>
            <a:r>
              <a:rPr lang="en-US" sz="1100" i="1" dirty="0">
                <a:solidFill>
                  <a:srgbClr val="3A454D"/>
                </a:solidFill>
                <a:latin typeface="Calibri" pitchFamily="34" charset="0"/>
                <a:ea typeface="Calibri" pitchFamily="34" charset="-122"/>
                <a:cs typeface="Calibri" pitchFamily="34" charset="-120"/>
              </a:rPr>
              <a:t>“Log in, don't break in.”</a:t>
            </a:r>
            <a:endParaRPr lang="en-US" sz="1100" dirty="0"/>
          </a:p>
        </p:txBody>
      </p:sp>
      <p:sp>
        <p:nvSpPr>
          <p:cNvPr id="10" name="Text 7"/>
          <p:cNvSpPr/>
          <p:nvPr/>
        </p:nvSpPr>
        <p:spPr>
          <a:xfrm>
            <a:off x="758952" y="3264408"/>
            <a:ext cx="2972714" cy="14173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Attackers authenticate with stolen Non-Human Identity credentials — API keys, service tokens.</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NHIs outnumber human accounts ~45:1 in modern enterprises.</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Zero-Trust is bypassed at the trust root.</a:t>
            </a:r>
            <a:endParaRPr lang="en-US" sz="1000" dirty="0"/>
          </a:p>
        </p:txBody>
      </p:sp>
      <p:sp>
        <p:nvSpPr>
          <p:cNvPr id="11" name="Text 8"/>
          <p:cNvSpPr/>
          <p:nvPr/>
        </p:nvSpPr>
        <p:spPr>
          <a:xfrm>
            <a:off x="758952" y="4864608"/>
            <a:ext cx="2972714" cy="658368"/>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We built our fortress around the front door. The attackers came in with a valid keycard.</a:t>
            </a:r>
            <a:endParaRPr lang="en-US" sz="1050" dirty="0"/>
          </a:p>
        </p:txBody>
      </p:sp>
      <p:sp>
        <p:nvSpPr>
          <p:cNvPr id="12" name="Shape 9"/>
          <p:cNvSpPr/>
          <p:nvPr/>
        </p:nvSpPr>
        <p:spPr>
          <a:xfrm>
            <a:off x="4353458" y="1481328"/>
            <a:ext cx="3484778" cy="416052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13" name="Shape 10"/>
          <p:cNvSpPr/>
          <p:nvPr/>
        </p:nvSpPr>
        <p:spPr>
          <a:xfrm>
            <a:off x="4609490"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4" name="Image 1" descr="preencoded.png">    </p:cNvPr>
          <p:cNvPicPr>
            <a:picLocks noChangeAspect="1"/>
          </p:cNvPicPr>
          <p:nvPr/>
        </p:nvPicPr>
        <p:blipFill>
          <a:blip r:embed="rId2"/>
          <a:stretch>
            <a:fillRect/>
          </a:stretch>
        </p:blipFill>
        <p:spPr>
          <a:xfrm>
            <a:off x="4730191" y="1830629"/>
            <a:ext cx="261518" cy="261518"/>
          </a:xfrm>
          <a:prstGeom prst="rect">
            <a:avLst/>
          </a:prstGeom>
        </p:spPr>
      </p:pic>
      <p:sp>
        <p:nvSpPr>
          <p:cNvPr id="15" name="Text 11"/>
          <p:cNvSpPr/>
          <p:nvPr/>
        </p:nvSpPr>
        <p:spPr>
          <a:xfrm>
            <a:off x="4609490" y="2267712"/>
            <a:ext cx="2972714" cy="228600"/>
          </a:xfrm>
          <a:prstGeom prst="rect">
            <a:avLst/>
          </a:prstGeom>
          <a:noFill/>
          <a:ln/>
        </p:spPr>
        <p:txBody>
          <a:bodyPr wrap="square" lIns="0" tIns="0" rIns="0" bIns="0" rtlCol="0" anchor="ctr"/>
          <a:lstStyle/>
          <a:p>
            <a:pPr indent="0" marL="0">
              <a:buNone/>
            </a:pPr>
            <a:r>
              <a:rPr lang="en-US" sz="950" b="1" spc="150" kern="0" dirty="0">
                <a:solidFill>
                  <a:srgbClr val="708090"/>
                </a:solidFill>
                <a:latin typeface="Calibri" pitchFamily="34" charset="0"/>
                <a:ea typeface="Calibri" pitchFamily="34" charset="-122"/>
                <a:cs typeface="Calibri" pitchFamily="34" charset="-120"/>
              </a:rPr>
              <a:t>TREND 2</a:t>
            </a:r>
            <a:endParaRPr lang="en-US" sz="950" dirty="0"/>
          </a:p>
        </p:txBody>
      </p:sp>
      <p:sp>
        <p:nvSpPr>
          <p:cNvPr id="16" name="Text 12"/>
          <p:cNvSpPr/>
          <p:nvPr/>
        </p:nvSpPr>
        <p:spPr>
          <a:xfrm>
            <a:off x="4609490" y="2468880"/>
            <a:ext cx="2972714" cy="502920"/>
          </a:xfrm>
          <a:prstGeom prst="rect">
            <a:avLst/>
          </a:prstGeom>
          <a:noFill/>
          <a:ln/>
        </p:spPr>
        <p:txBody>
          <a:bodyPr wrap="square" lIns="0" tIns="0" rIns="0" bIns="0" rtlCol="0" anchor="ctr"/>
          <a:lstStyle/>
          <a:p>
            <a:pPr indent="0" marL="0">
              <a:buNone/>
            </a:pPr>
            <a:r>
              <a:rPr lang="en-US" sz="1450" b="1" dirty="0">
                <a:solidFill>
                  <a:srgbClr val="1E7A45"/>
                </a:solidFill>
                <a:latin typeface="Cambria" pitchFamily="34" charset="0"/>
                <a:ea typeface="Cambria" pitchFamily="34" charset="-122"/>
                <a:cs typeface="Cambria" pitchFamily="34" charset="-120"/>
              </a:rPr>
              <a:t>Living off the Land + Edge</a:t>
            </a:r>
            <a:endParaRPr lang="en-US" sz="1450" dirty="0"/>
          </a:p>
        </p:txBody>
      </p:sp>
      <p:sp>
        <p:nvSpPr>
          <p:cNvPr id="17" name="Text 13"/>
          <p:cNvSpPr/>
          <p:nvPr/>
        </p:nvSpPr>
        <p:spPr>
          <a:xfrm>
            <a:off x="4609490" y="2926080"/>
            <a:ext cx="2972714" cy="274320"/>
          </a:xfrm>
          <a:prstGeom prst="rect">
            <a:avLst/>
          </a:prstGeom>
          <a:noFill/>
          <a:ln/>
        </p:spPr>
        <p:txBody>
          <a:bodyPr wrap="square" lIns="0" tIns="0" rIns="0" bIns="0" rtlCol="0" anchor="ctr"/>
          <a:lstStyle/>
          <a:p>
            <a:pPr indent="0" marL="0">
              <a:buNone/>
            </a:pPr>
            <a:r>
              <a:rPr lang="en-US" sz="1100" i="1" dirty="0">
                <a:solidFill>
                  <a:srgbClr val="3A454D"/>
                </a:solidFill>
                <a:latin typeface="Calibri" pitchFamily="34" charset="0"/>
                <a:ea typeface="Calibri" pitchFamily="34" charset="-122"/>
                <a:cs typeface="Calibri" pitchFamily="34" charset="-120"/>
              </a:rPr>
              <a:t>“Invisible by design.”</a:t>
            </a:r>
            <a:endParaRPr lang="en-US" sz="1100" dirty="0"/>
          </a:p>
        </p:txBody>
      </p:sp>
      <p:sp>
        <p:nvSpPr>
          <p:cNvPr id="18" name="Text 14"/>
          <p:cNvSpPr/>
          <p:nvPr/>
        </p:nvSpPr>
        <p:spPr>
          <a:xfrm>
            <a:off x="4609490" y="3264408"/>
            <a:ext cx="2972714" cy="14173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Native OS tools (PowerShell, WMI) evade EDR entirely.</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Edge devices — routers, VPNs, firewalls — can't host security agents.</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Detection requires behavioral analytics, not signatures.</a:t>
            </a:r>
            <a:endParaRPr lang="en-US" sz="1000" dirty="0"/>
          </a:p>
        </p:txBody>
      </p:sp>
      <p:sp>
        <p:nvSpPr>
          <p:cNvPr id="19" name="Text 15"/>
          <p:cNvSpPr/>
          <p:nvPr/>
        </p:nvSpPr>
        <p:spPr>
          <a:xfrm>
            <a:off x="4609490" y="4864608"/>
            <a:ext cx="2972714" cy="658368"/>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Our most expensive detection tools cannot see where the attackers now live.</a:t>
            </a:r>
            <a:endParaRPr lang="en-US" sz="1050" dirty="0"/>
          </a:p>
        </p:txBody>
      </p:sp>
      <p:sp>
        <p:nvSpPr>
          <p:cNvPr id="20" name="Shape 16"/>
          <p:cNvSpPr/>
          <p:nvPr/>
        </p:nvSpPr>
        <p:spPr>
          <a:xfrm>
            <a:off x="8203997" y="1481328"/>
            <a:ext cx="3484778" cy="416052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21" name="Shape 17"/>
          <p:cNvSpPr/>
          <p:nvPr/>
        </p:nvSpPr>
        <p:spPr>
          <a:xfrm>
            <a:off x="8460029"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2" name="Image 2" descr="preencoded.png">    </p:cNvPr>
          <p:cNvPicPr>
            <a:picLocks noChangeAspect="1"/>
          </p:cNvPicPr>
          <p:nvPr/>
        </p:nvPicPr>
        <p:blipFill>
          <a:blip r:embed="rId3"/>
          <a:stretch>
            <a:fillRect/>
          </a:stretch>
        </p:blipFill>
        <p:spPr>
          <a:xfrm>
            <a:off x="8580730" y="1830629"/>
            <a:ext cx="261518" cy="261518"/>
          </a:xfrm>
          <a:prstGeom prst="rect">
            <a:avLst/>
          </a:prstGeom>
        </p:spPr>
      </p:pic>
      <p:sp>
        <p:nvSpPr>
          <p:cNvPr id="23" name="Text 18"/>
          <p:cNvSpPr/>
          <p:nvPr/>
        </p:nvSpPr>
        <p:spPr>
          <a:xfrm>
            <a:off x="8460029" y="2267712"/>
            <a:ext cx="2972714" cy="228600"/>
          </a:xfrm>
          <a:prstGeom prst="rect">
            <a:avLst/>
          </a:prstGeom>
          <a:noFill/>
          <a:ln/>
        </p:spPr>
        <p:txBody>
          <a:bodyPr wrap="square" lIns="0" tIns="0" rIns="0" bIns="0" rtlCol="0" anchor="ctr"/>
          <a:lstStyle/>
          <a:p>
            <a:pPr indent="0" marL="0">
              <a:buNone/>
            </a:pPr>
            <a:r>
              <a:rPr lang="en-US" sz="950" b="1" spc="150" kern="0" dirty="0">
                <a:solidFill>
                  <a:srgbClr val="708090"/>
                </a:solidFill>
                <a:latin typeface="Calibri" pitchFamily="34" charset="0"/>
                <a:ea typeface="Calibri" pitchFamily="34" charset="-122"/>
                <a:cs typeface="Calibri" pitchFamily="34" charset="-120"/>
              </a:rPr>
              <a:t>TREND 3</a:t>
            </a:r>
            <a:endParaRPr lang="en-US" sz="950" dirty="0"/>
          </a:p>
        </p:txBody>
      </p:sp>
      <p:sp>
        <p:nvSpPr>
          <p:cNvPr id="24" name="Text 19"/>
          <p:cNvSpPr/>
          <p:nvPr/>
        </p:nvSpPr>
        <p:spPr>
          <a:xfrm>
            <a:off x="8460029" y="2468880"/>
            <a:ext cx="2972714" cy="502920"/>
          </a:xfrm>
          <a:prstGeom prst="rect">
            <a:avLst/>
          </a:prstGeom>
          <a:noFill/>
          <a:ln/>
        </p:spPr>
        <p:txBody>
          <a:bodyPr wrap="square" lIns="0" tIns="0" rIns="0" bIns="0" rtlCol="0" anchor="ctr"/>
          <a:lstStyle/>
          <a:p>
            <a:pPr indent="0" marL="0">
              <a:buNone/>
            </a:pPr>
            <a:r>
              <a:rPr lang="en-US" sz="1450" b="1" dirty="0">
                <a:solidFill>
                  <a:srgbClr val="1E7A45"/>
                </a:solidFill>
                <a:latin typeface="Cambria" pitchFamily="34" charset="0"/>
                <a:ea typeface="Cambria" pitchFamily="34" charset="-122"/>
                <a:cs typeface="Cambria" pitchFamily="34" charset="-120"/>
              </a:rPr>
              <a:t>Geopolitical Triple Extortion</a:t>
            </a:r>
            <a:endParaRPr lang="en-US" sz="1450" dirty="0"/>
          </a:p>
        </p:txBody>
      </p:sp>
      <p:sp>
        <p:nvSpPr>
          <p:cNvPr id="25" name="Text 20"/>
          <p:cNvSpPr/>
          <p:nvPr/>
        </p:nvSpPr>
        <p:spPr>
          <a:xfrm>
            <a:off x="8460029" y="2926080"/>
            <a:ext cx="2972714" cy="274320"/>
          </a:xfrm>
          <a:prstGeom prst="rect">
            <a:avLst/>
          </a:prstGeom>
          <a:noFill/>
          <a:ln/>
        </p:spPr>
        <p:txBody>
          <a:bodyPr wrap="square" lIns="0" tIns="0" rIns="0" bIns="0" rtlCol="0" anchor="ctr"/>
          <a:lstStyle/>
          <a:p>
            <a:pPr indent="0" marL="0">
              <a:buNone/>
            </a:pPr>
            <a:r>
              <a:rPr lang="en-US" sz="1100" i="1" dirty="0">
                <a:solidFill>
                  <a:srgbClr val="3A454D"/>
                </a:solidFill>
                <a:latin typeface="Calibri" pitchFamily="34" charset="0"/>
                <a:ea typeface="Calibri" pitchFamily="34" charset="-122"/>
                <a:cs typeface="Calibri" pitchFamily="34" charset="-120"/>
              </a:rPr>
              <a:t>“Ransomware as a political weapon.”</a:t>
            </a:r>
            <a:endParaRPr lang="en-US" sz="1100" dirty="0"/>
          </a:p>
        </p:txBody>
      </p:sp>
      <p:sp>
        <p:nvSpPr>
          <p:cNvPr id="26" name="Text 21"/>
          <p:cNvSpPr/>
          <p:nvPr/>
        </p:nvSpPr>
        <p:spPr>
          <a:xfrm>
            <a:off x="8460029" y="3264408"/>
            <a:ext cx="2972714" cy="14173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Encrypt, exfiltrate &amp; leak, then directly threaten clients, executives, regulators.</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Goal shifts from profit to sector destabilization.</a:t>
            </a:r>
            <a:endParaRPr lang="en-US" sz="1000" dirty="0"/>
          </a:p>
          <a:p>
            <a:pPr marL="342900" indent="-342900">
              <a:lnSpc>
                <a:spcPct val="102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Crisis response now needs comms, regulatory, and executive protection.</a:t>
            </a:r>
            <a:endParaRPr lang="en-US" sz="1000" dirty="0"/>
          </a:p>
        </p:txBody>
      </p:sp>
      <p:sp>
        <p:nvSpPr>
          <p:cNvPr id="27" name="Text 22"/>
          <p:cNvSpPr/>
          <p:nvPr/>
        </p:nvSpPr>
        <p:spPr>
          <a:xfrm>
            <a:off x="8460029" y="4864608"/>
            <a:ext cx="2972714" cy="658368"/>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The ransom demand is now the least of our problems.</a:t>
            </a:r>
            <a:endParaRPr lang="en-US" sz="1050" dirty="0"/>
          </a:p>
        </p:txBody>
      </p:sp>
      <p:sp>
        <p:nvSpPr>
          <p:cNvPr id="28" name="Shape 23"/>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29" name="Text 24"/>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Our defenses were built for malware, perimeters, and criminals. The 2026 attacker exploits identity, invisibility, and instability.</a:t>
            </a:r>
            <a:endParaRPr lang="en-US" sz="1350" dirty="0"/>
          </a:p>
        </p:txBody>
      </p:sp>
      <p:sp>
        <p:nvSpPr>
          <p:cNvPr id="30"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31" name="Text 26"/>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Case Studies (1 / 2)</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When the theory becomes headlines — Late 2025 to Early 2026</a:t>
            </a:r>
            <a:endParaRPr lang="en-US" sz="1500" dirty="0"/>
          </a:p>
        </p:txBody>
      </p:sp>
      <p:sp>
        <p:nvSpPr>
          <p:cNvPr id="4" name="Shape 2"/>
          <p:cNvSpPr/>
          <p:nvPr/>
        </p:nvSpPr>
        <p:spPr>
          <a:xfrm>
            <a:off x="502920"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77240"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897941" y="1830629"/>
            <a:ext cx="261518" cy="261518"/>
          </a:xfrm>
          <a:prstGeom prst="rect">
            <a:avLst/>
          </a:prstGeom>
        </p:spPr>
      </p:pic>
      <p:sp>
        <p:nvSpPr>
          <p:cNvPr id="7" name="Text 4"/>
          <p:cNvSpPr/>
          <p:nvPr/>
        </p:nvSpPr>
        <p:spPr>
          <a:xfrm>
            <a:off x="1399032" y="1664208"/>
            <a:ext cx="4198468" cy="320040"/>
          </a:xfrm>
          <a:prstGeom prst="rect">
            <a:avLst/>
          </a:prstGeom>
          <a:noFill/>
          <a:ln/>
        </p:spPr>
        <p:txBody>
          <a:bodyPr wrap="square" lIns="0" tIns="0" rIns="0" bIns="0" rtlCol="0" anchor="ctr"/>
          <a:lstStyle/>
          <a:p>
            <a:pPr indent="0" marL="0">
              <a:buNone/>
            </a:pPr>
            <a:r>
              <a:rPr lang="en-US" sz="1550" b="1" dirty="0">
                <a:solidFill>
                  <a:srgbClr val="1E7A45"/>
                </a:solidFill>
                <a:latin typeface="Cambria" pitchFamily="34" charset="0"/>
                <a:ea typeface="Cambria" pitchFamily="34" charset="-122"/>
                <a:cs typeface="Cambria" pitchFamily="34" charset="-120"/>
              </a:rPr>
              <a:t>Lazarus (North Korea)</a:t>
            </a:r>
            <a:endParaRPr lang="en-US" sz="1550" dirty="0"/>
          </a:p>
        </p:txBody>
      </p:sp>
      <p:sp>
        <p:nvSpPr>
          <p:cNvPr id="8" name="Text 5"/>
          <p:cNvSpPr/>
          <p:nvPr/>
        </p:nvSpPr>
        <p:spPr>
          <a:xfrm>
            <a:off x="1399032" y="1975104"/>
            <a:ext cx="4198468" cy="274320"/>
          </a:xfrm>
          <a:prstGeom prst="rect">
            <a:avLst/>
          </a:prstGeom>
          <a:noFill/>
          <a:ln/>
        </p:spPr>
        <p:txBody>
          <a:bodyPr wrap="square" lIns="0" tIns="0" rIns="0" bIns="0" rtlCol="0" anchor="ctr"/>
          <a:lstStyle/>
          <a:p>
            <a:pPr indent="0" marL="0">
              <a:buNone/>
            </a:pPr>
            <a:r>
              <a:rPr lang="en-US" sz="1050" i="1" dirty="0">
                <a:solidFill>
                  <a:srgbClr val="708090"/>
                </a:solidFill>
                <a:latin typeface="Calibri" pitchFamily="34" charset="0"/>
                <a:ea typeface="Calibri" pitchFamily="34" charset="-122"/>
                <a:cs typeface="Calibri" pitchFamily="34" charset="-120"/>
              </a:rPr>
              <a:t>November 2025</a:t>
            </a:r>
            <a:endParaRPr lang="en-US" sz="1050" dirty="0"/>
          </a:p>
        </p:txBody>
      </p:sp>
      <p:sp>
        <p:nvSpPr>
          <p:cNvPr id="9" name="Shape 6"/>
          <p:cNvSpPr/>
          <p:nvPr/>
        </p:nvSpPr>
        <p:spPr>
          <a:xfrm>
            <a:off x="777240" y="2322576"/>
            <a:ext cx="4838548" cy="0"/>
          </a:xfrm>
          <a:prstGeom prst="line">
            <a:avLst/>
          </a:prstGeom>
          <a:noFill/>
          <a:ln w="9525">
            <a:solidFill>
              <a:srgbClr val="708090">
                <a:alpha val="45000"/>
              </a:srgbClr>
            </a:solidFill>
            <a:prstDash val="solid"/>
          </a:ln>
        </p:spPr>
      </p:sp>
      <p:sp>
        <p:nvSpPr>
          <p:cNvPr id="10" name="Text 7"/>
          <p:cNvSpPr/>
          <p:nvPr/>
        </p:nvSpPr>
        <p:spPr>
          <a:xfrm>
            <a:off x="777240" y="2414016"/>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WHAT HAPPENED</a:t>
            </a:r>
            <a:endParaRPr lang="en-US" sz="950" dirty="0"/>
          </a:p>
        </p:txBody>
      </p:sp>
      <p:sp>
        <p:nvSpPr>
          <p:cNvPr id="11" name="Text 8"/>
          <p:cNvSpPr/>
          <p:nvPr/>
        </p:nvSpPr>
        <p:spPr>
          <a:xfrm>
            <a:off x="777240" y="2651760"/>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$30.4M in cryptocurrency stolen from Upbit (South Korea).</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Simultaneously, three European defense firms infiltrated for drone-manufacturing IP.</a:t>
            </a:r>
            <a:endParaRPr lang="en-US" sz="1000" dirty="0"/>
          </a:p>
        </p:txBody>
      </p:sp>
      <p:sp>
        <p:nvSpPr>
          <p:cNvPr id="12" name="Text 9"/>
          <p:cNvSpPr/>
          <p:nvPr/>
        </p:nvSpPr>
        <p:spPr>
          <a:xfrm>
            <a:off x="777240" y="3767328"/>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THE “SO WHAT”</a:t>
            </a:r>
            <a:endParaRPr lang="en-US" sz="950" dirty="0"/>
          </a:p>
        </p:txBody>
      </p:sp>
      <p:sp>
        <p:nvSpPr>
          <p:cNvPr id="13" name="Text 10"/>
          <p:cNvSpPr/>
          <p:nvPr/>
        </p:nvSpPr>
        <p:spPr>
          <a:xfrm>
            <a:off x="777240" y="4005072"/>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One operation, two revenue streams — confirms the “cybercrime-as-state” model.</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Laundering via mixers/cross-chain bridges in minutes — recovery window near zero.</a:t>
            </a:r>
            <a:endParaRPr lang="en-US" sz="1000" dirty="0"/>
          </a:p>
        </p:txBody>
      </p:sp>
      <p:sp>
        <p:nvSpPr>
          <p:cNvPr id="14" name="Text 11"/>
          <p:cNvSpPr/>
          <p:nvPr/>
        </p:nvSpPr>
        <p:spPr>
          <a:xfrm>
            <a:off x="777240" y="5065776"/>
            <a:ext cx="4838548" cy="594360"/>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Lazarus is an active, well-resourced adversary with a proven playbook against financial infrastructure.</a:t>
            </a:r>
            <a:endParaRPr lang="en-US" sz="1050" dirty="0"/>
          </a:p>
        </p:txBody>
      </p:sp>
      <p:sp>
        <p:nvSpPr>
          <p:cNvPr id="15" name="Shape 12"/>
          <p:cNvSpPr/>
          <p:nvPr/>
        </p:nvSpPr>
        <p:spPr>
          <a:xfrm>
            <a:off x="6301588"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16" name="Shape 13"/>
          <p:cNvSpPr/>
          <p:nvPr/>
        </p:nvSpPr>
        <p:spPr>
          <a:xfrm>
            <a:off x="6575908"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7" name="Image 1" descr="preencoded.png">    </p:cNvPr>
          <p:cNvPicPr>
            <a:picLocks noChangeAspect="1"/>
          </p:cNvPicPr>
          <p:nvPr/>
        </p:nvPicPr>
        <p:blipFill>
          <a:blip r:embed="rId2"/>
          <a:stretch>
            <a:fillRect/>
          </a:stretch>
        </p:blipFill>
        <p:spPr>
          <a:xfrm>
            <a:off x="6696608" y="1830629"/>
            <a:ext cx="261518" cy="261518"/>
          </a:xfrm>
          <a:prstGeom prst="rect">
            <a:avLst/>
          </a:prstGeom>
        </p:spPr>
      </p:pic>
      <p:sp>
        <p:nvSpPr>
          <p:cNvPr id="18" name="Text 14"/>
          <p:cNvSpPr/>
          <p:nvPr/>
        </p:nvSpPr>
        <p:spPr>
          <a:xfrm>
            <a:off x="7197700" y="1664208"/>
            <a:ext cx="4198468" cy="320040"/>
          </a:xfrm>
          <a:prstGeom prst="rect">
            <a:avLst/>
          </a:prstGeom>
          <a:noFill/>
          <a:ln/>
        </p:spPr>
        <p:txBody>
          <a:bodyPr wrap="square" lIns="0" tIns="0" rIns="0" bIns="0" rtlCol="0" anchor="ctr"/>
          <a:lstStyle/>
          <a:p>
            <a:pPr indent="0" marL="0">
              <a:buNone/>
            </a:pPr>
            <a:r>
              <a:rPr lang="en-US" sz="1550" b="1" dirty="0">
                <a:solidFill>
                  <a:srgbClr val="1E7A45"/>
                </a:solidFill>
                <a:latin typeface="Cambria" pitchFamily="34" charset="0"/>
                <a:ea typeface="Cambria" pitchFamily="34" charset="-122"/>
                <a:cs typeface="Cambria" pitchFamily="34" charset="-120"/>
              </a:rPr>
              <a:t>Russian Proxies — Polish Grid</a:t>
            </a:r>
            <a:endParaRPr lang="en-US" sz="1550" dirty="0"/>
          </a:p>
        </p:txBody>
      </p:sp>
      <p:sp>
        <p:nvSpPr>
          <p:cNvPr id="19" name="Text 15"/>
          <p:cNvSpPr/>
          <p:nvPr/>
        </p:nvSpPr>
        <p:spPr>
          <a:xfrm>
            <a:off x="7197700" y="1975104"/>
            <a:ext cx="4198468" cy="274320"/>
          </a:xfrm>
          <a:prstGeom prst="rect">
            <a:avLst/>
          </a:prstGeom>
          <a:noFill/>
          <a:ln/>
        </p:spPr>
        <p:txBody>
          <a:bodyPr wrap="square" lIns="0" tIns="0" rIns="0" bIns="0" rtlCol="0" anchor="ctr"/>
          <a:lstStyle/>
          <a:p>
            <a:pPr indent="0" marL="0">
              <a:buNone/>
            </a:pPr>
            <a:r>
              <a:rPr lang="en-US" sz="1050" i="1" dirty="0">
                <a:solidFill>
                  <a:srgbClr val="708090"/>
                </a:solidFill>
                <a:latin typeface="Calibri" pitchFamily="34" charset="0"/>
                <a:ea typeface="Calibri" pitchFamily="34" charset="-122"/>
                <a:cs typeface="Calibri" pitchFamily="34" charset="-120"/>
              </a:rPr>
              <a:t>Dec 2025 – Jan 2026</a:t>
            </a:r>
            <a:endParaRPr lang="en-US" sz="1050" dirty="0"/>
          </a:p>
        </p:txBody>
      </p:sp>
      <p:sp>
        <p:nvSpPr>
          <p:cNvPr id="20" name="Shape 16"/>
          <p:cNvSpPr/>
          <p:nvPr/>
        </p:nvSpPr>
        <p:spPr>
          <a:xfrm>
            <a:off x="6575908" y="2322576"/>
            <a:ext cx="4838548" cy="0"/>
          </a:xfrm>
          <a:prstGeom prst="line">
            <a:avLst/>
          </a:prstGeom>
          <a:noFill/>
          <a:ln w="9525">
            <a:solidFill>
              <a:srgbClr val="708090">
                <a:alpha val="45000"/>
              </a:srgbClr>
            </a:solidFill>
            <a:prstDash val="solid"/>
          </a:ln>
        </p:spPr>
      </p:sp>
      <p:sp>
        <p:nvSpPr>
          <p:cNvPr id="21" name="Text 17"/>
          <p:cNvSpPr/>
          <p:nvPr/>
        </p:nvSpPr>
        <p:spPr>
          <a:xfrm>
            <a:off x="6575908" y="2414016"/>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WHAT HAPPENED</a:t>
            </a:r>
            <a:endParaRPr lang="en-US" sz="950" dirty="0"/>
          </a:p>
        </p:txBody>
      </p:sp>
      <p:sp>
        <p:nvSpPr>
          <p:cNvPr id="22" name="Text 18"/>
          <p:cNvSpPr/>
          <p:nvPr/>
        </p:nvSpPr>
        <p:spPr>
          <a:xfrm>
            <a:off x="6575908" y="2651760"/>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Coordinated attack on ~30 sites of Poland's national power grid.</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Executed by state-backed hacktivist proxies, not the Russian state directly.</a:t>
            </a:r>
            <a:endParaRPr lang="en-US" sz="1000" dirty="0"/>
          </a:p>
        </p:txBody>
      </p:sp>
      <p:sp>
        <p:nvSpPr>
          <p:cNvPr id="23" name="Text 19"/>
          <p:cNvSpPr/>
          <p:nvPr/>
        </p:nvSpPr>
        <p:spPr>
          <a:xfrm>
            <a:off x="6575908" y="3767328"/>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THE “SO WHAT”</a:t>
            </a:r>
            <a:endParaRPr lang="en-US" sz="950" dirty="0"/>
          </a:p>
        </p:txBody>
      </p:sp>
      <p:sp>
        <p:nvSpPr>
          <p:cNvPr id="24" name="Text 20"/>
          <p:cNvSpPr/>
          <p:nvPr/>
        </p:nvSpPr>
        <p:spPr>
          <a:xfrm>
            <a:off x="6575908" y="4005072"/>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Textbook “grey-zone” operation — deliberate ambiguity, deniable execution.</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Attribution took weeks — critical infrastructure risk cascades into finance &amp; logistics.</a:t>
            </a:r>
            <a:endParaRPr lang="en-US" sz="1000" dirty="0"/>
          </a:p>
        </p:txBody>
      </p:sp>
      <p:sp>
        <p:nvSpPr>
          <p:cNvPr id="25" name="Text 21"/>
          <p:cNvSpPr/>
          <p:nvPr/>
        </p:nvSpPr>
        <p:spPr>
          <a:xfrm>
            <a:off x="6575908" y="5065776"/>
            <a:ext cx="4838548" cy="594360"/>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If we finance, insure, or transact in critical-infrastructure sectors, we are downstream of every attack of this kind.</a:t>
            </a:r>
            <a:endParaRPr lang="en-US" sz="1050" dirty="0"/>
          </a:p>
        </p:txBody>
      </p:sp>
      <p:sp>
        <p:nvSpPr>
          <p:cNvPr id="26" name="Shape 22"/>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27" name="Text 23"/>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Two attacks. Two motivations — money vs. sabotage. Same model: state intent, deniable execution, systemic impact.</a:t>
            </a:r>
            <a:endParaRPr lang="en-US" sz="1350" dirty="0"/>
          </a:p>
        </p:txBody>
      </p:sp>
      <p:sp>
        <p:nvSpPr>
          <p:cNvPr id="28" name="Text 2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29" name="Text 25"/>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Case Studies (2 / 2)</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When the theory becomes headlines — February to March 2026</a:t>
            </a:r>
            <a:endParaRPr lang="en-US" sz="1500" dirty="0"/>
          </a:p>
        </p:txBody>
      </p:sp>
      <p:sp>
        <p:nvSpPr>
          <p:cNvPr id="4" name="Shape 2"/>
          <p:cNvSpPr/>
          <p:nvPr/>
        </p:nvSpPr>
        <p:spPr>
          <a:xfrm>
            <a:off x="502920"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77240"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897941" y="1830629"/>
            <a:ext cx="261518" cy="261518"/>
          </a:xfrm>
          <a:prstGeom prst="rect">
            <a:avLst/>
          </a:prstGeom>
        </p:spPr>
      </p:pic>
      <p:sp>
        <p:nvSpPr>
          <p:cNvPr id="7" name="Text 4"/>
          <p:cNvSpPr/>
          <p:nvPr/>
        </p:nvSpPr>
        <p:spPr>
          <a:xfrm>
            <a:off x="1399032" y="1664208"/>
            <a:ext cx="4198468" cy="320040"/>
          </a:xfrm>
          <a:prstGeom prst="rect">
            <a:avLst/>
          </a:prstGeom>
          <a:noFill/>
          <a:ln/>
        </p:spPr>
        <p:txBody>
          <a:bodyPr wrap="square" lIns="0" tIns="0" rIns="0" bIns="0" rtlCol="0" anchor="ctr"/>
          <a:lstStyle/>
          <a:p>
            <a:pPr indent="0" marL="0">
              <a:buNone/>
            </a:pPr>
            <a:r>
              <a:rPr lang="en-US" sz="1550" b="1" dirty="0">
                <a:solidFill>
                  <a:srgbClr val="1E7A45"/>
                </a:solidFill>
                <a:latin typeface="Cambria" pitchFamily="34" charset="0"/>
                <a:ea typeface="Cambria" pitchFamily="34" charset="-122"/>
                <a:cs typeface="Cambria" pitchFamily="34" charset="-120"/>
              </a:rPr>
              <a:t>UNC3886 (China) — Singapore Telecoms</a:t>
            </a:r>
            <a:endParaRPr lang="en-US" sz="1550" dirty="0"/>
          </a:p>
        </p:txBody>
      </p:sp>
      <p:sp>
        <p:nvSpPr>
          <p:cNvPr id="8" name="Text 5"/>
          <p:cNvSpPr/>
          <p:nvPr/>
        </p:nvSpPr>
        <p:spPr>
          <a:xfrm>
            <a:off x="1399032" y="1975104"/>
            <a:ext cx="4198468" cy="274320"/>
          </a:xfrm>
          <a:prstGeom prst="rect">
            <a:avLst/>
          </a:prstGeom>
          <a:noFill/>
          <a:ln/>
        </p:spPr>
        <p:txBody>
          <a:bodyPr wrap="square" lIns="0" tIns="0" rIns="0" bIns="0" rtlCol="0" anchor="ctr"/>
          <a:lstStyle/>
          <a:p>
            <a:pPr indent="0" marL="0">
              <a:buNone/>
            </a:pPr>
            <a:r>
              <a:rPr lang="en-US" sz="1050" i="1" dirty="0">
                <a:solidFill>
                  <a:srgbClr val="708090"/>
                </a:solidFill>
                <a:latin typeface="Calibri" pitchFamily="34" charset="0"/>
                <a:ea typeface="Calibri" pitchFamily="34" charset="-122"/>
                <a:cs typeface="Calibri" pitchFamily="34" charset="-120"/>
              </a:rPr>
              <a:t>Discovered February 2026</a:t>
            </a:r>
            <a:endParaRPr lang="en-US" sz="1050" dirty="0"/>
          </a:p>
        </p:txBody>
      </p:sp>
      <p:sp>
        <p:nvSpPr>
          <p:cNvPr id="9" name="Shape 6"/>
          <p:cNvSpPr/>
          <p:nvPr/>
        </p:nvSpPr>
        <p:spPr>
          <a:xfrm>
            <a:off x="777240" y="2322576"/>
            <a:ext cx="4838548" cy="0"/>
          </a:xfrm>
          <a:prstGeom prst="line">
            <a:avLst/>
          </a:prstGeom>
          <a:noFill/>
          <a:ln w="9525">
            <a:solidFill>
              <a:srgbClr val="708090">
                <a:alpha val="45000"/>
              </a:srgbClr>
            </a:solidFill>
            <a:prstDash val="solid"/>
          </a:ln>
        </p:spPr>
      </p:sp>
      <p:sp>
        <p:nvSpPr>
          <p:cNvPr id="10" name="Text 7"/>
          <p:cNvSpPr/>
          <p:nvPr/>
        </p:nvSpPr>
        <p:spPr>
          <a:xfrm>
            <a:off x="777240" y="2414016"/>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WHAT HAPPENED</a:t>
            </a:r>
            <a:endParaRPr lang="en-US" sz="950" dirty="0"/>
          </a:p>
        </p:txBody>
      </p:sp>
      <p:sp>
        <p:nvSpPr>
          <p:cNvPr id="11" name="Text 8"/>
          <p:cNvSpPr/>
          <p:nvPr/>
        </p:nvSpPr>
        <p:spPr>
          <a:xfrm>
            <a:off x="777240" y="2651760"/>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Compromise of all four major telecom operators in Singapore.</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Zero-day vulnerabilities + rootkits, undetected for months.</a:t>
            </a:r>
            <a:endParaRPr lang="en-US" sz="1000" dirty="0"/>
          </a:p>
        </p:txBody>
      </p:sp>
      <p:sp>
        <p:nvSpPr>
          <p:cNvPr id="12" name="Text 9"/>
          <p:cNvSpPr/>
          <p:nvPr/>
        </p:nvSpPr>
        <p:spPr>
          <a:xfrm>
            <a:off x="777240" y="3767328"/>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THE “SO WHAT”</a:t>
            </a:r>
            <a:endParaRPr lang="en-US" sz="950" dirty="0"/>
          </a:p>
        </p:txBody>
      </p:sp>
      <p:sp>
        <p:nvSpPr>
          <p:cNvPr id="13" name="Text 10"/>
          <p:cNvSpPr/>
          <p:nvPr/>
        </p:nvSpPr>
        <p:spPr>
          <a:xfrm>
            <a:off x="777240" y="4005072"/>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Textbook pre-positioning — access preserved, not exploited, as a strategic asset.</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Triggered “Cyber Guardian” — Singapore's largest-ever cyber defense operation.</a:t>
            </a:r>
            <a:endParaRPr lang="en-US" sz="1000" dirty="0"/>
          </a:p>
        </p:txBody>
      </p:sp>
      <p:sp>
        <p:nvSpPr>
          <p:cNvPr id="14" name="Text 11"/>
          <p:cNvSpPr/>
          <p:nvPr/>
        </p:nvSpPr>
        <p:spPr>
          <a:xfrm>
            <a:off x="777240" y="5065776"/>
            <a:ext cx="4838548" cy="594360"/>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Prevention is exponentially cheaper than eviction.</a:t>
            </a:r>
            <a:endParaRPr lang="en-US" sz="1050" dirty="0"/>
          </a:p>
        </p:txBody>
      </p:sp>
      <p:sp>
        <p:nvSpPr>
          <p:cNvPr id="15" name="Shape 12"/>
          <p:cNvSpPr/>
          <p:nvPr/>
        </p:nvSpPr>
        <p:spPr>
          <a:xfrm>
            <a:off x="6301588" y="1481328"/>
            <a:ext cx="5387188" cy="4297680"/>
          </a:xfrm>
          <a:prstGeom prst="roundRect">
            <a:avLst>
              <a:gd name="adj" fmla="val 1277"/>
            </a:avLst>
          </a:prstGeom>
          <a:solidFill>
            <a:srgbClr val="EAF7F0"/>
          </a:solidFill>
          <a:ln/>
          <a:effectLst>
            <a:outerShdw sx="100000" sy="100000" kx="0" ky="0" algn="bl" rotWithShape="0" blurRad="101600" dist="38100" dir="2700000">
              <a:srgbClr val="000000">
                <a:alpha val="14000"/>
              </a:srgbClr>
            </a:outerShdw>
          </a:effectLst>
        </p:spPr>
      </p:sp>
      <p:sp>
        <p:nvSpPr>
          <p:cNvPr id="16" name="Shape 13"/>
          <p:cNvSpPr/>
          <p:nvPr/>
        </p:nvSpPr>
        <p:spPr>
          <a:xfrm>
            <a:off x="6575908" y="1709928"/>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7" name="Image 1" descr="preencoded.png">    </p:cNvPr>
          <p:cNvPicPr>
            <a:picLocks noChangeAspect="1"/>
          </p:cNvPicPr>
          <p:nvPr/>
        </p:nvPicPr>
        <p:blipFill>
          <a:blip r:embed="rId2"/>
          <a:stretch>
            <a:fillRect/>
          </a:stretch>
        </p:blipFill>
        <p:spPr>
          <a:xfrm>
            <a:off x="6696608" y="1830629"/>
            <a:ext cx="261518" cy="261518"/>
          </a:xfrm>
          <a:prstGeom prst="rect">
            <a:avLst/>
          </a:prstGeom>
        </p:spPr>
      </p:pic>
      <p:sp>
        <p:nvSpPr>
          <p:cNvPr id="18" name="Text 14"/>
          <p:cNvSpPr/>
          <p:nvPr/>
        </p:nvSpPr>
        <p:spPr>
          <a:xfrm>
            <a:off x="7197700" y="1664208"/>
            <a:ext cx="4198468" cy="320040"/>
          </a:xfrm>
          <a:prstGeom prst="rect">
            <a:avLst/>
          </a:prstGeom>
          <a:noFill/>
          <a:ln/>
        </p:spPr>
        <p:txBody>
          <a:bodyPr wrap="square" lIns="0" tIns="0" rIns="0" bIns="0" rtlCol="0" anchor="ctr"/>
          <a:lstStyle/>
          <a:p>
            <a:pPr indent="0" marL="0">
              <a:buNone/>
            </a:pPr>
            <a:r>
              <a:rPr lang="en-US" sz="1550" b="1" dirty="0">
                <a:solidFill>
                  <a:srgbClr val="1E7A45"/>
                </a:solidFill>
                <a:latin typeface="Cambria" pitchFamily="34" charset="0"/>
                <a:ea typeface="Cambria" pitchFamily="34" charset="-122"/>
                <a:cs typeface="Cambria" pitchFamily="34" charset="-120"/>
              </a:rPr>
              <a:t>Handala (Iran) — Stryker</a:t>
            </a:r>
            <a:endParaRPr lang="en-US" sz="1550" dirty="0"/>
          </a:p>
        </p:txBody>
      </p:sp>
      <p:sp>
        <p:nvSpPr>
          <p:cNvPr id="19" name="Text 15"/>
          <p:cNvSpPr/>
          <p:nvPr/>
        </p:nvSpPr>
        <p:spPr>
          <a:xfrm>
            <a:off x="7197700" y="1975104"/>
            <a:ext cx="4198468" cy="274320"/>
          </a:xfrm>
          <a:prstGeom prst="rect">
            <a:avLst/>
          </a:prstGeom>
          <a:noFill/>
          <a:ln/>
        </p:spPr>
        <p:txBody>
          <a:bodyPr wrap="square" lIns="0" tIns="0" rIns="0" bIns="0" rtlCol="0" anchor="ctr"/>
          <a:lstStyle/>
          <a:p>
            <a:pPr indent="0" marL="0">
              <a:buNone/>
            </a:pPr>
            <a:r>
              <a:rPr lang="en-US" sz="1050" i="1" dirty="0">
                <a:solidFill>
                  <a:srgbClr val="708090"/>
                </a:solidFill>
                <a:latin typeface="Calibri" pitchFamily="34" charset="0"/>
                <a:ea typeface="Calibri" pitchFamily="34" charset="-122"/>
                <a:cs typeface="Calibri" pitchFamily="34" charset="-120"/>
              </a:rPr>
              <a:t>March 2026</a:t>
            </a:r>
            <a:endParaRPr lang="en-US" sz="1050" dirty="0"/>
          </a:p>
        </p:txBody>
      </p:sp>
      <p:sp>
        <p:nvSpPr>
          <p:cNvPr id="20" name="Shape 16"/>
          <p:cNvSpPr/>
          <p:nvPr/>
        </p:nvSpPr>
        <p:spPr>
          <a:xfrm>
            <a:off x="6575908" y="2322576"/>
            <a:ext cx="4838548" cy="0"/>
          </a:xfrm>
          <a:prstGeom prst="line">
            <a:avLst/>
          </a:prstGeom>
          <a:noFill/>
          <a:ln w="9525">
            <a:solidFill>
              <a:srgbClr val="708090">
                <a:alpha val="45000"/>
              </a:srgbClr>
            </a:solidFill>
            <a:prstDash val="solid"/>
          </a:ln>
        </p:spPr>
      </p:sp>
      <p:sp>
        <p:nvSpPr>
          <p:cNvPr id="21" name="Text 17"/>
          <p:cNvSpPr/>
          <p:nvPr/>
        </p:nvSpPr>
        <p:spPr>
          <a:xfrm>
            <a:off x="6575908" y="2414016"/>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WHAT HAPPENED</a:t>
            </a:r>
            <a:endParaRPr lang="en-US" sz="950" dirty="0"/>
          </a:p>
        </p:txBody>
      </p:sp>
      <p:sp>
        <p:nvSpPr>
          <p:cNvPr id="22" name="Text 18"/>
          <p:cNvSpPr/>
          <p:nvPr/>
        </p:nvSpPr>
        <p:spPr>
          <a:xfrm>
            <a:off x="6575908" y="2651760"/>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Retaliatory wiper: 200,000+ devices factory-reset across 79 countries.</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Stryker had no political profile — a prominent Western industrial firm was enough.</a:t>
            </a:r>
            <a:endParaRPr lang="en-US" sz="1000" dirty="0"/>
          </a:p>
        </p:txBody>
      </p:sp>
      <p:sp>
        <p:nvSpPr>
          <p:cNvPr id="23" name="Text 19"/>
          <p:cNvSpPr/>
          <p:nvPr/>
        </p:nvSpPr>
        <p:spPr>
          <a:xfrm>
            <a:off x="6575908" y="3767328"/>
            <a:ext cx="4838548" cy="228600"/>
          </a:xfrm>
          <a:prstGeom prst="rect">
            <a:avLst/>
          </a:prstGeom>
          <a:noFill/>
          <a:ln/>
        </p:spPr>
        <p:txBody>
          <a:bodyPr wrap="square" lIns="0" tIns="0" rIns="0" bIns="0" rtlCol="0" anchor="ctr"/>
          <a:lstStyle/>
          <a:p>
            <a:pPr indent="0" marL="0">
              <a:buNone/>
            </a:pPr>
            <a:r>
              <a:rPr lang="en-US" sz="950" b="1" spc="100" kern="0" dirty="0">
                <a:solidFill>
                  <a:srgbClr val="708090"/>
                </a:solidFill>
                <a:latin typeface="Calibri" pitchFamily="34" charset="0"/>
                <a:ea typeface="Calibri" pitchFamily="34" charset="-122"/>
                <a:cs typeface="Calibri" pitchFamily="34" charset="-120"/>
              </a:rPr>
              <a:t>THE “SO WHAT”</a:t>
            </a:r>
            <a:endParaRPr lang="en-US" sz="950" dirty="0"/>
          </a:p>
        </p:txBody>
      </p:sp>
      <p:sp>
        <p:nvSpPr>
          <p:cNvPr id="24" name="Text 20"/>
          <p:cNvSpPr/>
          <p:nvPr/>
        </p:nvSpPr>
        <p:spPr>
          <a:xfrm>
            <a:off x="6575908" y="4005072"/>
            <a:ext cx="4838548" cy="10515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Synchronization across 79 countries proves months of prior infiltration.</a:t>
            </a:r>
            <a:endParaRPr lang="en-US" sz="1000" dirty="0"/>
          </a:p>
          <a:p>
            <a:pPr marL="342900" indent="-342900">
              <a:lnSpc>
                <a:spcPct val="100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Retaliation logic expands from “who harms us” to “who represents them.”</a:t>
            </a:r>
            <a:endParaRPr lang="en-US" sz="1000" dirty="0"/>
          </a:p>
        </p:txBody>
      </p:sp>
      <p:sp>
        <p:nvSpPr>
          <p:cNvPr id="25" name="Text 21"/>
          <p:cNvSpPr/>
          <p:nvPr/>
        </p:nvSpPr>
        <p:spPr>
          <a:xfrm>
            <a:off x="6575908" y="5065776"/>
            <a:ext cx="4838548" cy="594360"/>
          </a:xfrm>
          <a:prstGeom prst="rect">
            <a:avLst/>
          </a:prstGeom>
          <a:noFill/>
          <a:ln/>
        </p:spPr>
        <p:txBody>
          <a:bodyPr wrap="square" lIns="0" tIns="0" rIns="0" bIns="0" rtlCol="0" anchor="t"/>
          <a:lstStyle/>
          <a:p>
            <a:pPr indent="0" marL="0">
              <a:buNone/>
            </a:pPr>
            <a:r>
              <a:rPr lang="en-US" sz="1050" b="1" i="1" dirty="0">
                <a:solidFill>
                  <a:srgbClr val="1E7A45"/>
                </a:solidFill>
                <a:latin typeface="Calibri" pitchFamily="34" charset="0"/>
                <a:ea typeface="Calibri" pitchFamily="34" charset="-122"/>
                <a:cs typeface="Calibri" pitchFamily="34" charset="-120"/>
              </a:rPr>
              <a:t>The line between “not a political target” and “became one overnight” no longer exists.</a:t>
            </a:r>
            <a:endParaRPr lang="en-US" sz="1050" dirty="0"/>
          </a:p>
        </p:txBody>
      </p:sp>
      <p:sp>
        <p:nvSpPr>
          <p:cNvPr id="26" name="Shape 22"/>
          <p:cNvSpPr/>
          <p:nvPr/>
        </p:nvSpPr>
        <p:spPr>
          <a:xfrm>
            <a:off x="502920" y="6053328"/>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27" name="Text 23"/>
          <p:cNvSpPr/>
          <p:nvPr/>
        </p:nvSpPr>
        <p:spPr>
          <a:xfrm>
            <a:off x="731520" y="6053328"/>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Same capability — long-term infiltration. Opposite intents — silent espionage vs. loud destruction. Indistinguishable in early stages.</a:t>
            </a:r>
            <a:endParaRPr lang="en-US" sz="1350" dirty="0"/>
          </a:p>
        </p:txBody>
      </p:sp>
      <p:sp>
        <p:nvSpPr>
          <p:cNvPr id="28" name="Text 2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29" name="Text 25"/>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Financial Impact &amp; Mitigation</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The cost of a crisis — and the case for reinvestment</a:t>
            </a:r>
            <a:endParaRPr lang="en-US" sz="1500" dirty="0"/>
          </a:p>
        </p:txBody>
      </p:sp>
      <p:sp>
        <p:nvSpPr>
          <p:cNvPr id="4" name="Shape 2"/>
          <p:cNvSpPr/>
          <p:nvPr/>
        </p:nvSpPr>
        <p:spPr>
          <a:xfrm>
            <a:off x="502920" y="1280160"/>
            <a:ext cx="11185855" cy="1572768"/>
          </a:xfrm>
          <a:prstGeom prst="roundRect">
            <a:avLst>
              <a:gd name="adj" fmla="val 3488"/>
            </a:avLst>
          </a:prstGeom>
          <a:solidFill>
            <a:srgbClr val="EAF7F0"/>
          </a:solidFill>
          <a:ln/>
          <a:effectLst>
            <a:outerShdw sx="100000" sy="100000" kx="0" ky="0" algn="bl" rotWithShape="0" blurRad="101600" dist="38100" dir="2700000">
              <a:srgbClr val="000000">
                <a:alpha val="14000"/>
              </a:srgbClr>
            </a:outerShdw>
          </a:effectLst>
        </p:spPr>
      </p:sp>
      <p:sp>
        <p:nvSpPr>
          <p:cNvPr id="5" name="Shape 3"/>
          <p:cNvSpPr/>
          <p:nvPr/>
        </p:nvSpPr>
        <p:spPr>
          <a:xfrm>
            <a:off x="777240" y="1554480"/>
            <a:ext cx="502920" cy="50292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6" name="Image 0" descr="preencoded.png">    </p:cNvPr>
          <p:cNvPicPr>
            <a:picLocks noChangeAspect="1"/>
          </p:cNvPicPr>
          <p:nvPr/>
        </p:nvPicPr>
        <p:blipFill>
          <a:blip r:embed="rId1"/>
          <a:stretch>
            <a:fillRect/>
          </a:stretch>
        </p:blipFill>
        <p:spPr>
          <a:xfrm>
            <a:off x="897941" y="1675181"/>
            <a:ext cx="261518" cy="261518"/>
          </a:xfrm>
          <a:prstGeom prst="rect">
            <a:avLst/>
          </a:prstGeom>
        </p:spPr>
      </p:pic>
      <p:sp>
        <p:nvSpPr>
          <p:cNvPr id="7" name="Text 4"/>
          <p:cNvSpPr/>
          <p:nvPr/>
        </p:nvSpPr>
        <p:spPr>
          <a:xfrm>
            <a:off x="1417320" y="1481328"/>
            <a:ext cx="4023360" cy="274320"/>
          </a:xfrm>
          <a:prstGeom prst="rect">
            <a:avLst/>
          </a:prstGeom>
          <a:noFill/>
          <a:ln/>
        </p:spPr>
        <p:txBody>
          <a:bodyPr wrap="square" lIns="0" tIns="0" rIns="0" bIns="0" rtlCol="0" anchor="ctr"/>
          <a:lstStyle/>
          <a:p>
            <a:pPr indent="0" marL="0">
              <a:buNone/>
            </a:pPr>
            <a:r>
              <a:rPr lang="en-US" sz="1200" b="1" spc="100" kern="0" dirty="0">
                <a:solidFill>
                  <a:srgbClr val="708090"/>
                </a:solidFill>
                <a:latin typeface="Calibri" pitchFamily="34" charset="0"/>
                <a:ea typeface="Calibri" pitchFamily="34" charset="-122"/>
                <a:cs typeface="Calibri" pitchFamily="34" charset="-120"/>
              </a:rPr>
              <a:t>THE COST OF INACTION</a:t>
            </a:r>
            <a:endParaRPr lang="en-US" sz="1200" dirty="0"/>
          </a:p>
        </p:txBody>
      </p:sp>
      <p:sp>
        <p:nvSpPr>
          <p:cNvPr id="8" name="Text 5"/>
          <p:cNvSpPr/>
          <p:nvPr/>
        </p:nvSpPr>
        <p:spPr>
          <a:xfrm>
            <a:off x="1417320" y="1719072"/>
            <a:ext cx="2743200" cy="685800"/>
          </a:xfrm>
          <a:prstGeom prst="rect">
            <a:avLst/>
          </a:prstGeom>
          <a:noFill/>
          <a:ln/>
        </p:spPr>
        <p:txBody>
          <a:bodyPr wrap="square" lIns="0" tIns="0" rIns="0" bIns="0" rtlCol="0" anchor="ctr"/>
          <a:lstStyle/>
          <a:p>
            <a:pPr indent="0" marL="0">
              <a:buNone/>
            </a:pPr>
            <a:r>
              <a:rPr lang="en-US" sz="4000" b="1" dirty="0">
                <a:solidFill>
                  <a:srgbClr val="1E7A45"/>
                </a:solidFill>
                <a:latin typeface="Cambria" pitchFamily="34" charset="0"/>
                <a:ea typeface="Cambria" pitchFamily="34" charset="-122"/>
                <a:cs typeface="Cambria" pitchFamily="34" charset="-120"/>
              </a:rPr>
              <a:t>€8–12M</a:t>
            </a:r>
            <a:endParaRPr lang="en-US" sz="4000" dirty="0"/>
          </a:p>
        </p:txBody>
      </p:sp>
      <p:sp>
        <p:nvSpPr>
          <p:cNvPr id="9" name="Text 6"/>
          <p:cNvSpPr/>
          <p:nvPr/>
        </p:nvSpPr>
        <p:spPr>
          <a:xfrm>
            <a:off x="1417320" y="2395728"/>
            <a:ext cx="4206240" cy="411480"/>
          </a:xfrm>
          <a:prstGeom prst="rect">
            <a:avLst/>
          </a:prstGeom>
          <a:noFill/>
          <a:ln/>
        </p:spPr>
        <p:txBody>
          <a:bodyPr wrap="square" lIns="0" tIns="0" rIns="0" bIns="0" rtlCol="0" anchor="ctr"/>
          <a:lstStyle/>
          <a:p>
            <a:pPr indent="0" marL="0">
              <a:buNone/>
            </a:pPr>
            <a:r>
              <a:rPr lang="en-US" sz="950" i="1" dirty="0">
                <a:solidFill>
                  <a:srgbClr val="708090"/>
                </a:solidFill>
                <a:latin typeface="Calibri" pitchFamily="34" charset="0"/>
                <a:ea typeface="Calibri" pitchFamily="34" charset="-122"/>
                <a:cs typeface="Calibri" pitchFamily="34" charset="-120"/>
              </a:rPr>
              <a:t>average major breach, EU financial services (industry benchmark)</a:t>
            </a:r>
            <a:endParaRPr lang="en-US" sz="950" dirty="0"/>
          </a:p>
        </p:txBody>
      </p:sp>
      <p:sp>
        <p:nvSpPr>
          <p:cNvPr id="10" name="Text 7"/>
          <p:cNvSpPr/>
          <p:nvPr/>
        </p:nvSpPr>
        <p:spPr>
          <a:xfrm>
            <a:off x="5989320" y="1554480"/>
            <a:ext cx="5425135" cy="123444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050" dirty="0">
                <a:solidFill>
                  <a:srgbClr val="3A454D"/>
                </a:solidFill>
                <a:latin typeface="Calibri" pitchFamily="34" charset="0"/>
                <a:ea typeface="Calibri" pitchFamily="34" charset="-122"/>
                <a:cs typeface="Calibri" pitchFamily="34" charset="-120"/>
              </a:rPr>
              <a:t>Nation-state attribution: +3–5x baseline cost</a:t>
            </a:r>
            <a:endParaRPr lang="en-US" sz="1050" dirty="0"/>
          </a:p>
          <a:p>
            <a:pPr marL="342900" indent="-342900">
              <a:lnSpc>
                <a:spcPct val="105000"/>
              </a:lnSpc>
              <a:spcAft>
                <a:spcPts val="500"/>
              </a:spcAft>
              <a:buSzPct val="100000"/>
              <a:buChar char="•"/>
            </a:pPr>
            <a:r>
              <a:rPr lang="en-US" sz="1050" dirty="0">
                <a:solidFill>
                  <a:srgbClr val="3A454D"/>
                </a:solidFill>
                <a:latin typeface="Calibri" pitchFamily="34" charset="0"/>
                <a:ea typeface="Calibri" pitchFamily="34" charset="-122"/>
                <a:cs typeface="Calibri" pitchFamily="34" charset="-120"/>
              </a:rPr>
              <a:t>DORA non-compliance ceiling: up to 2% of annual turnover</a:t>
            </a:r>
            <a:endParaRPr lang="en-US" sz="1050" dirty="0"/>
          </a:p>
          <a:p>
            <a:pPr marL="342900" indent="-342900">
              <a:lnSpc>
                <a:spcPct val="105000"/>
              </a:lnSpc>
              <a:buSzPct val="100000"/>
              <a:buChar char="•"/>
            </a:pPr>
            <a:r>
              <a:rPr lang="en-US" sz="1050" dirty="0">
                <a:solidFill>
                  <a:srgbClr val="3A454D"/>
                </a:solidFill>
                <a:latin typeface="Calibri" pitchFamily="34" charset="0"/>
                <a:ea typeface="Calibri" pitchFamily="34" charset="-122"/>
                <a:cs typeface="Calibri" pitchFamily="34" charset="-120"/>
              </a:rPr>
              <a:t>Cost drivers: downtime, reputational damage, fines, forensics, BCP</a:t>
            </a:r>
            <a:endParaRPr lang="en-US" sz="1050" dirty="0"/>
          </a:p>
        </p:txBody>
      </p:sp>
      <p:sp>
        <p:nvSpPr>
          <p:cNvPr id="11" name="Shape 8"/>
          <p:cNvSpPr/>
          <p:nvPr/>
        </p:nvSpPr>
        <p:spPr>
          <a:xfrm>
            <a:off x="502920" y="2990088"/>
            <a:ext cx="11185855" cy="1627632"/>
          </a:xfrm>
          <a:prstGeom prst="roundRect">
            <a:avLst>
              <a:gd name="adj" fmla="val 3371"/>
            </a:avLst>
          </a:prstGeom>
          <a:solidFill>
            <a:srgbClr val="EAF7F0"/>
          </a:solidFill>
          <a:ln/>
          <a:effectLst>
            <a:outerShdw sx="100000" sy="100000" kx="0" ky="0" algn="bl" rotWithShape="0" blurRad="101600" dist="38100" dir="2700000">
              <a:srgbClr val="000000">
                <a:alpha val="14000"/>
              </a:srgbClr>
            </a:outerShdw>
          </a:effectLst>
        </p:spPr>
      </p:sp>
      <p:sp>
        <p:nvSpPr>
          <p:cNvPr id="12" name="Shape 9"/>
          <p:cNvSpPr/>
          <p:nvPr/>
        </p:nvSpPr>
        <p:spPr>
          <a:xfrm>
            <a:off x="777240" y="3218688"/>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3" name="Image 1" descr="preencoded.png">    </p:cNvPr>
          <p:cNvPicPr>
            <a:picLocks noChangeAspect="1"/>
          </p:cNvPicPr>
          <p:nvPr/>
        </p:nvPicPr>
        <p:blipFill>
          <a:blip r:embed="rId2"/>
          <a:stretch>
            <a:fillRect/>
          </a:stretch>
        </p:blipFill>
        <p:spPr>
          <a:xfrm>
            <a:off x="886968" y="3328416"/>
            <a:ext cx="237744" cy="237744"/>
          </a:xfrm>
          <a:prstGeom prst="rect">
            <a:avLst/>
          </a:prstGeom>
        </p:spPr>
      </p:pic>
      <p:sp>
        <p:nvSpPr>
          <p:cNvPr id="14" name="Text 10"/>
          <p:cNvSpPr/>
          <p:nvPr/>
        </p:nvSpPr>
        <p:spPr>
          <a:xfrm>
            <a:off x="1371600" y="3191256"/>
            <a:ext cx="4572000" cy="274320"/>
          </a:xfrm>
          <a:prstGeom prst="rect">
            <a:avLst/>
          </a:prstGeom>
          <a:noFill/>
          <a:ln/>
        </p:spPr>
        <p:txBody>
          <a:bodyPr wrap="square" lIns="0" tIns="0" rIns="0" bIns="0" rtlCol="0" anchor="ctr"/>
          <a:lstStyle/>
          <a:p>
            <a:pPr indent="0" marL="0">
              <a:buNone/>
            </a:pPr>
            <a:r>
              <a:rPr lang="en-US" sz="1200" b="1" spc="100" kern="0" dirty="0">
                <a:solidFill>
                  <a:srgbClr val="708090"/>
                </a:solidFill>
                <a:latin typeface="Calibri" pitchFamily="34" charset="0"/>
                <a:ea typeface="Calibri" pitchFamily="34" charset="-122"/>
                <a:cs typeface="Calibri" pitchFamily="34" charset="-120"/>
              </a:rPr>
              <a:t>WHERE WE STAND TODAY</a:t>
            </a:r>
            <a:endParaRPr lang="en-US" sz="1200" dirty="0"/>
          </a:p>
        </p:txBody>
      </p:sp>
      <p:sp>
        <p:nvSpPr>
          <p:cNvPr id="15" name="Shape 11"/>
          <p:cNvSpPr/>
          <p:nvPr/>
        </p:nvSpPr>
        <p:spPr>
          <a:xfrm>
            <a:off x="777240" y="3666744"/>
            <a:ext cx="146304" cy="146304"/>
          </a:xfrm>
          <a:prstGeom prst="ellipse">
            <a:avLst/>
          </a:prstGeom>
          <a:solidFill>
            <a:srgbClr val="50C878"/>
          </a:solidFill>
          <a:ln/>
        </p:spPr>
      </p:sp>
      <p:sp>
        <p:nvSpPr>
          <p:cNvPr id="16" name="Text 12"/>
          <p:cNvSpPr/>
          <p:nvPr/>
        </p:nvSpPr>
        <p:spPr>
          <a:xfrm>
            <a:off x="1033272" y="355701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Security Posture Mgmt</a:t>
            </a:r>
            <a:endParaRPr lang="en-US" sz="1050" dirty="0"/>
          </a:p>
        </p:txBody>
      </p:sp>
      <p:sp>
        <p:nvSpPr>
          <p:cNvPr id="17" name="Shape 13"/>
          <p:cNvSpPr/>
          <p:nvPr/>
        </p:nvSpPr>
        <p:spPr>
          <a:xfrm>
            <a:off x="4322978" y="3666744"/>
            <a:ext cx="146304" cy="146304"/>
          </a:xfrm>
          <a:prstGeom prst="ellipse">
            <a:avLst/>
          </a:prstGeom>
          <a:solidFill>
            <a:srgbClr val="50C878"/>
          </a:solidFill>
          <a:ln/>
        </p:spPr>
      </p:sp>
      <p:sp>
        <p:nvSpPr>
          <p:cNvPr id="18" name="Text 14"/>
          <p:cNvSpPr/>
          <p:nvPr/>
        </p:nvSpPr>
        <p:spPr>
          <a:xfrm>
            <a:off x="4579010" y="355701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Business Continuity Plans</a:t>
            </a:r>
            <a:endParaRPr lang="en-US" sz="1050" dirty="0"/>
          </a:p>
        </p:txBody>
      </p:sp>
      <p:sp>
        <p:nvSpPr>
          <p:cNvPr id="19" name="Shape 15"/>
          <p:cNvSpPr/>
          <p:nvPr/>
        </p:nvSpPr>
        <p:spPr>
          <a:xfrm>
            <a:off x="7868717" y="3666744"/>
            <a:ext cx="146304" cy="146304"/>
          </a:xfrm>
          <a:prstGeom prst="ellipse">
            <a:avLst/>
          </a:prstGeom>
          <a:solidFill>
            <a:srgbClr val="E8A33D"/>
          </a:solidFill>
          <a:ln/>
        </p:spPr>
      </p:sp>
      <p:sp>
        <p:nvSpPr>
          <p:cNvPr id="20" name="Text 16"/>
          <p:cNvSpPr/>
          <p:nvPr/>
        </p:nvSpPr>
        <p:spPr>
          <a:xfrm>
            <a:off x="8124749" y="355701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Zero-Trust Architecture</a:t>
            </a:r>
            <a:endParaRPr lang="en-US" sz="1050" dirty="0"/>
          </a:p>
        </p:txBody>
      </p:sp>
      <p:sp>
        <p:nvSpPr>
          <p:cNvPr id="21" name="Shape 17"/>
          <p:cNvSpPr/>
          <p:nvPr/>
        </p:nvSpPr>
        <p:spPr>
          <a:xfrm>
            <a:off x="777240" y="4169664"/>
            <a:ext cx="146304" cy="146304"/>
          </a:xfrm>
          <a:prstGeom prst="ellipse">
            <a:avLst/>
          </a:prstGeom>
          <a:solidFill>
            <a:srgbClr val="D9534F"/>
          </a:solidFill>
          <a:ln/>
        </p:spPr>
      </p:sp>
      <p:sp>
        <p:nvSpPr>
          <p:cNvPr id="22" name="Text 18"/>
          <p:cNvSpPr/>
          <p:nvPr/>
        </p:nvSpPr>
        <p:spPr>
          <a:xfrm>
            <a:off x="1033272" y="405993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Non-Human Identity Mgmt</a:t>
            </a:r>
            <a:endParaRPr lang="en-US" sz="1050" dirty="0"/>
          </a:p>
        </p:txBody>
      </p:sp>
      <p:sp>
        <p:nvSpPr>
          <p:cNvPr id="23" name="Shape 19"/>
          <p:cNvSpPr/>
          <p:nvPr/>
        </p:nvSpPr>
        <p:spPr>
          <a:xfrm>
            <a:off x="4322978" y="4169664"/>
            <a:ext cx="146304" cy="146304"/>
          </a:xfrm>
          <a:prstGeom prst="ellipse">
            <a:avLst/>
          </a:prstGeom>
          <a:solidFill>
            <a:srgbClr val="D9534F"/>
          </a:solidFill>
          <a:ln/>
        </p:spPr>
      </p:sp>
      <p:sp>
        <p:nvSpPr>
          <p:cNvPr id="24" name="Text 20"/>
          <p:cNvSpPr/>
          <p:nvPr/>
        </p:nvSpPr>
        <p:spPr>
          <a:xfrm>
            <a:off x="4579010" y="405993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Edge Device Visibility</a:t>
            </a:r>
            <a:endParaRPr lang="en-US" sz="1050" dirty="0"/>
          </a:p>
        </p:txBody>
      </p:sp>
      <p:sp>
        <p:nvSpPr>
          <p:cNvPr id="25" name="Shape 21"/>
          <p:cNvSpPr/>
          <p:nvPr/>
        </p:nvSpPr>
        <p:spPr>
          <a:xfrm>
            <a:off x="7868717" y="4169664"/>
            <a:ext cx="146304" cy="146304"/>
          </a:xfrm>
          <a:prstGeom prst="ellipse">
            <a:avLst/>
          </a:prstGeom>
          <a:solidFill>
            <a:srgbClr val="E8A33D"/>
          </a:solidFill>
          <a:ln/>
        </p:spPr>
      </p:sp>
      <p:sp>
        <p:nvSpPr>
          <p:cNvPr id="26" name="Text 22"/>
          <p:cNvSpPr/>
          <p:nvPr/>
        </p:nvSpPr>
        <p:spPr>
          <a:xfrm>
            <a:off x="8124749" y="4059936"/>
            <a:ext cx="3179978" cy="320040"/>
          </a:xfrm>
          <a:prstGeom prst="rect">
            <a:avLst/>
          </a:prstGeom>
          <a:noFill/>
          <a:ln/>
        </p:spPr>
        <p:txBody>
          <a:bodyPr wrap="square" lIns="0" tIns="0" rIns="0" bIns="0" rtlCol="0" anchor="ctr"/>
          <a:lstStyle/>
          <a:p>
            <a:pPr indent="0" marL="0">
              <a:buNone/>
            </a:pPr>
            <a:r>
              <a:rPr lang="en-US" sz="1050" dirty="0">
                <a:solidFill>
                  <a:srgbClr val="3A454D"/>
                </a:solidFill>
                <a:latin typeface="Calibri" pitchFamily="34" charset="0"/>
                <a:ea typeface="Calibri" pitchFamily="34" charset="-122"/>
                <a:cs typeface="Calibri" pitchFamily="34" charset="-120"/>
              </a:rPr>
              <a:t>Crisis Simulation (nation-state)</a:t>
            </a:r>
            <a:endParaRPr lang="en-US" sz="1050" dirty="0"/>
          </a:p>
        </p:txBody>
      </p:sp>
      <p:sp>
        <p:nvSpPr>
          <p:cNvPr id="27" name="Shape 23"/>
          <p:cNvSpPr/>
          <p:nvPr/>
        </p:nvSpPr>
        <p:spPr>
          <a:xfrm>
            <a:off x="502920" y="4754880"/>
            <a:ext cx="11185855" cy="1444752"/>
          </a:xfrm>
          <a:prstGeom prst="roundRect">
            <a:avLst>
              <a:gd name="adj" fmla="val 3797"/>
            </a:avLst>
          </a:prstGeom>
          <a:solidFill>
            <a:srgbClr val="EAF7F0"/>
          </a:solidFill>
          <a:ln/>
          <a:effectLst>
            <a:outerShdw sx="100000" sy="100000" kx="0" ky="0" algn="bl" rotWithShape="0" blurRad="101600" dist="38100" dir="2700000">
              <a:srgbClr val="000000">
                <a:alpha val="14000"/>
              </a:srgbClr>
            </a:outerShdw>
          </a:effectLst>
        </p:spPr>
      </p:sp>
      <p:sp>
        <p:nvSpPr>
          <p:cNvPr id="28" name="Shape 24"/>
          <p:cNvSpPr/>
          <p:nvPr/>
        </p:nvSpPr>
        <p:spPr>
          <a:xfrm>
            <a:off x="777240" y="502920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9" name="Image 2" descr="preencoded.png">    </p:cNvPr>
          <p:cNvPicPr>
            <a:picLocks noChangeAspect="1"/>
          </p:cNvPicPr>
          <p:nvPr/>
        </p:nvPicPr>
        <p:blipFill>
          <a:blip r:embed="rId3"/>
          <a:stretch>
            <a:fillRect/>
          </a:stretch>
        </p:blipFill>
        <p:spPr>
          <a:xfrm>
            <a:off x="886968" y="5138928"/>
            <a:ext cx="237744" cy="237744"/>
          </a:xfrm>
          <a:prstGeom prst="rect">
            <a:avLst/>
          </a:prstGeom>
        </p:spPr>
      </p:pic>
      <p:sp>
        <p:nvSpPr>
          <p:cNvPr id="30" name="Text 25"/>
          <p:cNvSpPr/>
          <p:nvPr/>
        </p:nvSpPr>
        <p:spPr>
          <a:xfrm>
            <a:off x="1371600" y="4956048"/>
            <a:ext cx="4206240" cy="274320"/>
          </a:xfrm>
          <a:prstGeom prst="rect">
            <a:avLst/>
          </a:prstGeom>
          <a:noFill/>
          <a:ln/>
        </p:spPr>
        <p:txBody>
          <a:bodyPr wrap="square" lIns="0" tIns="0" rIns="0" bIns="0" rtlCol="0" anchor="ctr"/>
          <a:lstStyle/>
          <a:p>
            <a:pPr indent="0" marL="0">
              <a:buNone/>
            </a:pPr>
            <a:r>
              <a:rPr lang="en-US" sz="1200" b="1" spc="100" kern="0" dirty="0">
                <a:solidFill>
                  <a:srgbClr val="708090"/>
                </a:solidFill>
                <a:latin typeface="Calibri" pitchFamily="34" charset="0"/>
                <a:ea typeface="Calibri" pitchFamily="34" charset="-122"/>
                <a:cs typeface="Calibri" pitchFamily="34" charset="-120"/>
              </a:rPr>
              <a:t>THE REINVESTMENT CASE</a:t>
            </a:r>
            <a:endParaRPr lang="en-US" sz="1200" dirty="0"/>
          </a:p>
        </p:txBody>
      </p:sp>
      <p:sp>
        <p:nvSpPr>
          <p:cNvPr id="31" name="Text 26"/>
          <p:cNvSpPr/>
          <p:nvPr/>
        </p:nvSpPr>
        <p:spPr>
          <a:xfrm>
            <a:off x="1371600" y="5257800"/>
            <a:ext cx="2926080" cy="548640"/>
          </a:xfrm>
          <a:prstGeom prst="rect">
            <a:avLst/>
          </a:prstGeom>
          <a:noFill/>
          <a:ln/>
        </p:spPr>
        <p:txBody>
          <a:bodyPr wrap="square" lIns="0" tIns="0" rIns="0" bIns="0" rtlCol="0" anchor="ctr"/>
          <a:lstStyle/>
          <a:p>
            <a:pPr indent="0" marL="0">
              <a:buNone/>
            </a:pPr>
            <a:r>
              <a:rPr lang="en-US" sz="2600" b="1" dirty="0">
                <a:solidFill>
                  <a:srgbClr val="1E7A45"/>
                </a:solidFill>
                <a:latin typeface="Cambria" pitchFamily="34" charset="0"/>
                <a:ea typeface="Cambria" pitchFamily="34" charset="-122"/>
                <a:cs typeface="Cambria" pitchFamily="34" charset="-120"/>
              </a:rPr>
              <a:t>€1 : €10–15</a:t>
            </a:r>
            <a:endParaRPr lang="en-US" sz="2600" dirty="0"/>
          </a:p>
        </p:txBody>
      </p:sp>
      <p:sp>
        <p:nvSpPr>
          <p:cNvPr id="32" name="Text 27"/>
          <p:cNvSpPr/>
          <p:nvPr/>
        </p:nvSpPr>
        <p:spPr>
          <a:xfrm>
            <a:off x="1371600" y="5779008"/>
            <a:ext cx="3931920" cy="320040"/>
          </a:xfrm>
          <a:prstGeom prst="rect">
            <a:avLst/>
          </a:prstGeom>
          <a:noFill/>
          <a:ln/>
        </p:spPr>
        <p:txBody>
          <a:bodyPr wrap="square" lIns="0" tIns="0" rIns="0" bIns="0" rtlCol="0" anchor="ctr"/>
          <a:lstStyle/>
          <a:p>
            <a:pPr indent="0" marL="0">
              <a:buNone/>
            </a:pPr>
            <a:r>
              <a:rPr lang="en-US" sz="900" i="1" dirty="0">
                <a:solidFill>
                  <a:srgbClr val="708090"/>
                </a:solidFill>
                <a:latin typeface="Calibri" pitchFamily="34" charset="0"/>
                <a:ea typeface="Calibri" pitchFamily="34" charset="-122"/>
                <a:cs typeface="Calibri" pitchFamily="34" charset="-120"/>
              </a:rPr>
              <a:t>invested in prevention : avoided in remediation (Ponemon / IBM)</a:t>
            </a:r>
            <a:endParaRPr lang="en-US" sz="900" dirty="0"/>
          </a:p>
        </p:txBody>
      </p:sp>
      <p:sp>
        <p:nvSpPr>
          <p:cNvPr id="33" name="Text 28"/>
          <p:cNvSpPr/>
          <p:nvPr/>
        </p:nvSpPr>
        <p:spPr>
          <a:xfrm>
            <a:off x="5532120" y="5010912"/>
            <a:ext cx="5882335" cy="1051560"/>
          </a:xfrm>
          <a:prstGeom prst="rect">
            <a:avLst/>
          </a:prstGeom>
          <a:noFill/>
          <a:ln/>
        </p:spPr>
        <p:txBody>
          <a:bodyPr wrap="square" lIns="0" tIns="0" rIns="0" bIns="0" rtlCol="0" anchor="ctr"/>
          <a:lstStyle/>
          <a:p>
            <a:pPr marL="342900" indent="-342900">
              <a:lnSpc>
                <a:spcPct val="98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Zero-Trust adoption</a:t>
            </a:r>
            <a:endParaRPr lang="en-US" sz="1000" dirty="0"/>
          </a:p>
          <a:p>
            <a:pPr marL="342900" indent="-342900">
              <a:lnSpc>
                <a:spcPct val="98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Non-Human Identity governance</a:t>
            </a:r>
            <a:endParaRPr lang="en-US" sz="1000" dirty="0"/>
          </a:p>
          <a:p>
            <a:pPr marL="342900" indent="-342900">
              <a:lnSpc>
                <a:spcPct val="98000"/>
              </a:lnSpc>
              <a:spcAft>
                <a:spcPts val="400"/>
              </a:spcAft>
              <a:buSzPct val="100000"/>
              <a:buChar char="•"/>
            </a:pPr>
            <a:r>
              <a:rPr lang="en-US" sz="1000" dirty="0">
                <a:solidFill>
                  <a:srgbClr val="3A454D"/>
                </a:solidFill>
                <a:latin typeface="Calibri" pitchFamily="34" charset="0"/>
                <a:ea typeface="Calibri" pitchFamily="34" charset="-122"/>
                <a:cs typeface="Calibri" pitchFamily="34" charset="-120"/>
              </a:rPr>
              <a:t>Behavioral analytics &amp; identity threat detection</a:t>
            </a:r>
            <a:endParaRPr lang="en-US" sz="1000" dirty="0"/>
          </a:p>
          <a:p>
            <a:pPr marL="342900" indent="-342900">
              <a:lnSpc>
                <a:spcPct val="98000"/>
              </a:lnSpc>
              <a:buSzPct val="100000"/>
              <a:buChar char="•"/>
            </a:pPr>
            <a:r>
              <a:rPr lang="en-US" sz="1000" dirty="0">
                <a:solidFill>
                  <a:srgbClr val="3A454D"/>
                </a:solidFill>
                <a:latin typeface="Calibri" pitchFamily="34" charset="0"/>
                <a:ea typeface="Calibri" pitchFamily="34" charset="-122"/>
                <a:cs typeface="Calibri" pitchFamily="34" charset="-120"/>
              </a:rPr>
              <a:t>Edge visibility &amp; supply-chain hardening</a:t>
            </a:r>
            <a:endParaRPr lang="en-US" sz="1000" dirty="0"/>
          </a:p>
        </p:txBody>
      </p:sp>
      <p:sp>
        <p:nvSpPr>
          <p:cNvPr id="34"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35" name="Text 30"/>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566928"/>
          </a:xfrm>
          <a:prstGeom prst="rect">
            <a:avLst/>
          </a:prstGeom>
          <a:noFill/>
          <a:ln/>
        </p:spPr>
        <p:txBody>
          <a:bodyPr wrap="square" lIns="0" tIns="0" rIns="0" bIns="0" rtlCol="0" anchor="ctr"/>
          <a:lstStyle/>
          <a:p>
            <a:pPr indent="0" marL="0">
              <a:buNone/>
            </a:pPr>
            <a:r>
              <a:rPr lang="en-US" sz="3000" b="1" dirty="0">
                <a:solidFill>
                  <a:srgbClr val="1E7A45"/>
                </a:solidFill>
                <a:latin typeface="Cambria" pitchFamily="34" charset="0"/>
                <a:ea typeface="Cambria" pitchFamily="34" charset="-122"/>
                <a:cs typeface="Cambria" pitchFamily="34" charset="-120"/>
              </a:rPr>
              <a:t>Prospective Vision</a:t>
            </a:r>
            <a:endParaRPr lang="en-US" sz="3000" dirty="0"/>
          </a:p>
        </p:txBody>
      </p:sp>
      <p:sp>
        <p:nvSpPr>
          <p:cNvPr id="3" name="Text 1"/>
          <p:cNvSpPr/>
          <p:nvPr/>
        </p:nvSpPr>
        <p:spPr>
          <a:xfrm>
            <a:off x="502920" y="950976"/>
            <a:ext cx="11185855" cy="365760"/>
          </a:xfrm>
          <a:prstGeom prst="rect">
            <a:avLst/>
          </a:prstGeom>
          <a:noFill/>
          <a:ln/>
        </p:spPr>
        <p:txBody>
          <a:bodyPr wrap="square" lIns="0" tIns="0" rIns="0" bIns="0" rtlCol="0" anchor="ctr"/>
          <a:lstStyle/>
          <a:p>
            <a:pPr indent="0" marL="0">
              <a:buNone/>
            </a:pPr>
            <a:r>
              <a:rPr lang="en-US" sz="1500" i="1" dirty="0">
                <a:solidFill>
                  <a:srgbClr val="3A454D"/>
                </a:solidFill>
                <a:latin typeface="Calibri" pitchFamily="34" charset="0"/>
                <a:ea typeface="Calibri" pitchFamily="34" charset="-122"/>
                <a:cs typeface="Calibri" pitchFamily="34" charset="-120"/>
              </a:rPr>
              <a:t>The Escalation of Offensive AI — what's coming in the next 12–18 months</a:t>
            </a:r>
            <a:endParaRPr lang="en-US" sz="1500" dirty="0"/>
          </a:p>
        </p:txBody>
      </p:sp>
      <p:sp>
        <p:nvSpPr>
          <p:cNvPr id="4" name="Shape 2"/>
          <p:cNvSpPr/>
          <p:nvPr/>
        </p:nvSpPr>
        <p:spPr>
          <a:xfrm>
            <a:off x="502920" y="1417320"/>
            <a:ext cx="11185855" cy="502920"/>
          </a:xfrm>
          <a:prstGeom prst="roundRect">
            <a:avLst>
              <a:gd name="adj" fmla="val 10909"/>
            </a:avLst>
          </a:prstGeom>
          <a:solidFill>
            <a:srgbClr val="EAF7F0"/>
          </a:solidFill>
          <a:ln/>
          <a:effectLst>
            <a:outerShdw sx="100000" sy="100000" kx="0" ky="0" algn="bl" rotWithShape="0" blurRad="101600" dist="38100" dir="2700000">
              <a:srgbClr val="000000">
                <a:alpha val="14000"/>
              </a:srgbClr>
            </a:outerShdw>
          </a:effectLst>
        </p:spPr>
      </p:sp>
      <p:sp>
        <p:nvSpPr>
          <p:cNvPr id="5" name="Text 3"/>
          <p:cNvSpPr/>
          <p:nvPr/>
        </p:nvSpPr>
        <p:spPr>
          <a:xfrm>
            <a:off x="777240" y="1417320"/>
            <a:ext cx="10637215" cy="502920"/>
          </a:xfrm>
          <a:prstGeom prst="rect">
            <a:avLst/>
          </a:prstGeom>
          <a:noFill/>
          <a:ln/>
        </p:spPr>
        <p:txBody>
          <a:bodyPr wrap="square" lIns="0" tIns="0" rIns="0" bIns="0" rtlCol="0" anchor="ctr"/>
          <a:lstStyle/>
          <a:p>
            <a:pPr indent="0" marL="0">
              <a:buNone/>
            </a:pPr>
            <a:r>
              <a:rPr lang="en-US" sz="1250" b="1" i="1" dirty="0">
                <a:solidFill>
                  <a:srgbClr val="1E7A45"/>
                </a:solidFill>
                <a:latin typeface="Cambria" pitchFamily="34" charset="0"/>
                <a:ea typeface="Cambria" pitchFamily="34" charset="-122"/>
                <a:cs typeface="Cambria" pitchFamily="34" charset="-120"/>
              </a:rPr>
              <a:t>AI now equips threat actors with unprecedented capabilities for adaptation and massive automation.</a:t>
            </a:r>
            <a:endParaRPr lang="en-US" sz="1250" dirty="0"/>
          </a:p>
        </p:txBody>
      </p:sp>
      <p:sp>
        <p:nvSpPr>
          <p:cNvPr id="6" name="Shape 4"/>
          <p:cNvSpPr/>
          <p:nvPr/>
        </p:nvSpPr>
        <p:spPr>
          <a:xfrm>
            <a:off x="502920" y="2148840"/>
            <a:ext cx="3484778" cy="356616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7" name="Shape 5"/>
          <p:cNvSpPr/>
          <p:nvPr/>
        </p:nvSpPr>
        <p:spPr>
          <a:xfrm>
            <a:off x="758952" y="237744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8" name="Image 0" descr="preencoded.png">    </p:cNvPr>
          <p:cNvPicPr>
            <a:picLocks noChangeAspect="1"/>
          </p:cNvPicPr>
          <p:nvPr/>
        </p:nvPicPr>
        <p:blipFill>
          <a:blip r:embed="rId1"/>
          <a:stretch>
            <a:fillRect/>
          </a:stretch>
        </p:blipFill>
        <p:spPr>
          <a:xfrm>
            <a:off x="868680" y="2487168"/>
            <a:ext cx="237744" cy="237744"/>
          </a:xfrm>
          <a:prstGeom prst="rect">
            <a:avLst/>
          </a:prstGeom>
        </p:spPr>
      </p:pic>
      <p:sp>
        <p:nvSpPr>
          <p:cNvPr id="9" name="Text 6"/>
          <p:cNvSpPr/>
          <p:nvPr/>
        </p:nvSpPr>
        <p:spPr>
          <a:xfrm>
            <a:off x="758952" y="2935224"/>
            <a:ext cx="2972714" cy="502920"/>
          </a:xfrm>
          <a:prstGeom prst="rect">
            <a:avLst/>
          </a:prstGeom>
          <a:noFill/>
          <a:ln/>
        </p:spPr>
        <p:txBody>
          <a:bodyPr wrap="square" lIns="0" tIns="0" rIns="0" bIns="0" rtlCol="0" anchor="ctr"/>
          <a:lstStyle/>
          <a:p>
            <a:pPr indent="0" marL="0">
              <a:buNone/>
            </a:pPr>
            <a:r>
              <a:rPr lang="en-US" sz="1350" b="1" dirty="0">
                <a:solidFill>
                  <a:srgbClr val="1E7A45"/>
                </a:solidFill>
                <a:latin typeface="Cambria" pitchFamily="34" charset="0"/>
                <a:ea typeface="Cambria" pitchFamily="34" charset="-122"/>
                <a:cs typeface="Cambria" pitchFamily="34" charset="-120"/>
              </a:rPr>
              <a:t>Automated Spear-Phishing at Scale</a:t>
            </a:r>
            <a:endParaRPr lang="en-US" sz="1350" dirty="0"/>
          </a:p>
        </p:txBody>
      </p:sp>
      <p:sp>
        <p:nvSpPr>
          <p:cNvPr id="10" name="Text 7"/>
          <p:cNvSpPr/>
          <p:nvPr/>
        </p:nvSpPr>
        <p:spPr>
          <a:xfrm>
            <a:off x="758952" y="3392424"/>
            <a:ext cx="2972714" cy="274320"/>
          </a:xfrm>
          <a:prstGeom prst="rect">
            <a:avLst/>
          </a:prstGeom>
          <a:noFill/>
          <a:ln/>
        </p:spPr>
        <p:txBody>
          <a:bodyPr wrap="square" lIns="0" tIns="0" rIns="0" bIns="0" rtlCol="0" anchor="ctr"/>
          <a:lstStyle/>
          <a:p>
            <a:pPr indent="0" marL="0">
              <a:buNone/>
            </a:pPr>
            <a:r>
              <a:rPr lang="en-US" sz="1050" i="1" dirty="0">
                <a:solidFill>
                  <a:srgbClr val="3A454D"/>
                </a:solidFill>
                <a:latin typeface="Calibri" pitchFamily="34" charset="0"/>
                <a:ea typeface="Calibri" pitchFamily="34" charset="-122"/>
                <a:cs typeface="Calibri" pitchFamily="34" charset="-120"/>
              </a:rPr>
              <a:t>“The end of ‘spot the phishing email.’”</a:t>
            </a:r>
            <a:endParaRPr lang="en-US" sz="1050" dirty="0"/>
          </a:p>
        </p:txBody>
      </p:sp>
      <p:sp>
        <p:nvSpPr>
          <p:cNvPr id="11" name="Text 8"/>
          <p:cNvSpPr/>
          <p:nvPr/>
        </p:nvSpPr>
        <p:spPr>
          <a:xfrm>
            <a:off x="758952" y="3721608"/>
            <a:ext cx="2972714" cy="100584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Thousands of unique, flawless, tailored campaigns per adversary per day.</a:t>
            </a:r>
            <a:endParaRPr lang="en-US" sz="1000" dirty="0"/>
          </a:p>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Cost per attack collapses from ~€50 (human effort) to effectively €0.</a:t>
            </a:r>
            <a:endParaRPr lang="en-US" sz="1000" dirty="0"/>
          </a:p>
        </p:txBody>
      </p:sp>
      <p:sp>
        <p:nvSpPr>
          <p:cNvPr id="12" name="Text 9"/>
          <p:cNvSpPr/>
          <p:nvPr/>
        </p:nvSpPr>
        <p:spPr>
          <a:xfrm>
            <a:off x="758952" y="4937760"/>
            <a:ext cx="2972714" cy="685800"/>
          </a:xfrm>
          <a:prstGeom prst="rect">
            <a:avLst/>
          </a:prstGeom>
          <a:noFill/>
          <a:ln/>
        </p:spPr>
        <p:txBody>
          <a:bodyPr wrap="square" lIns="0" tIns="0" rIns="0" bIns="0" rtlCol="0" anchor="t"/>
          <a:lstStyle/>
          <a:p>
            <a:pPr indent="0" marL="0">
              <a:buNone/>
            </a:pPr>
            <a:r>
              <a:rPr lang="en-US" sz="1000" b="1" i="1" dirty="0">
                <a:solidFill>
                  <a:srgbClr val="1E7A45"/>
                </a:solidFill>
                <a:latin typeface="Calibri" pitchFamily="34" charset="0"/>
                <a:ea typeface="Calibri" pitchFamily="34" charset="-122"/>
                <a:cs typeface="Calibri" pitchFamily="34" charset="-120"/>
              </a:rPr>
              <a:t>Awareness training becomes structurally obsolete; technical controls must assume every email is convincing.</a:t>
            </a:r>
            <a:endParaRPr lang="en-US" sz="1000" dirty="0"/>
          </a:p>
        </p:txBody>
      </p:sp>
      <p:sp>
        <p:nvSpPr>
          <p:cNvPr id="13" name="Shape 10"/>
          <p:cNvSpPr/>
          <p:nvPr/>
        </p:nvSpPr>
        <p:spPr>
          <a:xfrm>
            <a:off x="4353458" y="2148840"/>
            <a:ext cx="3484778" cy="356616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14" name="Shape 11"/>
          <p:cNvSpPr/>
          <p:nvPr/>
        </p:nvSpPr>
        <p:spPr>
          <a:xfrm>
            <a:off x="4609490" y="237744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5" name="Image 1" descr="preencoded.png">    </p:cNvPr>
          <p:cNvPicPr>
            <a:picLocks noChangeAspect="1"/>
          </p:cNvPicPr>
          <p:nvPr/>
        </p:nvPicPr>
        <p:blipFill>
          <a:blip r:embed="rId2"/>
          <a:stretch>
            <a:fillRect/>
          </a:stretch>
        </p:blipFill>
        <p:spPr>
          <a:xfrm>
            <a:off x="4719218" y="2487168"/>
            <a:ext cx="237744" cy="237744"/>
          </a:xfrm>
          <a:prstGeom prst="rect">
            <a:avLst/>
          </a:prstGeom>
        </p:spPr>
      </p:pic>
      <p:sp>
        <p:nvSpPr>
          <p:cNvPr id="16" name="Text 12"/>
          <p:cNvSpPr/>
          <p:nvPr/>
        </p:nvSpPr>
        <p:spPr>
          <a:xfrm>
            <a:off x="4609490" y="2935224"/>
            <a:ext cx="2972714" cy="502920"/>
          </a:xfrm>
          <a:prstGeom prst="rect">
            <a:avLst/>
          </a:prstGeom>
          <a:noFill/>
          <a:ln/>
        </p:spPr>
        <p:txBody>
          <a:bodyPr wrap="square" lIns="0" tIns="0" rIns="0" bIns="0" rtlCol="0" anchor="ctr"/>
          <a:lstStyle/>
          <a:p>
            <a:pPr indent="0" marL="0">
              <a:buNone/>
            </a:pPr>
            <a:r>
              <a:rPr lang="en-US" sz="1350" b="1" dirty="0">
                <a:solidFill>
                  <a:srgbClr val="1E7A45"/>
                </a:solidFill>
                <a:latin typeface="Cambria" pitchFamily="34" charset="0"/>
                <a:ea typeface="Cambria" pitchFamily="34" charset="-122"/>
                <a:cs typeface="Cambria" pitchFamily="34" charset="-120"/>
              </a:rPr>
              <a:t>Autonomous Malware Agents</a:t>
            </a:r>
            <a:endParaRPr lang="en-US" sz="1350" dirty="0"/>
          </a:p>
        </p:txBody>
      </p:sp>
      <p:sp>
        <p:nvSpPr>
          <p:cNvPr id="17" name="Text 13"/>
          <p:cNvSpPr/>
          <p:nvPr/>
        </p:nvSpPr>
        <p:spPr>
          <a:xfrm>
            <a:off x="4609490" y="3392424"/>
            <a:ext cx="2972714" cy="274320"/>
          </a:xfrm>
          <a:prstGeom prst="rect">
            <a:avLst/>
          </a:prstGeom>
          <a:noFill/>
          <a:ln/>
        </p:spPr>
        <p:txBody>
          <a:bodyPr wrap="square" lIns="0" tIns="0" rIns="0" bIns="0" rtlCol="0" anchor="ctr"/>
          <a:lstStyle/>
          <a:p>
            <a:pPr indent="0" marL="0">
              <a:buNone/>
            </a:pPr>
            <a:r>
              <a:rPr lang="en-US" sz="1050" i="1" dirty="0">
                <a:solidFill>
                  <a:srgbClr val="3A454D"/>
                </a:solidFill>
                <a:latin typeface="Calibri" pitchFamily="34" charset="0"/>
                <a:ea typeface="Calibri" pitchFamily="34" charset="-122"/>
                <a:cs typeface="Calibri" pitchFamily="34" charset="-120"/>
              </a:rPr>
              <a:t>“Malware that thinks.”</a:t>
            </a:r>
            <a:endParaRPr lang="en-US" sz="1050" dirty="0"/>
          </a:p>
        </p:txBody>
      </p:sp>
      <p:sp>
        <p:nvSpPr>
          <p:cNvPr id="18" name="Text 14"/>
          <p:cNvSpPr/>
          <p:nvPr/>
        </p:nvSpPr>
        <p:spPr>
          <a:xfrm>
            <a:off x="4609490" y="3721608"/>
            <a:ext cx="2972714" cy="100584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AI decision loops adapt tactics in real time to evade defenses.</a:t>
            </a:r>
            <a:endParaRPr lang="en-US" sz="1000" dirty="0"/>
          </a:p>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No two infections behave identically — signature defense loses more ground.</a:t>
            </a:r>
            <a:endParaRPr lang="en-US" sz="1000" dirty="0"/>
          </a:p>
        </p:txBody>
      </p:sp>
      <p:sp>
        <p:nvSpPr>
          <p:cNvPr id="19" name="Text 15"/>
          <p:cNvSpPr/>
          <p:nvPr/>
        </p:nvSpPr>
        <p:spPr>
          <a:xfrm>
            <a:off x="4609490" y="4937760"/>
            <a:ext cx="2972714" cy="685800"/>
          </a:xfrm>
          <a:prstGeom prst="rect">
            <a:avLst/>
          </a:prstGeom>
          <a:noFill/>
          <a:ln/>
        </p:spPr>
        <p:txBody>
          <a:bodyPr wrap="square" lIns="0" tIns="0" rIns="0" bIns="0" rtlCol="0" anchor="t"/>
          <a:lstStyle/>
          <a:p>
            <a:pPr indent="0" marL="0">
              <a:buNone/>
            </a:pPr>
            <a:r>
              <a:rPr lang="en-US" sz="1000" b="1" i="1" dirty="0">
                <a:solidFill>
                  <a:srgbClr val="1E7A45"/>
                </a:solidFill>
                <a:latin typeface="Calibri" pitchFamily="34" charset="0"/>
                <a:ea typeface="Calibri" pitchFamily="34" charset="-122"/>
                <a:cs typeface="Calibri" pitchFamily="34" charset="-120"/>
              </a:rPr>
              <a:t>Detection and response cycles compress from hours to minutes.</a:t>
            </a:r>
            <a:endParaRPr lang="en-US" sz="1000" dirty="0"/>
          </a:p>
        </p:txBody>
      </p:sp>
      <p:sp>
        <p:nvSpPr>
          <p:cNvPr id="20" name="Shape 16"/>
          <p:cNvSpPr/>
          <p:nvPr/>
        </p:nvSpPr>
        <p:spPr>
          <a:xfrm>
            <a:off x="8203997" y="2148840"/>
            <a:ext cx="3484778" cy="3566160"/>
          </a:xfrm>
          <a:prstGeom prst="roundRect">
            <a:avLst>
              <a:gd name="adj" fmla="val 1574"/>
            </a:avLst>
          </a:prstGeom>
          <a:solidFill>
            <a:srgbClr val="EAF7F0"/>
          </a:solidFill>
          <a:ln/>
          <a:effectLst>
            <a:outerShdw sx="100000" sy="100000" kx="0" ky="0" algn="bl" rotWithShape="0" blurRad="101600" dist="38100" dir="2700000">
              <a:srgbClr val="000000">
                <a:alpha val="14000"/>
              </a:srgbClr>
            </a:outerShdw>
          </a:effectLst>
        </p:spPr>
      </p:sp>
      <p:sp>
        <p:nvSpPr>
          <p:cNvPr id="21" name="Shape 17"/>
          <p:cNvSpPr/>
          <p:nvPr/>
        </p:nvSpPr>
        <p:spPr>
          <a:xfrm>
            <a:off x="8460029" y="237744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2" name="Image 2" descr="preencoded.png">    </p:cNvPr>
          <p:cNvPicPr>
            <a:picLocks noChangeAspect="1"/>
          </p:cNvPicPr>
          <p:nvPr/>
        </p:nvPicPr>
        <p:blipFill>
          <a:blip r:embed="rId3"/>
          <a:stretch>
            <a:fillRect/>
          </a:stretch>
        </p:blipFill>
        <p:spPr>
          <a:xfrm>
            <a:off x="8569757" y="2487168"/>
            <a:ext cx="237744" cy="237744"/>
          </a:xfrm>
          <a:prstGeom prst="rect">
            <a:avLst/>
          </a:prstGeom>
        </p:spPr>
      </p:pic>
      <p:sp>
        <p:nvSpPr>
          <p:cNvPr id="23" name="Text 18"/>
          <p:cNvSpPr/>
          <p:nvPr/>
        </p:nvSpPr>
        <p:spPr>
          <a:xfrm>
            <a:off x="8460029" y="2935224"/>
            <a:ext cx="2972714" cy="502920"/>
          </a:xfrm>
          <a:prstGeom prst="rect">
            <a:avLst/>
          </a:prstGeom>
          <a:noFill/>
          <a:ln/>
        </p:spPr>
        <p:txBody>
          <a:bodyPr wrap="square" lIns="0" tIns="0" rIns="0" bIns="0" rtlCol="0" anchor="ctr"/>
          <a:lstStyle/>
          <a:p>
            <a:pPr indent="0" marL="0">
              <a:buNone/>
            </a:pPr>
            <a:r>
              <a:rPr lang="en-US" sz="1350" b="1" dirty="0">
                <a:solidFill>
                  <a:srgbClr val="1E7A45"/>
                </a:solidFill>
                <a:latin typeface="Cambria" pitchFamily="34" charset="0"/>
                <a:ea typeface="Cambria" pitchFamily="34" charset="-122"/>
                <a:cs typeface="Cambria" pitchFamily="34" charset="-120"/>
              </a:rPr>
              <a:t>Deepfakes &amp; Executive Fraud</a:t>
            </a:r>
            <a:endParaRPr lang="en-US" sz="1350" dirty="0"/>
          </a:p>
        </p:txBody>
      </p:sp>
      <p:sp>
        <p:nvSpPr>
          <p:cNvPr id="24" name="Text 19"/>
          <p:cNvSpPr/>
          <p:nvPr/>
        </p:nvSpPr>
        <p:spPr>
          <a:xfrm>
            <a:off x="8460029" y="3392424"/>
            <a:ext cx="2972714" cy="274320"/>
          </a:xfrm>
          <a:prstGeom prst="rect">
            <a:avLst/>
          </a:prstGeom>
          <a:noFill/>
          <a:ln/>
        </p:spPr>
        <p:txBody>
          <a:bodyPr wrap="square" lIns="0" tIns="0" rIns="0" bIns="0" rtlCol="0" anchor="ctr"/>
          <a:lstStyle/>
          <a:p>
            <a:pPr indent="0" marL="0">
              <a:buNone/>
            </a:pPr>
            <a:r>
              <a:rPr lang="en-US" sz="1050" i="1" dirty="0">
                <a:solidFill>
                  <a:srgbClr val="3A454D"/>
                </a:solidFill>
                <a:latin typeface="Calibri" pitchFamily="34" charset="0"/>
                <a:ea typeface="Calibri" pitchFamily="34" charset="-122"/>
                <a:cs typeface="Calibri" pitchFamily="34" charset="-120"/>
              </a:rPr>
              <a:t>“When the CEO on the call isn't the CEO.”</a:t>
            </a:r>
            <a:endParaRPr lang="en-US" sz="1050" dirty="0"/>
          </a:p>
        </p:txBody>
      </p:sp>
      <p:sp>
        <p:nvSpPr>
          <p:cNvPr id="25" name="Text 20"/>
          <p:cNvSpPr/>
          <p:nvPr/>
        </p:nvSpPr>
        <p:spPr>
          <a:xfrm>
            <a:off x="8460029" y="3721608"/>
            <a:ext cx="2972714" cy="100584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Real-time voice/video cloning of executives to authorize fraud.</a:t>
            </a:r>
            <a:endParaRPr lang="en-US" sz="1000" dirty="0"/>
          </a:p>
          <a:p>
            <a:pPr marL="342900" indent="-342900">
              <a:lnSpc>
                <a:spcPct val="100000"/>
              </a:lnSpc>
              <a:spcAft>
                <a:spcPts val="600"/>
              </a:spcAft>
              <a:buSzPct val="100000"/>
              <a:buChar char="•"/>
            </a:pPr>
            <a:r>
              <a:rPr lang="en-US" sz="1000" dirty="0">
                <a:solidFill>
                  <a:srgbClr val="3A454D"/>
                </a:solidFill>
                <a:latin typeface="Calibri" pitchFamily="34" charset="0"/>
                <a:ea typeface="Calibri" pitchFamily="34" charset="-122"/>
                <a:cs typeface="Calibri" pitchFamily="34" charset="-120"/>
              </a:rPr>
              <a:t>Voice-only variants already caused multi-million-euro losses at peer firms.</a:t>
            </a:r>
            <a:endParaRPr lang="en-US" sz="1000" dirty="0"/>
          </a:p>
        </p:txBody>
      </p:sp>
      <p:sp>
        <p:nvSpPr>
          <p:cNvPr id="26" name="Text 21"/>
          <p:cNvSpPr/>
          <p:nvPr/>
        </p:nvSpPr>
        <p:spPr>
          <a:xfrm>
            <a:off x="8460029" y="4937760"/>
            <a:ext cx="2972714" cy="685800"/>
          </a:xfrm>
          <a:prstGeom prst="rect">
            <a:avLst/>
          </a:prstGeom>
          <a:noFill/>
          <a:ln/>
        </p:spPr>
        <p:txBody>
          <a:bodyPr wrap="square" lIns="0" tIns="0" rIns="0" bIns="0" rtlCol="0" anchor="t"/>
          <a:lstStyle/>
          <a:p>
            <a:pPr indent="0" marL="0">
              <a:buNone/>
            </a:pPr>
            <a:r>
              <a:rPr lang="en-US" sz="1000" b="1" i="1" dirty="0">
                <a:solidFill>
                  <a:srgbClr val="1E7A45"/>
                </a:solidFill>
                <a:latin typeface="Calibri" pitchFamily="34" charset="0"/>
                <a:ea typeface="Calibri" pitchFamily="34" charset="-122"/>
                <a:cs typeface="Calibri" pitchFamily="34" charset="-120"/>
              </a:rPr>
              <a:t>The identity of the sender is no longer a control.</a:t>
            </a:r>
            <a:endParaRPr lang="en-US" sz="1000" dirty="0"/>
          </a:p>
        </p:txBody>
      </p:sp>
      <p:sp>
        <p:nvSpPr>
          <p:cNvPr id="27" name="Shape 22"/>
          <p:cNvSpPr/>
          <p:nvPr/>
        </p:nvSpPr>
        <p:spPr>
          <a:xfrm>
            <a:off x="502920" y="5943600"/>
            <a:ext cx="11185855" cy="566928"/>
          </a:xfrm>
          <a:prstGeom prst="roundRect">
            <a:avLst>
              <a:gd name="adj" fmla="val 9677"/>
            </a:avLst>
          </a:prstGeom>
          <a:solidFill>
            <a:srgbClr val="EAF7F0"/>
          </a:solidFill>
          <a:ln/>
          <a:effectLst>
            <a:outerShdw sx="100000" sy="100000" kx="0" ky="0" algn="bl" rotWithShape="0" blurRad="101600" dist="38100" dir="2700000">
              <a:srgbClr val="000000">
                <a:alpha val="14000"/>
              </a:srgbClr>
            </a:outerShdw>
          </a:effectLst>
        </p:spPr>
      </p:sp>
      <p:sp>
        <p:nvSpPr>
          <p:cNvPr id="28" name="Text 23"/>
          <p:cNvSpPr/>
          <p:nvPr/>
        </p:nvSpPr>
        <p:spPr>
          <a:xfrm>
            <a:off x="731520" y="5943600"/>
            <a:ext cx="10728655" cy="566928"/>
          </a:xfrm>
          <a:prstGeom prst="rect">
            <a:avLst/>
          </a:prstGeom>
          <a:noFill/>
          <a:ln/>
        </p:spPr>
        <p:txBody>
          <a:bodyPr wrap="square" lIns="0" tIns="0" rIns="0" bIns="0" rtlCol="0" anchor="ctr"/>
          <a:lstStyle/>
          <a:p>
            <a:pPr algn="ctr" indent="0" marL="0">
              <a:buNone/>
            </a:pPr>
            <a:r>
              <a:rPr lang="en-US" sz="1350" b="1" i="1" dirty="0">
                <a:solidFill>
                  <a:srgbClr val="1E7A45"/>
                </a:solidFill>
                <a:latin typeface="Cambria" pitchFamily="34" charset="0"/>
                <a:ea typeface="Cambria" pitchFamily="34" charset="-122"/>
                <a:cs typeface="Cambria" pitchFamily="34" charset="-120"/>
              </a:rPr>
              <a:t>AI does not create new categories of attack. It removes the human bottleneck — collapsing cost, scale, and detection windows.</a:t>
            </a:r>
            <a:endParaRPr lang="en-US" sz="1350" dirty="0"/>
          </a:p>
        </p:txBody>
      </p:sp>
      <p:sp>
        <p:nvSpPr>
          <p:cNvPr id="29" name="Text 2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spc="100" kern="0" dirty="0">
                <a:solidFill>
                  <a:srgbClr val="708090"/>
                </a:solidFill>
                <a:latin typeface="Calibri" pitchFamily="34" charset="0"/>
                <a:ea typeface="Calibri" pitchFamily="34" charset="-122"/>
                <a:cs typeface="Calibri" pitchFamily="34" charset="-120"/>
              </a:rPr>
              <a:t>CYBER THREAT INTELLIGENCE  |  EXCO BRIEFING</a:t>
            </a:r>
            <a:endParaRPr lang="en-US" sz="900" dirty="0"/>
          </a:p>
        </p:txBody>
      </p:sp>
      <p:sp>
        <p:nvSpPr>
          <p:cNvPr id="30" name="Text 25"/>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708090"/>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1C"/>
        </a:solidFill>
      </p:bgPr>
    </p:bg>
    <p:spTree>
      <p:nvGrpSpPr>
        <p:cNvPr id="1" name=""/>
        <p:cNvGrpSpPr/>
        <p:nvPr/>
      </p:nvGrpSpPr>
      <p:grpSpPr>
        <a:xfrm>
          <a:off x="0" y="0"/>
          <a:ext cx="0" cy="0"/>
          <a:chOff x="0" y="0"/>
          <a:chExt cx="0" cy="0"/>
        </a:xfrm>
      </p:grpSpPr>
      <p:sp>
        <p:nvSpPr>
          <p:cNvPr id="2" name="Text 0"/>
          <p:cNvSpPr/>
          <p:nvPr/>
        </p:nvSpPr>
        <p:spPr>
          <a:xfrm>
            <a:off x="502920" y="457200"/>
            <a:ext cx="11185855"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Cyber Resilience First</a:t>
            </a:r>
            <a:endParaRPr lang="en-US" sz="3200" dirty="0"/>
          </a:p>
        </p:txBody>
      </p:sp>
      <p:sp>
        <p:nvSpPr>
          <p:cNvPr id="3" name="Text 1"/>
          <p:cNvSpPr/>
          <p:nvPr/>
        </p:nvSpPr>
        <p:spPr>
          <a:xfrm>
            <a:off x="502920" y="1024128"/>
            <a:ext cx="11185855" cy="365760"/>
          </a:xfrm>
          <a:prstGeom prst="rect">
            <a:avLst/>
          </a:prstGeom>
          <a:noFill/>
          <a:ln/>
        </p:spPr>
        <p:txBody>
          <a:bodyPr wrap="square" lIns="0" tIns="0" rIns="0" bIns="0" rtlCol="0" anchor="ctr"/>
          <a:lstStyle/>
          <a:p>
            <a:pPr indent="0" marL="0">
              <a:buNone/>
            </a:pPr>
            <a:r>
              <a:rPr lang="en-US" sz="1500" i="1" dirty="0">
                <a:solidFill>
                  <a:srgbClr val="A9C9B6"/>
                </a:solidFill>
                <a:latin typeface="Calibri" pitchFamily="34" charset="0"/>
                <a:ea typeface="Calibri" pitchFamily="34" charset="-122"/>
                <a:cs typeface="Calibri" pitchFamily="34" charset="-120"/>
              </a:rPr>
              <a:t>The 2026 priority — from prevention to survivability</a:t>
            </a:r>
            <a:endParaRPr lang="en-US" sz="1500" dirty="0"/>
          </a:p>
        </p:txBody>
      </p:sp>
      <p:sp>
        <p:nvSpPr>
          <p:cNvPr id="4" name="Text 2"/>
          <p:cNvSpPr/>
          <p:nvPr/>
        </p:nvSpPr>
        <p:spPr>
          <a:xfrm>
            <a:off x="502920" y="1481328"/>
            <a:ext cx="11185855" cy="658368"/>
          </a:xfrm>
          <a:prstGeom prst="rect">
            <a:avLst/>
          </a:prstGeom>
          <a:noFill/>
          <a:ln/>
        </p:spPr>
        <p:txBody>
          <a:bodyPr wrap="square" lIns="0" tIns="0" rIns="0" bIns="0" rtlCol="0" anchor="ctr"/>
          <a:lstStyle/>
          <a:p>
            <a:pPr indent="0" marL="0">
              <a:buNone/>
            </a:pPr>
            <a:r>
              <a:rPr lang="en-US" sz="1250" b="1" i="1" dirty="0">
                <a:solidFill>
                  <a:srgbClr val="50C878"/>
                </a:solidFill>
                <a:latin typeface="Calibri" pitchFamily="34" charset="0"/>
                <a:ea typeface="Calibri" pitchFamily="34" charset="-122"/>
                <a:cs typeface="Calibri" pitchFamily="34" charset="-120"/>
              </a:rPr>
              <a:t>Pure prevention is no longer sufficient against a nation-state threat with unlimited time and resources. The 2026 priority is the operational capability to maintain degraded business functions during a critical breach.</a:t>
            </a:r>
            <a:endParaRPr lang="en-US" sz="1250" dirty="0"/>
          </a:p>
        </p:txBody>
      </p:sp>
      <p:sp>
        <p:nvSpPr>
          <p:cNvPr id="5" name="Shape 3"/>
          <p:cNvSpPr/>
          <p:nvPr/>
        </p:nvSpPr>
        <p:spPr>
          <a:xfrm>
            <a:off x="502920" y="2331720"/>
            <a:ext cx="3484778" cy="2651760"/>
          </a:xfrm>
          <a:prstGeom prst="roundRect">
            <a:avLst>
              <a:gd name="adj" fmla="val 2069"/>
            </a:avLst>
          </a:prstGeom>
          <a:solidFill>
            <a:srgbClr val="1B3A28"/>
          </a:solidFill>
          <a:ln/>
        </p:spPr>
      </p:sp>
      <p:sp>
        <p:nvSpPr>
          <p:cNvPr id="6" name="Shape 4"/>
          <p:cNvSpPr/>
          <p:nvPr/>
        </p:nvSpPr>
        <p:spPr>
          <a:xfrm>
            <a:off x="731520" y="256032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7" name="Image 0" descr="preencoded.png">    </p:cNvPr>
          <p:cNvPicPr>
            <a:picLocks noChangeAspect="1"/>
          </p:cNvPicPr>
          <p:nvPr/>
        </p:nvPicPr>
        <p:blipFill>
          <a:blip r:embed="rId1"/>
          <a:stretch>
            <a:fillRect/>
          </a:stretch>
        </p:blipFill>
        <p:spPr>
          <a:xfrm>
            <a:off x="841248" y="2670048"/>
            <a:ext cx="237744" cy="237744"/>
          </a:xfrm>
          <a:prstGeom prst="rect">
            <a:avLst/>
          </a:prstGeom>
        </p:spPr>
      </p:pic>
      <p:sp>
        <p:nvSpPr>
          <p:cNvPr id="8" name="Text 5"/>
          <p:cNvSpPr/>
          <p:nvPr/>
        </p:nvSpPr>
        <p:spPr>
          <a:xfrm>
            <a:off x="731520" y="3108960"/>
            <a:ext cx="3027578"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Radical Zero-Trust Adoption</a:t>
            </a:r>
            <a:endParaRPr lang="en-US" sz="1300" dirty="0"/>
          </a:p>
        </p:txBody>
      </p:sp>
      <p:sp>
        <p:nvSpPr>
          <p:cNvPr id="9" name="Text 6"/>
          <p:cNvSpPr/>
          <p:nvPr/>
        </p:nvSpPr>
        <p:spPr>
          <a:xfrm>
            <a:off x="731520" y="3520440"/>
            <a:ext cx="3027578" cy="320040"/>
          </a:xfrm>
          <a:prstGeom prst="rect">
            <a:avLst/>
          </a:prstGeom>
          <a:noFill/>
          <a:ln/>
        </p:spPr>
        <p:txBody>
          <a:bodyPr wrap="square" lIns="0" tIns="0" rIns="0" bIns="0" rtlCol="0" anchor="ctr"/>
          <a:lstStyle/>
          <a:p>
            <a:pPr indent="0" marL="0">
              <a:buNone/>
            </a:pPr>
            <a:r>
              <a:rPr lang="en-US" sz="950" i="1" dirty="0">
                <a:solidFill>
                  <a:srgbClr val="A9C9B6"/>
                </a:solidFill>
                <a:latin typeface="Calibri" pitchFamily="34" charset="0"/>
                <a:ea typeface="Calibri" pitchFamily="34" charset="-122"/>
                <a:cs typeface="Calibri" pitchFamily="34" charset="-120"/>
              </a:rPr>
              <a:t>Rebuild trust boundaries — human and machine</a:t>
            </a:r>
            <a:endParaRPr lang="en-US" sz="950" dirty="0"/>
          </a:p>
        </p:txBody>
      </p:sp>
      <p:sp>
        <p:nvSpPr>
          <p:cNvPr id="10" name="Text 7"/>
          <p:cNvSpPr/>
          <p:nvPr/>
        </p:nvSpPr>
        <p:spPr>
          <a:xfrm>
            <a:off x="731520" y="3840480"/>
            <a:ext cx="3027578" cy="68580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NHI discovery, inventory &amp; governance</a:t>
            </a:r>
            <a:endParaRPr lang="en-US" sz="950" dirty="0"/>
          </a:p>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Behavioral analytics &amp; identity threat detection</a:t>
            </a:r>
            <a:endParaRPr lang="en-US" sz="950" dirty="0"/>
          </a:p>
        </p:txBody>
      </p:sp>
      <p:sp>
        <p:nvSpPr>
          <p:cNvPr id="11" name="Text 8"/>
          <p:cNvSpPr/>
          <p:nvPr/>
        </p:nvSpPr>
        <p:spPr>
          <a:xfrm>
            <a:off x="731520" y="4480560"/>
            <a:ext cx="3027578" cy="411480"/>
          </a:xfrm>
          <a:prstGeom prst="rect">
            <a:avLst/>
          </a:prstGeom>
          <a:noFill/>
          <a:ln/>
        </p:spPr>
        <p:txBody>
          <a:bodyPr wrap="square" lIns="0" tIns="0" rIns="0" bIns="0" rtlCol="0" anchor="ctr"/>
          <a:lstStyle/>
          <a:p>
            <a:pPr indent="0" marL="0">
              <a:buNone/>
            </a:pPr>
            <a:r>
              <a:rPr lang="en-US" sz="950" b="1" i="1" dirty="0">
                <a:solidFill>
                  <a:srgbClr val="50C878"/>
                </a:solidFill>
                <a:latin typeface="Calibri" pitchFamily="34" charset="0"/>
                <a:ea typeface="Calibri" pitchFamily="34" charset="-122"/>
                <a:cs typeface="Calibri" pitchFamily="34" charset="-120"/>
              </a:rPr>
              <a:t>The identity gap is our largest exposed surface.</a:t>
            </a:r>
            <a:endParaRPr lang="en-US" sz="950" dirty="0"/>
          </a:p>
        </p:txBody>
      </p:sp>
      <p:sp>
        <p:nvSpPr>
          <p:cNvPr id="12" name="Shape 9"/>
          <p:cNvSpPr/>
          <p:nvPr/>
        </p:nvSpPr>
        <p:spPr>
          <a:xfrm>
            <a:off x="4353458" y="2331720"/>
            <a:ext cx="3484778" cy="2651760"/>
          </a:xfrm>
          <a:prstGeom prst="roundRect">
            <a:avLst>
              <a:gd name="adj" fmla="val 2069"/>
            </a:avLst>
          </a:prstGeom>
          <a:solidFill>
            <a:srgbClr val="1B3A28"/>
          </a:solidFill>
          <a:ln/>
        </p:spPr>
      </p:sp>
      <p:sp>
        <p:nvSpPr>
          <p:cNvPr id="13" name="Shape 10"/>
          <p:cNvSpPr/>
          <p:nvPr/>
        </p:nvSpPr>
        <p:spPr>
          <a:xfrm>
            <a:off x="4582058" y="256032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14" name="Image 1" descr="preencoded.png">    </p:cNvPr>
          <p:cNvPicPr>
            <a:picLocks noChangeAspect="1"/>
          </p:cNvPicPr>
          <p:nvPr/>
        </p:nvPicPr>
        <p:blipFill>
          <a:blip r:embed="rId2"/>
          <a:stretch>
            <a:fillRect/>
          </a:stretch>
        </p:blipFill>
        <p:spPr>
          <a:xfrm>
            <a:off x="4691786" y="2670048"/>
            <a:ext cx="237744" cy="237744"/>
          </a:xfrm>
          <a:prstGeom prst="rect">
            <a:avLst/>
          </a:prstGeom>
        </p:spPr>
      </p:pic>
      <p:sp>
        <p:nvSpPr>
          <p:cNvPr id="15" name="Text 11"/>
          <p:cNvSpPr/>
          <p:nvPr/>
        </p:nvSpPr>
        <p:spPr>
          <a:xfrm>
            <a:off x="4582058" y="3108960"/>
            <a:ext cx="3027578"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Automated Security Posture Mgmt</a:t>
            </a:r>
            <a:endParaRPr lang="en-US" sz="1300" dirty="0"/>
          </a:p>
        </p:txBody>
      </p:sp>
      <p:sp>
        <p:nvSpPr>
          <p:cNvPr id="16" name="Text 12"/>
          <p:cNvSpPr/>
          <p:nvPr/>
        </p:nvSpPr>
        <p:spPr>
          <a:xfrm>
            <a:off x="4582058" y="3520440"/>
            <a:ext cx="3027578" cy="320040"/>
          </a:xfrm>
          <a:prstGeom prst="rect">
            <a:avLst/>
          </a:prstGeom>
          <a:noFill/>
          <a:ln/>
        </p:spPr>
        <p:txBody>
          <a:bodyPr wrap="square" lIns="0" tIns="0" rIns="0" bIns="0" rtlCol="0" anchor="ctr"/>
          <a:lstStyle/>
          <a:p>
            <a:pPr indent="0" marL="0">
              <a:buNone/>
            </a:pPr>
            <a:r>
              <a:rPr lang="en-US" sz="950" i="1" dirty="0">
                <a:solidFill>
                  <a:srgbClr val="A9C9B6"/>
                </a:solidFill>
                <a:latin typeface="Calibri" pitchFamily="34" charset="0"/>
                <a:ea typeface="Calibri" pitchFamily="34" charset="-122"/>
                <a:cs typeface="Calibri" pitchFamily="34" charset="-120"/>
              </a:rPr>
              <a:t>Compress detection &amp; response — hours to minutes</a:t>
            </a:r>
            <a:endParaRPr lang="en-US" sz="950" dirty="0"/>
          </a:p>
        </p:txBody>
      </p:sp>
      <p:sp>
        <p:nvSpPr>
          <p:cNvPr id="17" name="Text 13"/>
          <p:cNvSpPr/>
          <p:nvPr/>
        </p:nvSpPr>
        <p:spPr>
          <a:xfrm>
            <a:off x="4582058" y="3840480"/>
            <a:ext cx="3027578" cy="68580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SOAR-driven incident response automation</a:t>
            </a:r>
            <a:endParaRPr lang="en-US" sz="950" dirty="0"/>
          </a:p>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Edge &amp; supply-chain visibility program</a:t>
            </a:r>
            <a:endParaRPr lang="en-US" sz="950" dirty="0"/>
          </a:p>
        </p:txBody>
      </p:sp>
      <p:sp>
        <p:nvSpPr>
          <p:cNvPr id="18" name="Text 14"/>
          <p:cNvSpPr/>
          <p:nvPr/>
        </p:nvSpPr>
        <p:spPr>
          <a:xfrm>
            <a:off x="4582058" y="4480560"/>
            <a:ext cx="3027578" cy="411480"/>
          </a:xfrm>
          <a:prstGeom prst="rect">
            <a:avLst/>
          </a:prstGeom>
          <a:noFill/>
          <a:ln/>
        </p:spPr>
        <p:txBody>
          <a:bodyPr wrap="square" lIns="0" tIns="0" rIns="0" bIns="0" rtlCol="0" anchor="ctr"/>
          <a:lstStyle/>
          <a:p>
            <a:pPr indent="0" marL="0">
              <a:buNone/>
            </a:pPr>
            <a:r>
              <a:rPr lang="en-US" sz="950" b="1" i="1" dirty="0">
                <a:solidFill>
                  <a:srgbClr val="50C878"/>
                </a:solidFill>
                <a:latin typeface="Calibri" pitchFamily="34" charset="0"/>
                <a:ea typeface="Calibri" pitchFamily="34" charset="-122"/>
                <a:cs typeface="Calibri" pitchFamily="34" charset="-120"/>
              </a:rPr>
              <a:t>Autonomous attackers require autonomous defenders.</a:t>
            </a:r>
            <a:endParaRPr lang="en-US" sz="950" dirty="0"/>
          </a:p>
        </p:txBody>
      </p:sp>
      <p:sp>
        <p:nvSpPr>
          <p:cNvPr id="19" name="Shape 15"/>
          <p:cNvSpPr/>
          <p:nvPr/>
        </p:nvSpPr>
        <p:spPr>
          <a:xfrm>
            <a:off x="8203997" y="2331720"/>
            <a:ext cx="3484778" cy="2651760"/>
          </a:xfrm>
          <a:prstGeom prst="roundRect">
            <a:avLst>
              <a:gd name="adj" fmla="val 2069"/>
            </a:avLst>
          </a:prstGeom>
          <a:solidFill>
            <a:srgbClr val="1B3A28"/>
          </a:solidFill>
          <a:ln/>
        </p:spPr>
      </p:sp>
      <p:sp>
        <p:nvSpPr>
          <p:cNvPr id="20" name="Shape 16"/>
          <p:cNvSpPr/>
          <p:nvPr/>
        </p:nvSpPr>
        <p:spPr>
          <a:xfrm>
            <a:off x="8432597" y="2560320"/>
            <a:ext cx="457200" cy="457200"/>
          </a:xfrm>
          <a:prstGeom prst="ellipse">
            <a:avLst/>
          </a:prstGeom>
          <a:solidFill>
            <a:srgbClr val="FFFFFF"/>
          </a:solidFill>
          <a:ln/>
          <a:effectLst>
            <a:outerShdw sx="100000" sy="100000" kx="0" ky="0" algn="bl" rotWithShape="0" blurRad="101600" dist="38100" dir="2700000">
              <a:srgbClr val="000000">
                <a:alpha val="14000"/>
              </a:srgbClr>
            </a:outerShdw>
          </a:effectLst>
        </p:spPr>
      </p:sp>
      <p:pic>
        <p:nvPicPr>
          <p:cNvPr id="21" name="Image 2" descr="preencoded.png">    </p:cNvPr>
          <p:cNvPicPr>
            <a:picLocks noChangeAspect="1"/>
          </p:cNvPicPr>
          <p:nvPr/>
        </p:nvPicPr>
        <p:blipFill>
          <a:blip r:embed="rId3"/>
          <a:stretch>
            <a:fillRect/>
          </a:stretch>
        </p:blipFill>
        <p:spPr>
          <a:xfrm>
            <a:off x="8542325" y="2670048"/>
            <a:ext cx="237744" cy="237744"/>
          </a:xfrm>
          <a:prstGeom prst="rect">
            <a:avLst/>
          </a:prstGeom>
        </p:spPr>
      </p:pic>
      <p:sp>
        <p:nvSpPr>
          <p:cNvPr id="22" name="Text 17"/>
          <p:cNvSpPr/>
          <p:nvPr/>
        </p:nvSpPr>
        <p:spPr>
          <a:xfrm>
            <a:off x="8432597" y="3108960"/>
            <a:ext cx="3027578"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Degraded-Mode Business Continuity</a:t>
            </a:r>
            <a:endParaRPr lang="en-US" sz="1300" dirty="0"/>
          </a:p>
        </p:txBody>
      </p:sp>
      <p:sp>
        <p:nvSpPr>
          <p:cNvPr id="23" name="Text 18"/>
          <p:cNvSpPr/>
          <p:nvPr/>
        </p:nvSpPr>
        <p:spPr>
          <a:xfrm>
            <a:off x="8432597" y="3520440"/>
            <a:ext cx="3027578" cy="320040"/>
          </a:xfrm>
          <a:prstGeom prst="rect">
            <a:avLst/>
          </a:prstGeom>
          <a:noFill/>
          <a:ln/>
        </p:spPr>
        <p:txBody>
          <a:bodyPr wrap="square" lIns="0" tIns="0" rIns="0" bIns="0" rtlCol="0" anchor="ctr"/>
          <a:lstStyle/>
          <a:p>
            <a:pPr indent="0" marL="0">
              <a:buNone/>
            </a:pPr>
            <a:r>
              <a:rPr lang="en-US" sz="950" i="1" dirty="0">
                <a:solidFill>
                  <a:srgbClr val="A9C9B6"/>
                </a:solidFill>
                <a:latin typeface="Calibri" pitchFamily="34" charset="0"/>
                <a:ea typeface="Calibri" pitchFamily="34" charset="-122"/>
                <a:cs typeface="Calibri" pitchFamily="34" charset="-120"/>
              </a:rPr>
              <a:t>Operate through a breach, not just recover</a:t>
            </a:r>
            <a:endParaRPr lang="en-US" sz="950" dirty="0"/>
          </a:p>
        </p:txBody>
      </p:sp>
      <p:sp>
        <p:nvSpPr>
          <p:cNvPr id="24" name="Text 19"/>
          <p:cNvSpPr/>
          <p:nvPr/>
        </p:nvSpPr>
        <p:spPr>
          <a:xfrm>
            <a:off x="8432597" y="3840480"/>
            <a:ext cx="3027578" cy="68580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Rehearsed degraded-mode operations</a:t>
            </a:r>
            <a:endParaRPr lang="en-US" sz="950" dirty="0"/>
          </a:p>
          <a:p>
            <a:pPr marL="342900" indent="-342900">
              <a:lnSpc>
                <a:spcPct val="100000"/>
              </a:lnSpc>
              <a:spcAft>
                <a:spcPts val="400"/>
              </a:spcAft>
              <a:buSzPct val="100000"/>
              <a:buChar char="•"/>
            </a:pPr>
            <a:r>
              <a:rPr lang="en-US" sz="950" dirty="0">
                <a:solidFill>
                  <a:srgbClr val="A9C9B6"/>
                </a:solidFill>
                <a:latin typeface="Calibri" pitchFamily="34" charset="0"/>
                <a:ea typeface="Calibri" pitchFamily="34" charset="-122"/>
                <a:cs typeface="Calibri" pitchFamily="34" charset="-120"/>
              </a:rPr>
              <a:t>ExCo-level nation-state tabletop exercises</a:t>
            </a:r>
            <a:endParaRPr lang="en-US" sz="950" dirty="0"/>
          </a:p>
        </p:txBody>
      </p:sp>
      <p:sp>
        <p:nvSpPr>
          <p:cNvPr id="25" name="Text 20"/>
          <p:cNvSpPr/>
          <p:nvPr/>
        </p:nvSpPr>
        <p:spPr>
          <a:xfrm>
            <a:off x="8432597" y="4480560"/>
            <a:ext cx="3027578" cy="411480"/>
          </a:xfrm>
          <a:prstGeom prst="rect">
            <a:avLst/>
          </a:prstGeom>
          <a:noFill/>
          <a:ln/>
        </p:spPr>
        <p:txBody>
          <a:bodyPr wrap="square" lIns="0" tIns="0" rIns="0" bIns="0" rtlCol="0" anchor="ctr"/>
          <a:lstStyle/>
          <a:p>
            <a:pPr indent="0" marL="0">
              <a:buNone/>
            </a:pPr>
            <a:r>
              <a:rPr lang="en-US" sz="950" b="1" i="1" dirty="0">
                <a:solidFill>
                  <a:srgbClr val="50C878"/>
                </a:solidFill>
                <a:latin typeface="Calibri" pitchFamily="34" charset="0"/>
                <a:ea typeface="Calibri" pitchFamily="34" charset="-122"/>
                <a:cs typeface="Calibri" pitchFamily="34" charset="-120"/>
              </a:rPr>
              <a:t>Keep serving clients is the resilience KPI.</a:t>
            </a:r>
            <a:endParaRPr lang="en-US" sz="950" dirty="0"/>
          </a:p>
        </p:txBody>
      </p:sp>
      <p:sp>
        <p:nvSpPr>
          <p:cNvPr id="26" name="Text 21"/>
          <p:cNvSpPr/>
          <p:nvPr/>
        </p:nvSpPr>
        <p:spPr>
          <a:xfrm>
            <a:off x="502920" y="5166360"/>
            <a:ext cx="11185855" cy="411480"/>
          </a:xfrm>
          <a:prstGeom prst="rect">
            <a:avLst/>
          </a:prstGeom>
          <a:noFill/>
          <a:ln/>
        </p:spPr>
        <p:txBody>
          <a:bodyPr wrap="square" lIns="0" tIns="0" rIns="0" bIns="0" rtlCol="0" anchor="ctr"/>
          <a:lstStyle/>
          <a:p>
            <a:pPr algn="ctr" indent="0" marL="0">
              <a:buNone/>
            </a:pPr>
            <a:r>
              <a:rPr lang="en-US" sz="1200" dirty="0">
                <a:solidFill>
                  <a:srgbClr val="A9C9B6"/>
                </a:solidFill>
                <a:latin typeface="Calibri" pitchFamily="34" charset="0"/>
                <a:ea typeface="Calibri" pitchFamily="34" charset="-122"/>
                <a:cs typeface="Calibri" pitchFamily="34" charset="-120"/>
              </a:rPr>
              <a:t>Cyber risk is no longer an IT concern. It is inextricably linked to geopolitics and to our overarching business strategy.</a:t>
            </a:r>
            <a:endParaRPr lang="en-US" sz="1200" dirty="0"/>
          </a:p>
        </p:txBody>
      </p:sp>
      <p:sp>
        <p:nvSpPr>
          <p:cNvPr id="27" name="Text 22"/>
          <p:cNvSpPr/>
          <p:nvPr/>
        </p:nvSpPr>
        <p:spPr>
          <a:xfrm>
            <a:off x="502920" y="5550408"/>
            <a:ext cx="11185855" cy="502920"/>
          </a:xfrm>
          <a:prstGeom prst="rect">
            <a:avLst/>
          </a:prstGeom>
          <a:noFill/>
          <a:ln/>
        </p:spPr>
        <p:txBody>
          <a:bodyPr wrap="square" lIns="0" tIns="0" rIns="0" bIns="0" rtlCol="0" anchor="ctr"/>
          <a:lstStyle/>
          <a:p>
            <a:pPr algn="ctr" indent="0" marL="0">
              <a:buNone/>
            </a:pPr>
            <a:r>
              <a:rPr lang="en-US" sz="1600" b="1" i="1" dirty="0">
                <a:solidFill>
                  <a:srgbClr val="50C878"/>
                </a:solidFill>
                <a:latin typeface="Cambria" pitchFamily="34" charset="0"/>
                <a:ea typeface="Cambria" pitchFamily="34" charset="-122"/>
                <a:cs typeface="Cambria" pitchFamily="34" charset="-120"/>
              </a:rPr>
              <a:t>“The question is no longer if we will be breached. It is whether we will still be operating the day after.”</a:t>
            </a:r>
            <a:endParaRPr lang="en-US" sz="1600" dirty="0"/>
          </a:p>
        </p:txBody>
      </p:sp>
      <p:sp>
        <p:nvSpPr>
          <p:cNvPr id="28" name="Text 23"/>
          <p:cNvSpPr/>
          <p:nvPr/>
        </p:nvSpPr>
        <p:spPr>
          <a:xfrm>
            <a:off x="502920" y="6473952"/>
            <a:ext cx="3657600" cy="274320"/>
          </a:xfrm>
          <a:prstGeom prst="rect">
            <a:avLst/>
          </a:prstGeom>
          <a:noFill/>
          <a:ln/>
        </p:spPr>
        <p:txBody>
          <a:bodyPr wrap="square" lIns="0" tIns="0" rIns="0" bIns="0" rtlCol="0" anchor="ctr"/>
          <a:lstStyle/>
          <a:p>
            <a:pPr indent="0" marL="0">
              <a:buNone/>
            </a:pPr>
            <a:r>
              <a:rPr lang="en-US" sz="1000" spc="100" kern="0" dirty="0">
                <a:solidFill>
                  <a:srgbClr val="A9C9B6"/>
                </a:solidFill>
                <a:latin typeface="Calibri" pitchFamily="34" charset="0"/>
                <a:ea typeface="Calibri" pitchFamily="34" charset="-122"/>
                <a:cs typeface="Calibri" pitchFamily="34" charset="-120"/>
              </a:rPr>
              <a:t>Q&amp;A — 15–20 minutes</a:t>
            </a:r>
            <a:endParaRPr lang="en-US" sz="1000" dirty="0"/>
          </a:p>
        </p:txBody>
      </p:sp>
      <p:sp>
        <p:nvSpPr>
          <p:cNvPr id="29" name="Text 24"/>
          <p:cNvSpPr/>
          <p:nvPr/>
        </p:nvSpPr>
        <p:spPr>
          <a:xfrm>
            <a:off x="8945575" y="6473952"/>
            <a:ext cx="2743200" cy="274320"/>
          </a:xfrm>
          <a:prstGeom prst="rect">
            <a:avLst/>
          </a:prstGeom>
          <a:noFill/>
          <a:ln/>
        </p:spPr>
        <p:txBody>
          <a:bodyPr wrap="square" lIns="0" tIns="0" rIns="0" bIns="0" rtlCol="0" anchor="ctr"/>
          <a:lstStyle/>
          <a:p>
            <a:pPr algn="r" indent="0" marL="0">
              <a:buNone/>
            </a:pPr>
            <a:r>
              <a:rPr lang="en-US" sz="900" spc="100" kern="0" dirty="0">
                <a:solidFill>
                  <a:srgbClr val="A9C9B6"/>
                </a:solidFill>
                <a:latin typeface="Calibri" pitchFamily="34" charset="0"/>
                <a:ea typeface="Calibri" pitchFamily="34" charset="-122"/>
                <a:cs typeface="Calibri" pitchFamily="34" charset="-120"/>
              </a:rPr>
              <a:t>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 — 2025-2026 Threat Landscape</dc:title>
  <dc:subject>PptxGenJS Presentation</dc:subject>
  <dc:creator>Sara</dc:creator>
  <cp:lastModifiedBy>Sara</cp:lastModifiedBy>
  <cp:revision>1</cp:revision>
  <dcterms:created xsi:type="dcterms:W3CDTF">2026-07-07T13:06:39Z</dcterms:created>
  <dcterms:modified xsi:type="dcterms:W3CDTF">2026-07-07T13:06:39Z</dcterms:modified>
</cp:coreProperties>
</file>