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4630400" cy="9753600"/>
  <p:notesSz cx="6858000" cy="9144000"/>
  <p:embeddedFontLst>
    <p:embeddedFont>
      <p:font typeface="Montserrat Bold" charset="1" panose="00000800000000000000"/>
      <p:regular r:id="rId7"/>
    </p:embeddedFont>
    <p:embeddedFont>
      <p:font typeface="Montserrat Semi-Bold" charset="1" panose="00000700000000000000"/>
      <p:regular r:id="rId8"/>
    </p:embeddedFont>
    <p:embeddedFont>
      <p:font typeface="Montserrat Medium" charset="1" panose="000006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4630400" cy="9753600"/>
          </a:xfrm>
          <a:custGeom>
            <a:avLst/>
            <a:gdLst/>
            <a:ahLst/>
            <a:cxnLst/>
            <a:rect r="r" b="b" t="t" l="l"/>
            <a:pathLst>
              <a:path h="9753600" w="14630400">
                <a:moveTo>
                  <a:pt x="0" y="0"/>
                </a:moveTo>
                <a:lnTo>
                  <a:pt x="14630400" y="0"/>
                </a:lnTo>
                <a:lnTo>
                  <a:pt x="146304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14016" y="150963"/>
            <a:ext cx="9685325" cy="645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6"/>
              </a:lnSpc>
            </a:pPr>
            <a:r>
              <a:rPr lang="en-US" b="true" sz="3825">
                <a:solidFill>
                  <a:srgbClr val="0033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Questionnaire Redesign Methodology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40557" y="858388"/>
            <a:ext cx="7549286" cy="27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9"/>
              </a:lnSpc>
            </a:pPr>
            <a:r>
              <a:rPr lang="en-US" b="true" sz="1592" spc="477">
                <a:solidFill>
                  <a:srgbClr val="00332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FROM CHECKLIST TO RISK-BASED ASSESSMENT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38300" y="1495425"/>
            <a:ext cx="11353800" cy="942975"/>
          </a:xfrm>
          <a:custGeom>
            <a:avLst/>
            <a:gdLst/>
            <a:ahLst/>
            <a:cxnLst/>
            <a:rect r="r" b="b" t="t" l="l"/>
            <a:pathLst>
              <a:path h="942975" w="11353800">
                <a:moveTo>
                  <a:pt x="0" y="0"/>
                </a:moveTo>
                <a:lnTo>
                  <a:pt x="11353800" y="0"/>
                </a:lnTo>
                <a:lnTo>
                  <a:pt x="1135380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09775" y="1685925"/>
            <a:ext cx="733425" cy="752475"/>
          </a:xfrm>
          <a:custGeom>
            <a:avLst/>
            <a:gdLst/>
            <a:ahLst/>
            <a:cxnLst/>
            <a:rect r="r" b="b" t="t" l="l"/>
            <a:pathLst>
              <a:path h="752475" w="733425">
                <a:moveTo>
                  <a:pt x="0" y="0"/>
                </a:moveTo>
                <a:lnTo>
                  <a:pt x="733425" y="0"/>
                </a:lnTo>
                <a:lnTo>
                  <a:pt x="7334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013862" y="1845556"/>
            <a:ext cx="965606" cy="240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415" b="true">
                <a:solidFill>
                  <a:srgbClr val="0033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67251" y="1868424"/>
            <a:ext cx="754928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8"/>
              </a:lnSpc>
            </a:pPr>
            <a:r>
              <a:rPr lang="en-US" sz="1557" b="true">
                <a:solidFill>
                  <a:srgbClr val="00332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Create a shorter, evidence-based and risk-weighted maturity assessment that drives consistent, actionable and defensible outcomes.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933950" y="1304925"/>
            <a:ext cx="2019300" cy="200025"/>
          </a:xfrm>
          <a:custGeom>
            <a:avLst/>
            <a:gdLst/>
            <a:ahLst/>
            <a:cxnLst/>
            <a:rect r="r" b="b" t="t" l="l"/>
            <a:pathLst>
              <a:path h="200025" w="2019300">
                <a:moveTo>
                  <a:pt x="0" y="0"/>
                </a:moveTo>
                <a:lnTo>
                  <a:pt x="2019300" y="0"/>
                </a:lnTo>
                <a:lnTo>
                  <a:pt x="2019300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496175" y="1304925"/>
            <a:ext cx="2019300" cy="200025"/>
          </a:xfrm>
          <a:custGeom>
            <a:avLst/>
            <a:gdLst/>
            <a:ahLst/>
            <a:cxnLst/>
            <a:rect r="r" b="b" t="t" l="l"/>
            <a:pathLst>
              <a:path h="200025" w="2019300">
                <a:moveTo>
                  <a:pt x="0" y="0"/>
                </a:moveTo>
                <a:lnTo>
                  <a:pt x="2019300" y="0"/>
                </a:lnTo>
                <a:lnTo>
                  <a:pt x="2019300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943725" y="1123950"/>
            <a:ext cx="561975" cy="752475"/>
          </a:xfrm>
          <a:custGeom>
            <a:avLst/>
            <a:gdLst/>
            <a:ahLst/>
            <a:cxnLst/>
            <a:rect r="r" b="b" t="t" l="l"/>
            <a:pathLst>
              <a:path h="752475" w="561975">
                <a:moveTo>
                  <a:pt x="0" y="0"/>
                </a:moveTo>
                <a:lnTo>
                  <a:pt x="561975" y="0"/>
                </a:lnTo>
                <a:lnTo>
                  <a:pt x="56197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80975" y="2438400"/>
            <a:ext cx="3476625" cy="4876800"/>
          </a:xfrm>
          <a:custGeom>
            <a:avLst/>
            <a:gdLst/>
            <a:ahLst/>
            <a:cxnLst/>
            <a:rect r="r" b="b" t="t" l="l"/>
            <a:pathLst>
              <a:path h="4876800" w="3476625">
                <a:moveTo>
                  <a:pt x="0" y="0"/>
                </a:moveTo>
                <a:lnTo>
                  <a:pt x="3476625" y="0"/>
                </a:lnTo>
                <a:lnTo>
                  <a:pt x="3476625" y="4876800"/>
                </a:lnTo>
                <a:lnTo>
                  <a:pt x="0" y="48768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61950" y="2619375"/>
            <a:ext cx="742950" cy="571500"/>
          </a:xfrm>
          <a:custGeom>
            <a:avLst/>
            <a:gdLst/>
            <a:ahLst/>
            <a:cxnLst/>
            <a:rect r="r" b="b" t="t" l="l"/>
            <a:pathLst>
              <a:path h="571500" w="742950">
                <a:moveTo>
                  <a:pt x="0" y="0"/>
                </a:moveTo>
                <a:lnTo>
                  <a:pt x="742950" y="0"/>
                </a:lnTo>
                <a:lnTo>
                  <a:pt x="74295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41171" y="2776460"/>
            <a:ext cx="2209190" cy="231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1"/>
              </a:lnSpc>
            </a:pPr>
            <a:r>
              <a:rPr lang="en-US" b="true" sz="1379">
                <a:solidFill>
                  <a:srgbClr val="0033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SIMPLIFY &amp; STRUCTURE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457325" y="3371850"/>
            <a:ext cx="923925" cy="1133475"/>
          </a:xfrm>
          <a:custGeom>
            <a:avLst/>
            <a:gdLst/>
            <a:ahLst/>
            <a:cxnLst/>
            <a:rect r="r" b="b" t="t" l="l"/>
            <a:pathLst>
              <a:path h="1133475" w="923925">
                <a:moveTo>
                  <a:pt x="0" y="0"/>
                </a:moveTo>
                <a:lnTo>
                  <a:pt x="923925" y="0"/>
                </a:lnTo>
                <a:lnTo>
                  <a:pt x="923925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23900" y="4495800"/>
            <a:ext cx="2571750" cy="200025"/>
          </a:xfrm>
          <a:custGeom>
            <a:avLst/>
            <a:gdLst/>
            <a:ahLst/>
            <a:cxnLst/>
            <a:rect r="r" b="b" t="t" l="l"/>
            <a:pathLst>
              <a:path h="200025" w="2571750">
                <a:moveTo>
                  <a:pt x="0" y="0"/>
                </a:moveTo>
                <a:lnTo>
                  <a:pt x="2571750" y="0"/>
                </a:lnTo>
                <a:lnTo>
                  <a:pt x="2571750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80975" y="6743700"/>
            <a:ext cx="3476625" cy="571500"/>
          </a:xfrm>
          <a:custGeom>
            <a:avLst/>
            <a:gdLst/>
            <a:ahLst/>
            <a:cxnLst/>
            <a:rect r="r" b="b" t="t" l="l"/>
            <a:pathLst>
              <a:path h="571500" w="3476625">
                <a:moveTo>
                  <a:pt x="0" y="0"/>
                </a:moveTo>
                <a:lnTo>
                  <a:pt x="3476625" y="0"/>
                </a:lnTo>
                <a:lnTo>
                  <a:pt x="34766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467100" y="3371850"/>
            <a:ext cx="561975" cy="571500"/>
          </a:xfrm>
          <a:custGeom>
            <a:avLst/>
            <a:gdLst/>
            <a:ahLst/>
            <a:cxnLst/>
            <a:rect r="r" b="b" t="t" l="l"/>
            <a:pathLst>
              <a:path h="571500" w="561975">
                <a:moveTo>
                  <a:pt x="0" y="0"/>
                </a:moveTo>
                <a:lnTo>
                  <a:pt x="561975" y="0"/>
                </a:lnTo>
                <a:lnTo>
                  <a:pt x="5619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657600" y="2438400"/>
            <a:ext cx="3476625" cy="4876800"/>
          </a:xfrm>
          <a:custGeom>
            <a:avLst/>
            <a:gdLst/>
            <a:ahLst/>
            <a:cxnLst/>
            <a:rect r="r" b="b" t="t" l="l"/>
            <a:pathLst>
              <a:path h="4876800" w="3476625">
                <a:moveTo>
                  <a:pt x="0" y="0"/>
                </a:moveTo>
                <a:lnTo>
                  <a:pt x="3476625" y="0"/>
                </a:lnTo>
                <a:lnTo>
                  <a:pt x="3476625" y="4876800"/>
                </a:lnTo>
                <a:lnTo>
                  <a:pt x="0" y="4876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019550" y="2619375"/>
            <a:ext cx="552450" cy="571500"/>
          </a:xfrm>
          <a:custGeom>
            <a:avLst/>
            <a:gdLst/>
            <a:ahLst/>
            <a:cxnLst/>
            <a:rect r="r" b="b" t="t" l="l"/>
            <a:pathLst>
              <a:path h="571500" w="552450">
                <a:moveTo>
                  <a:pt x="0" y="0"/>
                </a:moveTo>
                <a:lnTo>
                  <a:pt x="552450" y="0"/>
                </a:lnTo>
                <a:lnTo>
                  <a:pt x="55245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667098" y="2823591"/>
            <a:ext cx="196047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3"/>
              </a:lnSpc>
            </a:pPr>
            <a:r>
              <a:rPr lang="en-US" b="true" sz="1344">
                <a:solidFill>
                  <a:srgbClr val="0033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STRENGTHEN THE ASSESSMENT MODEL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4381500" y="3743325"/>
            <a:ext cx="2209800" cy="762000"/>
          </a:xfrm>
          <a:custGeom>
            <a:avLst/>
            <a:gdLst/>
            <a:ahLst/>
            <a:cxnLst/>
            <a:rect r="r" b="b" t="t" l="l"/>
            <a:pathLst>
              <a:path h="762000" w="2209800">
                <a:moveTo>
                  <a:pt x="0" y="0"/>
                </a:moveTo>
                <a:lnTo>
                  <a:pt x="2209800" y="0"/>
                </a:lnTo>
                <a:lnTo>
                  <a:pt x="22098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019550" y="4495800"/>
            <a:ext cx="2752725" cy="200025"/>
          </a:xfrm>
          <a:custGeom>
            <a:avLst/>
            <a:gdLst/>
            <a:ahLst/>
            <a:cxnLst/>
            <a:rect r="r" b="b" t="t" l="l"/>
            <a:pathLst>
              <a:path h="200025" w="2752725">
                <a:moveTo>
                  <a:pt x="0" y="0"/>
                </a:moveTo>
                <a:lnTo>
                  <a:pt x="2752725" y="0"/>
                </a:lnTo>
                <a:lnTo>
                  <a:pt x="275272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657600" y="6743700"/>
            <a:ext cx="3476625" cy="571500"/>
          </a:xfrm>
          <a:custGeom>
            <a:avLst/>
            <a:gdLst/>
            <a:ahLst/>
            <a:cxnLst/>
            <a:rect r="r" b="b" t="t" l="l"/>
            <a:pathLst>
              <a:path h="571500" w="3476625">
                <a:moveTo>
                  <a:pt x="0" y="0"/>
                </a:moveTo>
                <a:lnTo>
                  <a:pt x="3476625" y="0"/>
                </a:lnTo>
                <a:lnTo>
                  <a:pt x="34766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943725" y="3371850"/>
            <a:ext cx="561975" cy="571500"/>
          </a:xfrm>
          <a:custGeom>
            <a:avLst/>
            <a:gdLst/>
            <a:ahLst/>
            <a:cxnLst/>
            <a:rect r="r" b="b" t="t" l="l"/>
            <a:pathLst>
              <a:path h="571500" w="561975">
                <a:moveTo>
                  <a:pt x="0" y="0"/>
                </a:moveTo>
                <a:lnTo>
                  <a:pt x="561975" y="0"/>
                </a:lnTo>
                <a:lnTo>
                  <a:pt x="5619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124700" y="2438400"/>
            <a:ext cx="3486150" cy="4876800"/>
          </a:xfrm>
          <a:custGeom>
            <a:avLst/>
            <a:gdLst/>
            <a:ahLst/>
            <a:cxnLst/>
            <a:rect r="r" b="b" t="t" l="l"/>
            <a:pathLst>
              <a:path h="4876800" w="3486150">
                <a:moveTo>
                  <a:pt x="0" y="0"/>
                </a:moveTo>
                <a:lnTo>
                  <a:pt x="3486150" y="0"/>
                </a:lnTo>
                <a:lnTo>
                  <a:pt x="3486150" y="4876800"/>
                </a:lnTo>
                <a:lnTo>
                  <a:pt x="0" y="4876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315200" y="2619375"/>
            <a:ext cx="733425" cy="571500"/>
          </a:xfrm>
          <a:custGeom>
            <a:avLst/>
            <a:gdLst/>
            <a:ahLst/>
            <a:cxnLst/>
            <a:rect r="r" b="b" t="t" l="l"/>
            <a:pathLst>
              <a:path h="571500" w="733425">
                <a:moveTo>
                  <a:pt x="0" y="0"/>
                </a:moveTo>
                <a:lnTo>
                  <a:pt x="733425" y="0"/>
                </a:lnTo>
                <a:lnTo>
                  <a:pt x="7334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8222285" y="2823591"/>
            <a:ext cx="153619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3"/>
              </a:lnSpc>
            </a:pPr>
            <a:r>
              <a:rPr lang="en-US" b="true" sz="1344">
                <a:solidFill>
                  <a:srgbClr val="0033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MAKE EVIDENCE EXPLICIT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50822" y="3052630"/>
            <a:ext cx="1082650" cy="205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2"/>
              </a:lnSpc>
            </a:pPr>
            <a:r>
              <a:rPr lang="en-US" b="true" sz="1273">
                <a:solidFill>
                  <a:srgbClr val="00332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(Stages 1 &amp; 3)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58368" y="2742362"/>
            <a:ext cx="146304" cy="3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1"/>
              </a:lnSpc>
            </a:pPr>
            <a:r>
              <a:rPr lang="en-US" b="true" sz="2337">
                <a:solidFill>
                  <a:srgbClr val="F6F6F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155034" y="2742362"/>
            <a:ext cx="175565" cy="3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1"/>
              </a:lnSpc>
            </a:pPr>
            <a:r>
              <a:rPr lang="en-US" b="true" sz="2337">
                <a:solidFill>
                  <a:srgbClr val="F6F6F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076749" y="3292386"/>
            <a:ext cx="1155802" cy="223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2"/>
              </a:lnSpc>
            </a:pPr>
            <a:r>
              <a:rPr lang="en-US" b="true" sz="1308">
                <a:solidFill>
                  <a:srgbClr val="00332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(Stages 2 &amp; 6)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412480" y="3310085"/>
            <a:ext cx="1082650" cy="198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3"/>
              </a:lnSpc>
            </a:pPr>
            <a:r>
              <a:rPr lang="en-US" b="true" sz="1202">
                <a:solidFill>
                  <a:srgbClr val="00332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(Stages 4 &amp; 7)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578547" y="2742362"/>
            <a:ext cx="175565" cy="3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1"/>
              </a:lnSpc>
            </a:pPr>
            <a:r>
              <a:rPr lang="en-US" b="true" sz="2337">
                <a:solidFill>
                  <a:srgbClr val="F6F6F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543386" y="2776460"/>
            <a:ext cx="2370125" cy="231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1"/>
              </a:lnSpc>
            </a:pPr>
            <a:r>
              <a:rPr lang="en-US" b="true" sz="1379">
                <a:solidFill>
                  <a:srgbClr val="0033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ALIGN &amp; PRIORITISE RISK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040819" y="3056492"/>
            <a:ext cx="1082650" cy="198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3"/>
              </a:lnSpc>
            </a:pPr>
            <a:r>
              <a:rPr lang="en-US" b="true" sz="1202">
                <a:solidFill>
                  <a:srgbClr val="00332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(Stages 5 &amp; 8)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031322" y="2742362"/>
            <a:ext cx="175565" cy="3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1"/>
              </a:lnSpc>
            </a:pPr>
            <a:r>
              <a:rPr lang="en-US" b="true" sz="2337">
                <a:solidFill>
                  <a:srgbClr val="F6F6F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82803" y="4739597"/>
            <a:ext cx="2838298" cy="1874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9650" indent="-129825" lvl="1">
              <a:lnSpc>
                <a:spcPts val="1683"/>
              </a:lnSpc>
              <a:buFont typeface="Arial"/>
              <a:buChar char="•"/>
            </a:pPr>
            <a:r>
              <a:rPr lang="en-US" b="true" sz="1202">
                <a:solidFill>
                  <a:srgbClr val="00332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Removed duplicate and repetitive questions</a:t>
            </a:r>
          </a:p>
          <a:p>
            <a:pPr algn="l" marL="259650" indent="-129825" lvl="1">
              <a:lnSpc>
                <a:spcPts val="1683"/>
              </a:lnSpc>
              <a:buFont typeface="Arial"/>
              <a:buChar char="•"/>
            </a:pPr>
            <a:r>
              <a:rPr lang="en-US" b="true" sz="1202">
                <a:solidFill>
                  <a:srgbClr val="00332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Consolidated overlapping questions into 8 logical risk domains</a:t>
            </a:r>
          </a:p>
          <a:p>
            <a:pPr algn="l" marL="259650" indent="-129825" lvl="1">
              <a:lnSpc>
                <a:spcPts val="1683"/>
              </a:lnSpc>
              <a:buFont typeface="Arial"/>
              <a:buChar char="•"/>
            </a:pPr>
            <a:r>
              <a:rPr lang="en-US" b="true" sz="1202">
                <a:solidFill>
                  <a:srgbClr val="00332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Embedded follow-up questions into maturity criteria</a:t>
            </a:r>
          </a:p>
          <a:p>
            <a:pPr algn="l" marL="259650" indent="-129825" lvl="1">
              <a:lnSpc>
                <a:spcPts val="1683"/>
              </a:lnSpc>
              <a:buFont typeface="Arial"/>
              <a:buChar char="•"/>
            </a:pPr>
            <a:r>
              <a:rPr lang="en-US" b="true" sz="1202">
                <a:solidFill>
                  <a:srgbClr val="00332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Reduced the assessment to 31 core questions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906317" y="4748762"/>
            <a:ext cx="2838298" cy="1524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6689" indent="-118345" lvl="1">
              <a:lnSpc>
                <a:spcPts val="1534"/>
              </a:lnSpc>
              <a:buFont typeface="Arial"/>
              <a:buChar char="•"/>
            </a:pPr>
            <a:r>
              <a:rPr lang="en-US" b="true" sz="1096">
                <a:solidFill>
                  <a:srgbClr val="00332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Replaced Yes/No with a 0-5 maturity scale</a:t>
            </a:r>
          </a:p>
          <a:p>
            <a:pPr algn="l" marL="0" indent="0" lvl="0">
              <a:lnSpc>
                <a:spcPts val="1534"/>
              </a:lnSpc>
            </a:pPr>
          </a:p>
          <a:p>
            <a:pPr algn="l" marL="236689" indent="-118345" lvl="1">
              <a:lnSpc>
                <a:spcPts val="1534"/>
              </a:lnSpc>
              <a:buFont typeface="Arial"/>
              <a:buChar char="•"/>
            </a:pPr>
            <a:r>
              <a:rPr lang="en-US" b="true" sz="1096">
                <a:solidFill>
                  <a:srgbClr val="00332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Measures progression from Not Implemented → Optimized</a:t>
            </a:r>
          </a:p>
          <a:p>
            <a:pPr algn="l" marL="0" indent="0" lvl="0">
              <a:lnSpc>
                <a:spcPts val="1534"/>
              </a:lnSpc>
            </a:pPr>
          </a:p>
          <a:p>
            <a:pPr algn="l" marL="236689" indent="-118345" lvl="1">
              <a:lnSpc>
                <a:spcPts val="1534"/>
              </a:lnSpc>
              <a:buFont typeface="Arial"/>
              <a:buChar char="•"/>
            </a:pPr>
            <a:r>
              <a:rPr lang="en-US" b="true" sz="1096">
                <a:solidFill>
                  <a:srgbClr val="00332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Ensures respondents demonstrate increasing levels of control maturity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402982" y="4843950"/>
            <a:ext cx="2838298" cy="1812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1382" indent="-110691" lvl="1">
              <a:lnSpc>
                <a:spcPts val="1435"/>
              </a:lnSpc>
              <a:buFont typeface="Arial"/>
              <a:buChar char="•"/>
            </a:pPr>
            <a:r>
              <a:rPr lang="en-US" b="true" sz="1025">
                <a:solidFill>
                  <a:srgbClr val="00332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Separated assessment questions from evidence requirements</a:t>
            </a:r>
          </a:p>
          <a:p>
            <a:pPr algn="l" marL="0" indent="0" lvl="0">
              <a:lnSpc>
                <a:spcPts val="1435"/>
              </a:lnSpc>
            </a:pPr>
          </a:p>
          <a:p>
            <a:pPr algn="l" marL="221382" indent="-110691" lvl="1">
              <a:lnSpc>
                <a:spcPts val="1435"/>
              </a:lnSpc>
              <a:buFont typeface="Arial"/>
              <a:buChar char="•"/>
            </a:pPr>
            <a:r>
              <a:rPr lang="en-US" b="true" sz="1025">
                <a:solidFill>
                  <a:srgbClr val="00332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Introduced “Suggested Evidence” for each control</a:t>
            </a:r>
          </a:p>
          <a:p>
            <a:pPr algn="l" marL="0" indent="0" lvl="0">
              <a:lnSpc>
                <a:spcPts val="1435"/>
              </a:lnSpc>
            </a:pPr>
          </a:p>
          <a:p>
            <a:pPr algn="l" marL="221382" indent="-110691" lvl="1">
              <a:lnSpc>
                <a:spcPts val="1435"/>
              </a:lnSpc>
              <a:buFont typeface="Arial"/>
              <a:buChar char="•"/>
            </a:pPr>
            <a:r>
              <a:rPr lang="en-US" b="true" sz="1025">
                <a:solidFill>
                  <a:srgbClr val="00332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Added evidence confidence levels A-D</a:t>
            </a:r>
          </a:p>
          <a:p>
            <a:pPr algn="l" marL="0" indent="0" lvl="0">
              <a:lnSpc>
                <a:spcPts val="1435"/>
              </a:lnSpc>
            </a:pPr>
          </a:p>
          <a:p>
            <a:pPr algn="l" marL="221382" indent="-110691" lvl="1">
              <a:lnSpc>
                <a:spcPts val="1435"/>
              </a:lnSpc>
              <a:buFont typeface="Arial"/>
              <a:buChar char="•"/>
            </a:pPr>
            <a:r>
              <a:rPr lang="en-US" b="true" sz="1025">
                <a:solidFill>
                  <a:srgbClr val="00332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Progression: Self-declaration → Documentation → Technical Validation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943539" y="4763438"/>
            <a:ext cx="2838298" cy="1982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9035" indent="-114517" lvl="1">
              <a:lnSpc>
                <a:spcPts val="1485"/>
              </a:lnSpc>
              <a:buFont typeface="Arial"/>
              <a:buChar char="•"/>
            </a:pPr>
            <a:r>
              <a:rPr lang="en-US" b="true" sz="1060">
                <a:solidFill>
                  <a:srgbClr val="00332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Mapped controls to NIST CSF, ISO 27001 and GDPR</a:t>
            </a:r>
          </a:p>
          <a:p>
            <a:pPr algn="l" marL="0" indent="0" lvl="0">
              <a:lnSpc>
                <a:spcPts val="1485"/>
              </a:lnSpc>
            </a:pPr>
          </a:p>
          <a:p>
            <a:pPr algn="l" marL="229035" indent="-114517" lvl="1">
              <a:lnSpc>
                <a:spcPts val="1485"/>
              </a:lnSpc>
              <a:buFont typeface="Arial"/>
              <a:buChar char="•"/>
            </a:pPr>
            <a:r>
              <a:rPr lang="en-US" b="true" sz="1060">
                <a:solidFill>
                  <a:srgbClr val="00332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Separated specialist / niche risks into modular annexes</a:t>
            </a:r>
          </a:p>
          <a:p>
            <a:pPr algn="l" marL="0" indent="0" lvl="0">
              <a:lnSpc>
                <a:spcPts val="1485"/>
              </a:lnSpc>
            </a:pPr>
          </a:p>
          <a:p>
            <a:pPr algn="l" marL="229035" indent="-114517" lvl="1">
              <a:lnSpc>
                <a:spcPts val="1485"/>
              </a:lnSpc>
              <a:buFont typeface="Arial"/>
              <a:buChar char="•"/>
            </a:pPr>
            <a:r>
              <a:rPr lang="en-US" b="true" sz="1060">
                <a:solidFill>
                  <a:srgbClr val="00332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Applied risk-based weighting to reflect control criticality</a:t>
            </a:r>
          </a:p>
          <a:p>
            <a:pPr algn="l" marL="0" indent="0" lvl="0">
              <a:lnSpc>
                <a:spcPts val="1485"/>
              </a:lnSpc>
            </a:pPr>
          </a:p>
          <a:p>
            <a:pPr algn="l" marL="229035" indent="-114517" lvl="1">
              <a:lnSpc>
                <a:spcPts val="1485"/>
              </a:lnSpc>
              <a:buFont typeface="Arial"/>
              <a:buChar char="•"/>
            </a:pPr>
            <a:r>
              <a:rPr lang="en-US" b="true" sz="1060">
                <a:solidFill>
                  <a:srgbClr val="00332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Produces a weighted overall maturity score, excluding N/A controls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41325" y="6959650"/>
            <a:ext cx="2838298" cy="16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5"/>
              </a:lnSpc>
            </a:pPr>
            <a:r>
              <a:rPr lang="en-US" b="true" sz="989">
                <a:solidFill>
                  <a:srgbClr val="F6F6F6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Outcome: Focused, structured, and concise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979469" y="6959650"/>
            <a:ext cx="2838298" cy="16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5"/>
              </a:lnSpc>
            </a:pPr>
            <a:r>
              <a:rPr lang="en-US" b="true" sz="989">
                <a:solidFill>
                  <a:srgbClr val="F6F6F6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Outcome: Consistent, progressive maturity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461504" y="6959650"/>
            <a:ext cx="2838298" cy="16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5"/>
              </a:lnSpc>
            </a:pPr>
            <a:r>
              <a:rPr lang="en-US" b="true" sz="989">
                <a:solidFill>
                  <a:srgbClr val="F6F6F6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Outcome: Transparent, verifiable evidence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943539" y="6955788"/>
            <a:ext cx="2838298" cy="17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b="true" sz="1060">
                <a:solidFill>
                  <a:srgbClr val="F6F6F6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Outcome: Risk-aligned, prioritized focus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364224" y="7397587"/>
            <a:ext cx="1463040" cy="323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b="true" sz="1876" spc="187">
                <a:solidFill>
                  <a:srgbClr val="F6F6F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OUTCOME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36192" y="7893367"/>
            <a:ext cx="365760" cy="4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7"/>
              </a:lnSpc>
            </a:pPr>
            <a:r>
              <a:rPr lang="en-US" sz="2726" b="true">
                <a:solidFill>
                  <a:srgbClr val="0033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31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536192" y="8320173"/>
            <a:ext cx="892454" cy="399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b="true" sz="1131">
                <a:solidFill>
                  <a:srgbClr val="0033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CORE QUESTIONS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847795" y="7893367"/>
            <a:ext cx="175565" cy="4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7"/>
              </a:lnSpc>
            </a:pPr>
            <a:r>
              <a:rPr lang="en-US" sz="2726" b="true">
                <a:solidFill>
                  <a:srgbClr val="0033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8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847795" y="8320173"/>
            <a:ext cx="760781" cy="399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b="true" sz="1131">
                <a:solidFill>
                  <a:srgbClr val="0033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RISK DOMAINS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925312" y="7910616"/>
            <a:ext cx="585216" cy="43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585" b="true">
                <a:solidFill>
                  <a:srgbClr val="0033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0–5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925312" y="8329248"/>
            <a:ext cx="760781" cy="381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b="true" sz="1096">
                <a:solidFill>
                  <a:srgbClr val="0033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MATURITY SCALE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534656" y="8146381"/>
            <a:ext cx="380390" cy="240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b="true" sz="1415">
                <a:solidFill>
                  <a:srgbClr val="0033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A–D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310067" y="8025757"/>
            <a:ext cx="936346" cy="36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5"/>
              </a:lnSpc>
            </a:pPr>
            <a:r>
              <a:rPr lang="en-US" b="true" sz="1025">
                <a:solidFill>
                  <a:srgbClr val="0033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EVIDENCE CONFIDENCE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310067" y="8398574"/>
            <a:ext cx="585216" cy="341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b="true" sz="1947">
                <a:solidFill>
                  <a:srgbClr val="0033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A–D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650931" y="8113761"/>
            <a:ext cx="1170432" cy="354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b="true" sz="1060">
                <a:solidFill>
                  <a:srgbClr val="0033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RISK-WEIGHTED SCORING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211251" y="8433822"/>
            <a:ext cx="877824" cy="318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6"/>
              </a:lnSpc>
            </a:pPr>
            <a:r>
              <a:rPr lang="en-US" b="true" sz="954">
                <a:solidFill>
                  <a:srgbClr val="00332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(NIST CSF, ISO 27001, GDPR)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211251" y="7920726"/>
            <a:ext cx="819302" cy="398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4"/>
              </a:lnSpc>
            </a:pPr>
            <a:r>
              <a:rPr lang="en-US" b="true" sz="1167">
                <a:solidFill>
                  <a:srgbClr val="0033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INDUSTRY ALIGNED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2340864" y="9244676"/>
            <a:ext cx="10226650" cy="2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1486" b="true">
                <a:solidFill>
                  <a:srgbClr val="00332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leaner, smarter assessment that drives better decisions, stronger controls and measurable risk reduction.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DAHTf8qspHk</dc:identifier>
  <dcterms:modified xsi:type="dcterms:W3CDTF">2011-08-01T06:04:30Z</dcterms:modified>
  <cp:revision>1</cp:revision>
</cp:coreProperties>
</file>