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4630400" cy="9753600"/>
  <p:notesSz cx="6858000" cy="9144000"/>
  <p:embeddedFontLst>
    <p:embeddedFont>
      <p:font typeface="Calibri (MS)" charset="1" panose="020F050202020403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53600"/>
          </a:xfrm>
          <a:custGeom>
            <a:avLst/>
            <a:gdLst/>
            <a:ahLst/>
            <a:cxnLst/>
            <a:rect r="r" b="b" t="t" l="l"/>
            <a:pathLst>
              <a:path h="9753600" w="146304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3561" y="164651"/>
            <a:ext cx="6150054" cy="84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6"/>
              </a:lnSpc>
            </a:pPr>
            <a:r>
              <a:rPr lang="en-US" sz="3687" spc="114">
                <a:solidFill>
                  <a:srgbClr val="0C2138"/>
                </a:solidFill>
                <a:latin typeface="Calibri (MS)"/>
                <a:ea typeface="Calibri (MS)"/>
                <a:cs typeface="Calibri (MS)"/>
                <a:sym typeface="Calibri (MS)"/>
              </a:rPr>
              <a:t>How the Questionnaire Works</a:t>
            </a:r>
          </a:p>
          <a:p>
            <a:pPr algn="l">
              <a:lnSpc>
                <a:spcPts val="1775"/>
              </a:lnSpc>
            </a:pPr>
            <a:r>
              <a:rPr lang="en-US" sz="1495" spc="59">
                <a:solidFill>
                  <a:srgbClr val="53895E"/>
                </a:solidFill>
                <a:latin typeface="Calibri (MS)"/>
                <a:ea typeface="Calibri (MS)"/>
                <a:cs typeface="Calibri (MS)"/>
                <a:sym typeface="Calibri (MS)"/>
              </a:rPr>
              <a:t>A PROGRESSIVE, RISK-BASED ASSESSMENT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4325" y="1253746"/>
            <a:ext cx="4623673" cy="40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6"/>
              </a:lnSpc>
            </a:pPr>
            <a:r>
              <a:rPr lang="en-US" sz="1255" spc="15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One integrated questionnaire with three layers of depth.</a:t>
            </a:r>
          </a:p>
          <a:p>
            <a:pPr algn="l">
              <a:lnSpc>
                <a:spcPts val="1546"/>
              </a:lnSpc>
            </a:pPr>
            <a:r>
              <a:rPr lang="en-US" sz="1255" spc="15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Go as deep as required. Stop when you have the assurance you need.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7679" y="444442"/>
            <a:ext cx="528042" cy="17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1"/>
              </a:lnSpc>
            </a:pPr>
            <a:r>
              <a:rPr lang="en-US" sz="950" spc="74">
                <a:solidFill>
                  <a:srgbClr val="245E3C"/>
                </a:solidFill>
                <a:latin typeface="Calibri (MS)"/>
                <a:ea typeface="Calibri (MS)"/>
                <a:cs typeface="Calibri (MS)"/>
                <a:sym typeface="Calibri (MS)"/>
              </a:rPr>
              <a:t>PURPOSE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67850" y="687897"/>
            <a:ext cx="2635448" cy="53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1"/>
              </a:lnSpc>
            </a:pPr>
            <a:r>
              <a:rPr lang="en-US" sz="1016" spc="20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Obtain a trusted view of cyber security maturity</a:t>
            </a:r>
          </a:p>
          <a:p>
            <a:pPr algn="l">
              <a:lnSpc>
                <a:spcPts val="1401"/>
              </a:lnSpc>
            </a:pPr>
            <a:r>
              <a:rPr lang="en-US" sz="1016" spc="20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in a proportionate way-balancing depth of</a:t>
            </a:r>
          </a:p>
          <a:p>
            <a:pPr algn="l">
              <a:lnSpc>
                <a:spcPts val="1401"/>
              </a:lnSpc>
            </a:pPr>
            <a:r>
              <a:rPr lang="en-US" sz="1016" spc="20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assurance with assessment effort.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6697" y="2569928"/>
            <a:ext cx="243007" cy="19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5"/>
              </a:lnSpc>
            </a:pPr>
            <a:r>
              <a:rPr lang="en-US" sz="1003" spc="37">
                <a:solidFill>
                  <a:srgbClr val="1C2A4F"/>
                </a:solidFill>
                <a:latin typeface="Calibri (MS)"/>
                <a:ea typeface="Calibri (MS)"/>
                <a:cs typeface="Calibri (MS)"/>
                <a:sym typeface="Calibri (MS)"/>
              </a:rPr>
              <a:t>ONE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94040" y="2088845"/>
            <a:ext cx="1174671" cy="21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1"/>
              </a:lnSpc>
            </a:pPr>
            <a:r>
              <a:rPr lang="en-US" sz="1079" spc="52">
                <a:solidFill>
                  <a:srgbClr val="CCDDD4"/>
                </a:solidFill>
                <a:latin typeface="Calibri (MS)"/>
                <a:ea typeface="Calibri (MS)"/>
                <a:cs typeface="Calibri (MS)"/>
                <a:sym typeface="Calibri (MS)"/>
              </a:rPr>
              <a:t>CORE ASSESSMENT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07528" y="2437172"/>
            <a:ext cx="1547693" cy="191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7"/>
              </a:lnSpc>
            </a:pPr>
            <a:r>
              <a:rPr lang="en-US" sz="1069" spc="-4">
                <a:solidFill>
                  <a:srgbClr val="245E3C"/>
                </a:solidFill>
                <a:latin typeface="Calibri (MS)"/>
                <a:ea typeface="Calibri (MS)"/>
                <a:cs typeface="Calibri (MS)"/>
                <a:sym typeface="Calibri (MS)"/>
              </a:rPr>
              <a:t>Level 1 - Base Questionnaire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04095" y="2070029"/>
            <a:ext cx="1526977" cy="21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6"/>
              </a:lnSpc>
            </a:pPr>
            <a:r>
              <a:rPr lang="en-US" sz="1076" spc="62">
                <a:solidFill>
                  <a:srgbClr val="E9E9F1"/>
                </a:solidFill>
                <a:latin typeface="Calibri (MS)"/>
                <a:ea typeface="Calibri (MS)"/>
                <a:cs typeface="Calibri (MS)"/>
                <a:sym typeface="Calibri (MS)"/>
              </a:rPr>
              <a:t>EXPANDED ASSESSMENT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66403" y="2427237"/>
            <a:ext cx="1573768" cy="21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6"/>
              </a:lnSpc>
            </a:pPr>
            <a:r>
              <a:rPr lang="en-US" sz="1075" spc="-4">
                <a:solidFill>
                  <a:srgbClr val="274E9E"/>
                </a:solidFill>
                <a:latin typeface="Calibri (MS)"/>
                <a:ea typeface="Calibri (MS)"/>
                <a:cs typeface="Calibri (MS)"/>
                <a:sym typeface="Calibri (MS)"/>
              </a:rPr>
              <a:t>Level 2 - Child Questionnaire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9095" y="2821486"/>
            <a:ext cx="918210" cy="17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942" spc="62">
                <a:solidFill>
                  <a:srgbClr val="1C2A4F"/>
                </a:solidFill>
                <a:latin typeface="Calibri (MS)"/>
                <a:ea typeface="Calibri (MS)"/>
                <a:cs typeface="Calibri (MS)"/>
                <a:sym typeface="Calibri (MS)"/>
              </a:rPr>
              <a:t>QUESTIONNAIRE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2212" y="3052344"/>
            <a:ext cx="562451" cy="184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4"/>
              </a:lnSpc>
            </a:pPr>
            <a:r>
              <a:rPr lang="en-US" sz="981" spc="53">
                <a:solidFill>
                  <a:srgbClr val="1C2A4F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43200" y="2939947"/>
            <a:ext cx="1559838" cy="40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6"/>
              </a:lnSpc>
            </a:pPr>
            <a:r>
              <a:rPr lang="en-US" sz="1251" spc="-5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What is the overall state</a:t>
            </a:r>
          </a:p>
          <a:p>
            <a:pPr algn="l">
              <a:lnSpc>
                <a:spcPts val="1506"/>
              </a:lnSpc>
            </a:pPr>
            <a:r>
              <a:rPr lang="en-US" sz="1251" spc="-5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of the control?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00943" y="2959656"/>
            <a:ext cx="1107638" cy="37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2"/>
              </a:lnSpc>
            </a:pPr>
            <a:r>
              <a:rPr lang="en-US" sz="1166" spc="45">
                <a:solidFill>
                  <a:srgbClr val="1C2A4F"/>
                </a:solidFill>
                <a:latin typeface="Calibri (MS)"/>
                <a:ea typeface="Calibri (MS)"/>
                <a:cs typeface="Calibri (MS)"/>
                <a:sym typeface="Calibri (MS)"/>
              </a:rPr>
              <a:t>What sits behind</a:t>
            </a:r>
          </a:p>
          <a:p>
            <a:pPr algn="l">
              <a:lnSpc>
                <a:spcPts val="1482"/>
              </a:lnSpc>
            </a:pPr>
            <a:r>
              <a:rPr lang="en-US" sz="1166" spc="45">
                <a:solidFill>
                  <a:srgbClr val="1C2A4F"/>
                </a:solidFill>
                <a:latin typeface="Calibri (MS)"/>
                <a:ea typeface="Calibri (MS)"/>
                <a:cs typeface="Calibri (MS)"/>
                <a:sym typeface="Calibri (MS)"/>
              </a:rPr>
              <a:t>that answer?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6164" y="3289330"/>
            <a:ext cx="453985" cy="17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4"/>
              </a:lnSpc>
            </a:pPr>
            <a:r>
              <a:rPr lang="en-US" sz="924" spc="104">
                <a:solidFill>
                  <a:srgbClr val="1C2A4F"/>
                </a:solidFill>
                <a:latin typeface="Calibri (MS)"/>
                <a:ea typeface="Calibri (MS)"/>
                <a:cs typeface="Calibri (MS)"/>
                <a:sym typeface="Calibri (MS)"/>
              </a:rPr>
              <a:t>DEPTHS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09220" y="3471866"/>
            <a:ext cx="1363385" cy="18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974" spc="18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31 core questions provide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52636" y="3646444"/>
            <a:ext cx="1227177" cy="32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"/>
              </a:lnSpc>
            </a:pPr>
            <a:r>
              <a:rPr lang="en-US" sz="925" spc="34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a high-level assessment</a:t>
            </a:r>
          </a:p>
          <a:p>
            <a:pPr algn="l">
              <a:lnSpc>
                <a:spcPts val="1231"/>
              </a:lnSpc>
            </a:pPr>
            <a:r>
              <a:rPr lang="en-US" sz="925" spc="34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across 8 risk domains.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00837" y="3458827"/>
            <a:ext cx="770728" cy="46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0"/>
              </a:lnSpc>
            </a:pPr>
            <a:r>
              <a:rPr lang="en-US" sz="879" spc="33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Need</a:t>
            </a:r>
          </a:p>
          <a:p>
            <a:pPr algn="ctr">
              <a:lnSpc>
                <a:spcPts val="1230"/>
              </a:lnSpc>
            </a:pPr>
            <a:r>
              <a:rPr lang="en-US" sz="879" spc="33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greater</a:t>
            </a:r>
          </a:p>
          <a:p>
            <a:pPr algn="ctr">
              <a:lnSpc>
                <a:spcPts val="1230"/>
              </a:lnSpc>
            </a:pPr>
            <a:r>
              <a:rPr lang="en-US" sz="879" spc="33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understanding?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96072" y="3470950"/>
            <a:ext cx="1693069" cy="504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1"/>
              </a:lnSpc>
            </a:pPr>
            <a:r>
              <a:rPr lang="en-US" sz="988" spc="9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Child questions unpack the</a:t>
            </a:r>
          </a:p>
          <a:p>
            <a:pPr algn="l">
              <a:lnSpc>
                <a:spcPts val="1341"/>
              </a:lnSpc>
            </a:pPr>
            <a:r>
              <a:rPr lang="en-US" sz="988" spc="9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core question into its underlying</a:t>
            </a:r>
          </a:p>
          <a:p>
            <a:pPr algn="l">
              <a:lnSpc>
                <a:spcPts val="1341"/>
              </a:lnSpc>
            </a:pPr>
            <a:r>
              <a:rPr lang="en-US" sz="988" spc="9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 components.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95385" y="3459707"/>
            <a:ext cx="259080" cy="176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7"/>
              </a:lnSpc>
            </a:pPr>
            <a:r>
              <a:rPr lang="en-US" sz="941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Need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49285" y="3662110"/>
            <a:ext cx="532225" cy="26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9"/>
              </a:lnSpc>
            </a:pPr>
            <a:r>
              <a:rPr lang="en-US" sz="827" spc="44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greater</a:t>
            </a:r>
          </a:p>
          <a:p>
            <a:pPr algn="ctr">
              <a:lnSpc>
                <a:spcPts val="1089"/>
              </a:lnSpc>
            </a:pPr>
            <a:r>
              <a:rPr lang="en-US" sz="827" spc="44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assurance?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60858" y="4395891"/>
            <a:ext cx="1526738" cy="20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7"/>
              </a:lnSpc>
            </a:pPr>
            <a:r>
              <a:rPr lang="en-US" sz="1048" spc="8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Self-assessed maturity (0-5)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02525" y="4658757"/>
            <a:ext cx="1214676" cy="2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2"/>
              </a:lnSpc>
            </a:pPr>
            <a:r>
              <a:rPr lang="en-US" sz="1108" spc="-6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Justification / context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34075" y="4344772"/>
            <a:ext cx="2109788" cy="41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"/>
              </a:lnSpc>
            </a:pPr>
            <a:r>
              <a:rPr lang="en-US" sz="1028" spc="7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Deeper inquiry into control dimensions</a:t>
            </a:r>
          </a:p>
          <a:p>
            <a:pPr algn="l">
              <a:lnSpc>
                <a:spcPts val="1582"/>
              </a:lnSpc>
            </a:pPr>
            <a:r>
              <a:rPr lang="en-US" sz="1028" spc="7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Greater challenge to the response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06499" y="4838014"/>
            <a:ext cx="1379339" cy="20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060" spc="-7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Can conclude at this layer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53126" y="4939856"/>
            <a:ext cx="1589723" cy="20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4"/>
              </a:lnSpc>
            </a:pPr>
            <a:r>
              <a:rPr lang="en-US" sz="1032" spc="11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Applicable to all assessments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33090" y="5088234"/>
            <a:ext cx="819745" cy="35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3"/>
              </a:lnSpc>
            </a:pPr>
            <a:r>
              <a:rPr lang="en-US" sz="945" spc="58">
                <a:solidFill>
                  <a:srgbClr val="245E3C"/>
                </a:solidFill>
                <a:latin typeface="Calibri (MS)"/>
                <a:ea typeface="Calibri (MS)"/>
                <a:cs typeface="Calibri (MS)"/>
                <a:sym typeface="Calibri (MS)"/>
              </a:rPr>
              <a:t>DESIGNED FOR</a:t>
            </a:r>
          </a:p>
          <a:p>
            <a:pPr algn="ctr">
              <a:lnSpc>
                <a:spcPts val="1353"/>
              </a:lnSpc>
            </a:pPr>
            <a:r>
              <a:rPr lang="en-US" sz="945" spc="58">
                <a:solidFill>
                  <a:srgbClr val="245E3C"/>
                </a:solidFill>
                <a:latin typeface="Calibri (MS)"/>
                <a:ea typeface="Calibri (MS)"/>
                <a:cs typeface="Calibri (MS)"/>
                <a:sym typeface="Calibri (MS)"/>
              </a:rPr>
              <a:t>FLEXIBILITY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985504" y="5105737"/>
            <a:ext cx="182642" cy="20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044">
                <a:solidFill>
                  <a:srgbClr val="245E3C"/>
                </a:solidFill>
                <a:latin typeface="Calibri (MS)"/>
                <a:ea typeface="Calibri (MS)"/>
                <a:cs typeface="Calibri (MS)"/>
                <a:sym typeface="Calibri (MS)"/>
              </a:rPr>
              <a:t>Yes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981732" y="5088624"/>
            <a:ext cx="1152644" cy="19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9"/>
              </a:lnSpc>
            </a:pPr>
            <a:r>
              <a:rPr lang="en-US" sz="1014" spc="9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No evidence required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824079" y="5105737"/>
            <a:ext cx="182642" cy="20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044">
                <a:solidFill>
                  <a:srgbClr val="234795"/>
                </a:solidFill>
                <a:latin typeface="Calibri (MS)"/>
                <a:ea typeface="Calibri (MS)"/>
                <a:cs typeface="Calibri (MS)"/>
                <a:sym typeface="Calibri (MS)"/>
              </a:rPr>
              <a:t>Yes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65330" y="5195839"/>
            <a:ext cx="1812965" cy="20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1"/>
              </a:lnSpc>
            </a:pPr>
            <a:r>
              <a:rPr lang="en-US" sz="1050" spc="10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Low burden - fast and consistent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995154" y="5343484"/>
            <a:ext cx="1859042" cy="20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sz="1050" spc="5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More understanding, not an audit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86694" y="5674633"/>
            <a:ext cx="712946" cy="21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0"/>
              </a:lnSpc>
            </a:pPr>
            <a:r>
              <a:rPr lang="en-US" sz="1085" spc="-6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Use the right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63114" y="5892974"/>
            <a:ext cx="721400" cy="21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6"/>
              </a:lnSpc>
            </a:pPr>
            <a:r>
              <a:rPr lang="en-US" sz="1097" spc="-18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depth for the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68809" y="6126528"/>
            <a:ext cx="748308" cy="20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6"/>
              </a:lnSpc>
            </a:pPr>
            <a:r>
              <a:rPr lang="en-US" sz="1019" spc="10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risk, criticality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81847" y="6331112"/>
            <a:ext cx="684728" cy="20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1"/>
              </a:lnSpc>
            </a:pPr>
            <a:r>
              <a:rPr lang="en-US" sz="1022" spc="16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and purpose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68570" y="6534569"/>
            <a:ext cx="739259" cy="20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0"/>
              </a:lnSpc>
            </a:pPr>
            <a:r>
              <a:rPr lang="en-US" sz="1043" spc="-4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of the review.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1819" y="9112210"/>
            <a:ext cx="804386" cy="20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5"/>
              </a:lnSpc>
            </a:pPr>
            <a:r>
              <a:rPr lang="en-US" sz="1025" spc="46">
                <a:solidFill>
                  <a:srgbClr val="CCDDD4"/>
                </a:solidFill>
                <a:latin typeface="Calibri (MS)"/>
                <a:ea typeface="Calibri (MS)"/>
                <a:cs typeface="Calibri (MS)"/>
                <a:sym typeface="Calibri (MS)"/>
              </a:rPr>
              <a:t>KEY MESSAGE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549338" y="5855182"/>
            <a:ext cx="502024" cy="16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9"/>
              </a:lnSpc>
            </a:pPr>
            <a:r>
              <a:rPr lang="en-US" sz="792" spc="74">
                <a:solidFill>
                  <a:srgbClr val="CCDDD4"/>
                </a:solidFill>
                <a:latin typeface="Calibri (MS)"/>
                <a:ea typeface="Calibri (MS)"/>
                <a:cs typeface="Calibri (MS)"/>
                <a:sym typeface="Calibri (MS)"/>
              </a:rPr>
              <a:t>OUTCOME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568810" y="6047494"/>
            <a:ext cx="1596747" cy="18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4"/>
              </a:lnSpc>
            </a:pPr>
            <a:r>
              <a:rPr lang="en-US" sz="988" spc="7">
                <a:solidFill>
                  <a:srgbClr val="CCDDD4"/>
                </a:solidFill>
                <a:latin typeface="Calibri (MS)"/>
                <a:ea typeface="Calibri (MS)"/>
                <a:cs typeface="Calibri (MS)"/>
                <a:sym typeface="Calibri (MS)"/>
              </a:rPr>
              <a:t>Broad view of control maturity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291773" y="5850420"/>
            <a:ext cx="513241" cy="16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9"/>
              </a:lnSpc>
            </a:pPr>
            <a:r>
              <a:rPr lang="en-US" sz="792" spc="87">
                <a:solidFill>
                  <a:srgbClr val="D0DDED"/>
                </a:solidFill>
                <a:latin typeface="Calibri (MS)"/>
                <a:ea typeface="Calibri (MS)"/>
                <a:cs typeface="Calibri (MS)"/>
                <a:sym typeface="Calibri (MS)"/>
              </a:rPr>
              <a:t>OUTCOME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349199" y="6046437"/>
            <a:ext cx="1951077" cy="1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2"/>
              </a:lnSpc>
            </a:pPr>
            <a:r>
              <a:rPr lang="en-US" sz="930" spc="25">
                <a:solidFill>
                  <a:srgbClr val="C9D8EB"/>
                </a:solidFill>
                <a:latin typeface="Calibri (MS)"/>
                <a:ea typeface="Calibri (MS)"/>
                <a:cs typeface="Calibri (MS)"/>
                <a:sym typeface="Calibri (MS)"/>
              </a:rPr>
              <a:t>Deeper understanding and confidence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590801" y="6622045"/>
            <a:ext cx="1372890" cy="502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865" spc="18">
                <a:solidFill>
                  <a:srgbClr val="245E3C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EVIDENCE CONFIDENCE</a:t>
            </a:r>
          </a:p>
          <a:p>
            <a:pPr algn="l">
              <a:lnSpc>
                <a:spcPts val="1350"/>
              </a:lnSpc>
            </a:pPr>
            <a:r>
              <a:rPr lang="en-US" sz="865" spc="18">
                <a:solidFill>
                  <a:srgbClr val="245E3C"/>
                </a:solidFill>
                <a:latin typeface="Calibri (MS)"/>
                <a:ea typeface="Calibri (MS)"/>
                <a:cs typeface="Calibri (MS)"/>
                <a:sym typeface="Calibri (MS)"/>
              </a:rPr>
              <a:t>Strength of assurance behind</a:t>
            </a:r>
          </a:p>
          <a:p>
            <a:pPr algn="l">
              <a:lnSpc>
                <a:spcPts val="1350"/>
              </a:lnSpc>
            </a:pPr>
            <a:r>
              <a:rPr lang="en-US" sz="865" spc="18">
                <a:solidFill>
                  <a:srgbClr val="245E3C"/>
                </a:solidFill>
                <a:latin typeface="Calibri (MS)"/>
                <a:ea typeface="Calibri (MS)"/>
                <a:cs typeface="Calibri (MS)"/>
                <a:sym typeface="Calibri (MS)"/>
              </a:rPr>
              <a:t>the response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517081" y="7025623"/>
            <a:ext cx="748012" cy="165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9"/>
              </a:lnSpc>
            </a:pPr>
            <a:r>
              <a:rPr lang="en-US" sz="885" spc="14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Self-declaration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906023" y="7020421"/>
            <a:ext cx="770379" cy="166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"/>
              </a:lnSpc>
            </a:pPr>
            <a:r>
              <a:rPr lang="en-US" sz="892" spc="31">
                <a:solidFill>
                  <a:srgbClr val="1C2A4F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Documentation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372838" y="1973696"/>
            <a:ext cx="313849" cy="43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293" spc="73">
                <a:solidFill>
                  <a:srgbClr val="E9E9F1"/>
                </a:solidFill>
                <a:latin typeface="Calibri (MS)"/>
                <a:ea typeface="Calibri (MS)"/>
                <a:cs typeface="Calibri (MS)"/>
                <a:sym typeface="Calibri (MS)"/>
              </a:rPr>
              <a:t>03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351929" y="7026903"/>
            <a:ext cx="745513" cy="162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1"/>
              </a:lnSpc>
            </a:pPr>
            <a:r>
              <a:rPr lang="en-US" sz="865" spc="43">
                <a:solidFill>
                  <a:srgbClr val="253562"/>
                </a:solidFill>
                <a:latin typeface="Calibri (MS)"/>
                <a:ea typeface="Calibri (MS)"/>
                <a:cs typeface="Calibri (MS)"/>
                <a:sym typeface="Calibri (MS)"/>
              </a:rPr>
              <a:t>Demonstration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709351" y="7026357"/>
            <a:ext cx="964548" cy="1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sz="873" spc="22">
                <a:solidFill>
                  <a:srgbClr val="1C2A4F"/>
                </a:solidFill>
                <a:latin typeface="Calibri (MS)"/>
                <a:ea typeface="Calibri (MS)"/>
                <a:cs typeface="Calibri (MS)"/>
                <a:sym typeface="Calibri (MS)"/>
              </a:rPr>
              <a:t>Technical Validation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200799" y="2086883"/>
            <a:ext cx="1839278" cy="20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4"/>
              </a:lnSpc>
            </a:pPr>
            <a:r>
              <a:rPr lang="en-US" sz="1110" spc="37">
                <a:solidFill>
                  <a:srgbClr val="E9E9F1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EVIDENCE-BASED ASSURANCE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62771" y="2432987"/>
            <a:ext cx="1677234" cy="20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4"/>
              </a:lnSpc>
            </a:pPr>
            <a:r>
              <a:rPr lang="en-US" sz="1060" spc="-1">
                <a:solidFill>
                  <a:srgbClr val="46337C"/>
                </a:solidFill>
                <a:latin typeface="Calibri (MS)"/>
                <a:ea typeface="Calibri (MS)"/>
                <a:cs typeface="Calibri (MS)"/>
                <a:sym typeface="Calibri (MS)"/>
              </a:rPr>
              <a:t>Level 3 - Evidence &amp; Validation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447484" y="2910157"/>
            <a:ext cx="1762959" cy="10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1"/>
              </a:lnSpc>
            </a:pPr>
            <a:r>
              <a:rPr lang="en-US" sz="1060" spc="15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Can the answer</a:t>
            </a:r>
          </a:p>
          <a:p>
            <a:pPr algn="l">
              <a:lnSpc>
                <a:spcPts val="1651"/>
              </a:lnSpc>
            </a:pPr>
            <a:r>
              <a:rPr lang="en-US" sz="1060" spc="15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be substantiated?</a:t>
            </a:r>
          </a:p>
          <a:p>
            <a:pPr algn="l">
              <a:lnSpc>
                <a:spcPts val="1651"/>
              </a:lnSpc>
            </a:pPr>
            <a:r>
              <a:rPr lang="en-US" sz="1060" spc="15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Request and evaluate evidence</a:t>
            </a:r>
          </a:p>
          <a:p>
            <a:pPr algn="l">
              <a:lnSpc>
                <a:spcPts val="1651"/>
              </a:lnSpc>
            </a:pPr>
            <a:r>
              <a:rPr lang="en-US" sz="1060" spc="15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to validate the claimed</a:t>
            </a:r>
          </a:p>
          <a:p>
            <a:pPr algn="l">
              <a:lnSpc>
                <a:spcPts val="1651"/>
              </a:lnSpc>
            </a:pPr>
            <a:r>
              <a:rPr lang="en-US" sz="1060" spc="15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maturity.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724428" y="4364985"/>
            <a:ext cx="2311956" cy="110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8"/>
              </a:lnSpc>
            </a:pPr>
            <a:r>
              <a:rPr lang="en-US" sz="1045" spc="9">
                <a:solidFill>
                  <a:srgbClr val="46337C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Evidence requested proportionately</a:t>
            </a:r>
          </a:p>
          <a:p>
            <a:pPr algn="l">
              <a:lnSpc>
                <a:spcPts val="1768"/>
              </a:lnSpc>
            </a:pPr>
            <a:r>
              <a:rPr lang="en-US" sz="1045" spc="9">
                <a:solidFill>
                  <a:srgbClr val="46337C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Validate through documents, artefacts,</a:t>
            </a:r>
          </a:p>
          <a:p>
            <a:pPr algn="l">
              <a:lnSpc>
                <a:spcPts val="1768"/>
              </a:lnSpc>
            </a:pPr>
            <a:r>
              <a:rPr lang="en-US" sz="1045" spc="9">
                <a:solidFill>
                  <a:srgbClr val="46337C"/>
                </a:solidFill>
                <a:latin typeface="Calibri (MS)"/>
                <a:ea typeface="Calibri (MS)"/>
                <a:cs typeface="Calibri (MS)"/>
                <a:sym typeface="Calibri (MS)"/>
              </a:rPr>
              <a:t>reports, demonstrations, technical testing</a:t>
            </a:r>
          </a:p>
          <a:p>
            <a:pPr algn="l">
              <a:lnSpc>
                <a:spcPts val="1768"/>
              </a:lnSpc>
            </a:pPr>
            <a:r>
              <a:rPr lang="en-US" sz="1045" spc="9">
                <a:solidFill>
                  <a:srgbClr val="46337C"/>
                </a:solidFill>
                <a:latin typeface="Calibri (MS)"/>
                <a:ea typeface="Calibri (MS)"/>
                <a:cs typeface="Calibri (MS)"/>
                <a:sym typeface="Calibri (MS)"/>
              </a:rPr>
              <a:t>Higher confidence in the assessment</a:t>
            </a:r>
          </a:p>
          <a:p>
            <a:pPr algn="l">
              <a:lnSpc>
                <a:spcPts val="1768"/>
              </a:lnSpc>
            </a:pPr>
            <a:r>
              <a:rPr lang="en-US" sz="1045" spc="9">
                <a:solidFill>
                  <a:srgbClr val="46337C"/>
                </a:solidFill>
                <a:latin typeface="Calibri (MS)"/>
                <a:ea typeface="Calibri (MS)"/>
                <a:cs typeface="Calibri (MS)"/>
                <a:sym typeface="Calibri (MS)"/>
              </a:rPr>
              <a:t>Mapped to Evidence Confidence (A-D)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085657" y="5834268"/>
            <a:ext cx="507468" cy="14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0"/>
              </a:lnSpc>
            </a:pPr>
            <a:r>
              <a:rPr lang="en-US" sz="821" spc="62">
                <a:solidFill>
                  <a:srgbClr val="E9E9F1"/>
                </a:solidFill>
                <a:latin typeface="Calibri (MS)"/>
                <a:ea typeface="Calibri (MS)"/>
                <a:cs typeface="Calibri (MS)"/>
                <a:sym typeface="Calibri (MS)"/>
              </a:rPr>
              <a:t>OUTCOME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112633" y="6022464"/>
            <a:ext cx="1787009" cy="19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1"/>
              </a:lnSpc>
            </a:pPr>
            <a:r>
              <a:rPr lang="en-US" sz="1008" spc="8">
                <a:solidFill>
                  <a:srgbClr val="D7CCE4"/>
                </a:solidFill>
                <a:latin typeface="Calibri (MS)"/>
                <a:ea typeface="Calibri (MS)"/>
                <a:cs typeface="Calibri (MS)"/>
                <a:sym typeface="Calibri (MS)"/>
              </a:rPr>
              <a:t>Assurance through substantiation</a:t>
            </a:r>
          </a:p>
        </p:txBody>
      </p:sp>
      <p:sp>
        <p:nvSpPr>
          <p:cNvPr name="TextBox 56" id="56"/>
          <p:cNvSpPr txBox="true"/>
          <p:nvPr/>
        </p:nvSpPr>
        <p:spPr>
          <a:xfrm rot="-5400000">
            <a:off x="12499304" y="2730942"/>
            <a:ext cx="838200" cy="58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9"/>
              </a:lnSpc>
            </a:pPr>
            <a:r>
              <a:rPr lang="en-US" sz="3092" spc="470">
                <a:solidFill>
                  <a:srgbClr val="264132"/>
                </a:solidFill>
                <a:latin typeface="Calibri (MS)"/>
                <a:ea typeface="Calibri (MS)"/>
                <a:cs typeface="Calibri (MS)"/>
                <a:sym typeface="Calibri (MS)"/>
              </a:rPr>
              <a:t>X 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099911" y="1471140"/>
            <a:ext cx="822603" cy="20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0"/>
              </a:lnSpc>
            </a:pPr>
            <a:r>
              <a:rPr lang="en-US" sz="1057" spc="38">
                <a:solidFill>
                  <a:srgbClr val="245E3C"/>
                </a:solidFill>
                <a:latin typeface="Calibri (MS)"/>
                <a:ea typeface="Calibri (MS)"/>
                <a:cs typeface="Calibri (MS)"/>
                <a:sym typeface="Calibri (MS)"/>
              </a:rPr>
              <a:t>WHAT DRIVES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292018" y="1723162"/>
            <a:ext cx="457438" cy="18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4"/>
              </a:lnSpc>
            </a:pPr>
            <a:r>
              <a:rPr lang="en-US" sz="988" spc="74">
                <a:solidFill>
                  <a:srgbClr val="245E3C"/>
                </a:solidFill>
                <a:latin typeface="Calibri (MS)"/>
                <a:ea typeface="Calibri (MS)"/>
                <a:cs typeface="Calibri (MS)"/>
                <a:sym typeface="Calibri (MS)"/>
              </a:rPr>
              <a:t>DEPTH?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218633" y="2189471"/>
            <a:ext cx="699611" cy="17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"/>
              </a:lnSpc>
            </a:pPr>
            <a:r>
              <a:rPr lang="en-US" sz="920" spc="9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Risk/Criticality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235776" y="2702038"/>
            <a:ext cx="893774" cy="16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2"/>
              </a:lnSpc>
            </a:pPr>
            <a:r>
              <a:rPr lang="en-US" sz="873" spc="11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Concerns/Red flags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218698" y="3203900"/>
            <a:ext cx="661443" cy="15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2"/>
              </a:lnSpc>
            </a:pPr>
            <a:r>
              <a:rPr lang="en-US" sz="844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Inconsistencies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191569" y="3662554"/>
            <a:ext cx="993938" cy="27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"/>
              </a:lnSpc>
            </a:pPr>
            <a:r>
              <a:rPr lang="en-US" sz="784" spc="15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Regulatory/Contractual</a:t>
            </a:r>
          </a:p>
          <a:p>
            <a:pPr algn="l">
              <a:lnSpc>
                <a:spcPts val="1021"/>
              </a:lnSpc>
            </a:pPr>
            <a:r>
              <a:rPr lang="en-US" sz="784" spc="15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requirements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231045" y="4262010"/>
            <a:ext cx="922277" cy="148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4"/>
              </a:lnSpc>
            </a:pPr>
            <a:r>
              <a:rPr lang="en-US" sz="831" spc="-8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Purpose of the review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868244" y="6251657"/>
            <a:ext cx="1285919" cy="150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8"/>
              </a:lnSpc>
            </a:pPr>
            <a:r>
              <a:rPr lang="en-US" sz="848" spc="33">
                <a:solidFill>
                  <a:srgbClr val="245E3C"/>
                </a:solidFill>
                <a:latin typeface="Calibri (MS)"/>
                <a:ea typeface="Calibri (MS)"/>
                <a:cs typeface="Calibri (MS)"/>
                <a:sym typeface="Calibri (MS)"/>
              </a:rPr>
              <a:t>RISK-WEIGHTED OUTCOME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843926" y="6622094"/>
            <a:ext cx="1345525" cy="52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3"/>
              </a:lnSpc>
            </a:pPr>
            <a:r>
              <a:rPr lang="en-US" sz="902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2LOD Verified Maturity Level</a:t>
            </a:r>
          </a:p>
          <a:p>
            <a:pPr algn="ctr">
              <a:lnSpc>
                <a:spcPts val="1413"/>
              </a:lnSpc>
            </a:pPr>
            <a:r>
              <a:rPr lang="en-US" sz="902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x Control Criticality Weight</a:t>
            </a:r>
          </a:p>
          <a:p>
            <a:pPr algn="ctr">
              <a:lnSpc>
                <a:spcPts val="1413"/>
              </a:lnSpc>
            </a:pPr>
            <a:r>
              <a:rPr lang="en-US" sz="902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= Calculated Weighted Score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348347" y="7484280"/>
            <a:ext cx="2066806" cy="19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7"/>
              </a:lnSpc>
            </a:pPr>
            <a:r>
              <a:rPr lang="en-US" sz="1012" spc="26">
                <a:solidFill>
                  <a:srgbClr val="1C2A4F"/>
                </a:solidFill>
                <a:latin typeface="Calibri (MS)"/>
                <a:ea typeface="Calibri (MS)"/>
                <a:cs typeface="Calibri (MS)"/>
                <a:sym typeface="Calibri (MS)"/>
              </a:rPr>
              <a:t>2LOD CHALLENGE AND VERIFICATION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859068" y="7801464"/>
            <a:ext cx="759766" cy="166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"/>
              </a:lnSpc>
            </a:pPr>
            <a:r>
              <a:rPr lang="en-US" sz="892" spc="26">
                <a:solidFill>
                  <a:srgbClr val="245E3C"/>
                </a:solidFill>
                <a:latin typeface="Calibri (MS)"/>
                <a:ea typeface="Calibri (MS)"/>
                <a:cs typeface="Calibri (MS)"/>
                <a:sym typeface="Calibri (MS)"/>
              </a:rPr>
              <a:t>2LoD Challenge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858228" y="8006056"/>
            <a:ext cx="1142045" cy="146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8"/>
              </a:lnSpc>
            </a:pPr>
            <a:r>
              <a:rPr lang="en-US" sz="820" spc="18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Independently challenges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305050" y="7853701"/>
            <a:ext cx="1055375" cy="592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sz="894" spc="17">
                <a:solidFill>
                  <a:srgbClr val="245E3C"/>
                </a:solidFill>
                <a:latin typeface="Calibri (MS)"/>
                <a:ea typeface="Calibri (MS)"/>
                <a:cs typeface="Calibri (MS)"/>
                <a:sym typeface="Calibri (MS)"/>
              </a:rPr>
              <a:t>1LoD Self-Assessment</a:t>
            </a:r>
          </a:p>
          <a:p>
            <a:pPr algn="l">
              <a:lnSpc>
                <a:spcPts val="1165"/>
              </a:lnSpc>
            </a:pPr>
            <a:r>
              <a:rPr lang="en-US" sz="826" spc="11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maturity level</a:t>
            </a:r>
          </a:p>
          <a:p>
            <a:pPr algn="l">
              <a:lnSpc>
                <a:spcPts val="1165"/>
              </a:lnSpc>
            </a:pPr>
            <a:r>
              <a:rPr lang="en-US" sz="826" spc="11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based on the selected</a:t>
            </a:r>
          </a:p>
          <a:p>
            <a:pPr algn="l">
              <a:lnSpc>
                <a:spcPts val="1165"/>
              </a:lnSpc>
            </a:pPr>
            <a:r>
              <a:rPr lang="en-US" sz="826" spc="11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depth of assessment.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799726" y="8159866"/>
            <a:ext cx="966331" cy="40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5"/>
              </a:lnSpc>
            </a:pPr>
            <a:r>
              <a:rPr lang="en-US" sz="835" spc="8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the response, reviews</a:t>
            </a:r>
          </a:p>
          <a:p>
            <a:pPr algn="l">
              <a:lnSpc>
                <a:spcPts val="1065"/>
              </a:lnSpc>
            </a:pPr>
            <a:r>
              <a:rPr lang="en-US" sz="835" spc="8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evidence (if any) and</a:t>
            </a:r>
          </a:p>
          <a:p>
            <a:pPr algn="l">
              <a:lnSpc>
                <a:spcPts val="1065"/>
              </a:lnSpc>
            </a:pPr>
            <a:r>
              <a:rPr lang="en-US" sz="835" spc="8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considers context.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7409185" y="7803692"/>
            <a:ext cx="1308126" cy="741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960" spc="1">
                <a:solidFill>
                  <a:srgbClr val="245E3C"/>
                </a:solidFill>
                <a:latin typeface="Calibri (MS)"/>
                <a:ea typeface="Calibri (MS)"/>
                <a:cs typeface="Calibri (MS)"/>
                <a:sym typeface="Calibri (MS)"/>
              </a:rPr>
              <a:t>2LOD Verified Maturity</a:t>
            </a:r>
          </a:p>
          <a:p>
            <a:pPr algn="l">
              <a:lnSpc>
                <a:spcPts val="1267"/>
              </a:lnSpc>
            </a:pPr>
            <a:r>
              <a:rPr lang="en-US" sz="960" spc="1">
                <a:solidFill>
                  <a:srgbClr val="245E3C"/>
                </a:solidFill>
                <a:latin typeface="Calibri (MS)"/>
                <a:ea typeface="Calibri (MS)"/>
                <a:cs typeface="Calibri (MS)"/>
                <a:sym typeface="Calibri (MS)"/>
              </a:rPr>
              <a:t>Level</a:t>
            </a:r>
          </a:p>
          <a:p>
            <a:pPr algn="l">
              <a:lnSpc>
                <a:spcPts val="1147"/>
              </a:lnSpc>
            </a:pPr>
            <a:r>
              <a:rPr lang="en-US" sz="869" spc="-3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Determines the verified</a:t>
            </a:r>
          </a:p>
          <a:p>
            <a:pPr algn="l">
              <a:lnSpc>
                <a:spcPts val="1147"/>
              </a:lnSpc>
            </a:pPr>
            <a:r>
              <a:rPr lang="en-US" sz="869" spc="-3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maturity level (may be higher</a:t>
            </a:r>
          </a:p>
          <a:p>
            <a:pPr algn="l">
              <a:lnSpc>
                <a:spcPts val="1147"/>
              </a:lnSpc>
            </a:pPr>
            <a:r>
              <a:rPr lang="en-US" sz="869" spc="-3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or lower than self-assessed).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080921" y="7816667"/>
            <a:ext cx="1365052" cy="74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6"/>
              </a:lnSpc>
            </a:pPr>
            <a:r>
              <a:rPr lang="en-US" sz="970" spc="-1">
                <a:solidFill>
                  <a:srgbClr val="245E3C"/>
                </a:solidFill>
                <a:latin typeface="Calibri (MS)"/>
                <a:ea typeface="Calibri (MS)"/>
                <a:cs typeface="Calibri (MS)"/>
                <a:sym typeface="Calibri (MS)"/>
              </a:rPr>
              <a:t>Risk-Weighted Scoring</a:t>
            </a:r>
          </a:p>
          <a:p>
            <a:pPr algn="l">
              <a:lnSpc>
                <a:spcPts val="1186"/>
              </a:lnSpc>
            </a:pPr>
            <a:r>
              <a:rPr lang="en-US" sz="902" spc="-4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Verified maturity is combined</a:t>
            </a:r>
          </a:p>
          <a:p>
            <a:pPr algn="l">
              <a:lnSpc>
                <a:spcPts val="1186"/>
              </a:lnSpc>
            </a:pPr>
            <a:r>
              <a:rPr lang="en-US" sz="902" spc="-4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with control criticality weight</a:t>
            </a:r>
          </a:p>
          <a:p>
            <a:pPr algn="l">
              <a:lnSpc>
                <a:spcPts val="1186"/>
              </a:lnSpc>
            </a:pPr>
            <a:r>
              <a:rPr lang="en-US" sz="902" spc="-4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to produce the weighted</a:t>
            </a:r>
          </a:p>
          <a:p>
            <a:pPr algn="l">
              <a:lnSpc>
                <a:spcPts val="1186"/>
              </a:lnSpc>
            </a:pPr>
            <a:r>
              <a:rPr lang="en-US" sz="902" spc="-4">
                <a:solidFill>
                  <a:srgbClr val="354975"/>
                </a:solidFill>
                <a:latin typeface="Calibri (MS)"/>
                <a:ea typeface="Calibri (MS)"/>
                <a:cs typeface="Calibri (MS)"/>
                <a:sym typeface="Calibri (MS)"/>
              </a:rPr>
              <a:t>score.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870996" y="7558324"/>
            <a:ext cx="1251856" cy="46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1"/>
              </a:lnSpc>
            </a:pPr>
            <a:r>
              <a:rPr lang="en-US" sz="896" spc="6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Aggregated to domain and</a:t>
            </a:r>
          </a:p>
          <a:p>
            <a:pPr algn="ctr">
              <a:lnSpc>
                <a:spcPts val="1261"/>
              </a:lnSpc>
            </a:pPr>
            <a:r>
              <a:rPr lang="en-US" sz="896" spc="6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overall maturity view</a:t>
            </a:r>
          </a:p>
          <a:p>
            <a:pPr algn="ctr">
              <a:lnSpc>
                <a:spcPts val="1261"/>
              </a:lnSpc>
            </a:pPr>
            <a:r>
              <a:rPr lang="en-US" sz="896" spc="6">
                <a:solidFill>
                  <a:srgbClr val="323334"/>
                </a:solidFill>
                <a:latin typeface="Calibri (MS)"/>
                <a:ea typeface="Calibri (MS)"/>
                <a:cs typeface="Calibri (MS)"/>
                <a:sym typeface="Calibri (MS)"/>
              </a:rPr>
              <a:t>(N/A controls excluded)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705100" y="9020602"/>
            <a:ext cx="3862507" cy="42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268" spc="34">
                <a:solidFill>
                  <a:srgbClr val="C4DBB6"/>
                </a:solidFill>
                <a:latin typeface="Calibri (MS)"/>
                <a:ea typeface="Calibri (MS)"/>
                <a:cs typeface="Calibri (MS)"/>
                <a:sym typeface="Calibri (MS)"/>
              </a:rPr>
              <a:t>The assessment can conclude at any layer -</a:t>
            </a:r>
          </a:p>
          <a:p>
            <a:pPr algn="l">
              <a:lnSpc>
                <a:spcPts val="1608"/>
              </a:lnSpc>
            </a:pPr>
            <a:r>
              <a:rPr lang="en-US" sz="1268" spc="34">
                <a:solidFill>
                  <a:srgbClr val="C4DBB6"/>
                </a:solidFill>
                <a:latin typeface="Calibri (MS)"/>
                <a:ea typeface="Calibri (MS)"/>
                <a:cs typeface="Calibri (MS)"/>
                <a:sym typeface="Calibri (MS)"/>
              </a:rPr>
              <a:t>depth is determined by the level of assurance required.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056927" y="9043227"/>
            <a:ext cx="717352" cy="1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1"/>
              </a:lnSpc>
            </a:pPr>
            <a:r>
              <a:rPr lang="en-US" sz="987">
                <a:solidFill>
                  <a:srgbClr val="CCDDD4"/>
                </a:solidFill>
                <a:latin typeface="Calibri (MS)"/>
                <a:ea typeface="Calibri (MS)"/>
                <a:cs typeface="Calibri (MS)"/>
                <a:sym typeface="Calibri (MS)"/>
              </a:rPr>
              <a:t>Proportionate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073694" y="9224099"/>
            <a:ext cx="597813" cy="176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9"/>
              </a:lnSpc>
            </a:pPr>
            <a:r>
              <a:rPr lang="en-US" sz="913" spc="10">
                <a:solidFill>
                  <a:srgbClr val="CCDDD4"/>
                </a:solidFill>
                <a:latin typeface="Calibri (MS)"/>
                <a:ea typeface="Calibri (MS)"/>
                <a:cs typeface="Calibri (MS)"/>
                <a:sym typeface="Calibri (MS)"/>
              </a:rPr>
              <a:t>and scalable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491908" y="9045124"/>
            <a:ext cx="602337" cy="32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09"/>
              </a:lnSpc>
            </a:pPr>
            <a:r>
              <a:rPr lang="en-US" sz="955" spc="0">
                <a:solidFill>
                  <a:srgbClr val="CCDDD4"/>
                </a:solidFill>
                <a:latin typeface="Calibri (MS)"/>
                <a:ea typeface="Calibri (MS)"/>
                <a:cs typeface="Calibri (MS)"/>
                <a:sym typeface="Calibri (MS)"/>
              </a:rPr>
              <a:t>Risk-aligned</a:t>
            </a:r>
          </a:p>
          <a:p>
            <a:pPr algn="just">
              <a:lnSpc>
                <a:spcPts val="1209"/>
              </a:lnSpc>
            </a:pPr>
            <a:r>
              <a:rPr lang="en-US" sz="955" spc="0">
                <a:solidFill>
                  <a:srgbClr val="CCDDD4"/>
                </a:solidFill>
                <a:latin typeface="Calibri (MS)"/>
                <a:ea typeface="Calibri (MS)"/>
                <a:cs typeface="Calibri (MS)"/>
                <a:sym typeface="Calibri (MS)"/>
              </a:rPr>
              <a:t>and focused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953686" y="9048383"/>
            <a:ext cx="760690" cy="30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4"/>
              </a:lnSpc>
            </a:pPr>
            <a:r>
              <a:rPr lang="en-US" sz="905" spc="16">
                <a:solidFill>
                  <a:srgbClr val="CCDDD4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Evidence-based</a:t>
            </a:r>
          </a:p>
          <a:p>
            <a:pPr algn="l">
              <a:lnSpc>
                <a:spcPts val="1164"/>
              </a:lnSpc>
            </a:pPr>
            <a:r>
              <a:rPr lang="en-US" sz="905" spc="16">
                <a:solidFill>
                  <a:srgbClr val="CCDDD4"/>
                </a:solidFill>
                <a:latin typeface="Calibri (MS)"/>
                <a:ea typeface="Calibri (MS)"/>
                <a:cs typeface="Calibri (MS)"/>
                <a:sym typeface="Calibri (MS)"/>
              </a:rPr>
              <a:t>confidence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601398" y="9046079"/>
            <a:ext cx="582454" cy="32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942" spc="13">
                <a:solidFill>
                  <a:srgbClr val="CCDDD4"/>
                </a:solidFill>
                <a:latin typeface="Calibri (MS)"/>
                <a:ea typeface="Calibri (MS)"/>
                <a:cs typeface="Calibri (MS)"/>
                <a:sym typeface="Calibri (MS)"/>
              </a:rPr>
              <a:t>Actionable</a:t>
            </a:r>
          </a:p>
          <a:p>
            <a:pPr algn="l">
              <a:lnSpc>
                <a:spcPts val="1202"/>
              </a:lnSpc>
            </a:pPr>
            <a:r>
              <a:rPr lang="en-US" sz="942" spc="13">
                <a:solidFill>
                  <a:srgbClr val="CCDDD4"/>
                </a:solidFill>
                <a:latin typeface="Calibri (MS)"/>
                <a:ea typeface="Calibri (MS)"/>
                <a:cs typeface="Calibri (MS)"/>
                <a:sym typeface="Calibri (MS)"/>
              </a:rPr>
              <a:t>and trusted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DAHUIYpNQGY</dc:identifier>
  <dcterms:modified xsi:type="dcterms:W3CDTF">2011-08-01T06:04:30Z</dcterms:modified>
  <cp:revision>1</cp:revision>
</cp:coreProperties>
</file>