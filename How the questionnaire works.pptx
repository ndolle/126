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B4332"/>
                </a:solidFill>
                <a:latin typeface="Aptos"/>
              </a:rPr>
              <a:t>A Progressive, Risk-Based Assessment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5C6B62"/>
                </a:solidFill>
                <a:latin typeface="Aptos"/>
              </a:rPr>
              <a:t>One framework. Variable depth. Evidence where warranted.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1018520" cy="320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246120" cy="324612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44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1737360"/>
            <a:ext cx="438912" cy="438912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1709928"/>
            <a:ext cx="2377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Aptos"/>
              </a:rPr>
              <a:t>CORE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788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F2A24"/>
                </a:solidFill>
                <a:latin typeface="Aptos"/>
              </a:rPr>
              <a:t>31 core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734056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Concise first-hand view of control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19272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10128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0–5 self-assessed 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95344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886200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Designed for efficient baseline 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88536"/>
            <a:ext cx="2606039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4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88536"/>
            <a:ext cx="2606039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B4332"/>
                </a:solidFill>
                <a:latin typeface="Aptos"/>
              </a:rPr>
              <a:t>CAN CONCLUDE 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389888"/>
            <a:ext cx="3246120" cy="3429000"/>
          </a:xfrm>
          <a:prstGeom prst="roundRect">
            <a:avLst/>
          </a:prstGeom>
          <a:solidFill>
            <a:srgbClr val="E2EDE5"/>
          </a:solidFill>
          <a:ln w="15240">
            <a:solidFill>
              <a:srgbClr val="44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26864" y="1554480"/>
            <a:ext cx="438912" cy="438912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155448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527048"/>
            <a:ext cx="2377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Aptos"/>
              </a:rPr>
              <a:t>EXPANDED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2103120"/>
            <a:ext cx="2788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F2A24"/>
                </a:solidFill>
                <a:latin typeface="Aptos"/>
              </a:rPr>
              <a:t>Child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560320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2551176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Expand the base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136391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3127248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Probe underlying control dimensions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3712463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3703320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Deeper inquiry and professional challenge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2312" y="4288536"/>
            <a:ext cx="2606039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4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4288536"/>
            <a:ext cx="2606039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B4332"/>
                </a:solidFill>
                <a:latin typeface="Aptos"/>
              </a:rPr>
              <a:t>CAN CONCLUDE HERE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188720"/>
            <a:ext cx="3246120" cy="3630168"/>
          </a:xfrm>
          <a:prstGeom prst="roundRect">
            <a:avLst/>
          </a:prstGeom>
          <a:solidFill>
            <a:srgbClr val="D5E6DB"/>
          </a:solidFill>
          <a:ln w="15240">
            <a:solidFill>
              <a:srgbClr val="44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94192" y="1353312"/>
            <a:ext cx="438912" cy="438912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35331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1325880"/>
            <a:ext cx="2377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Aptos"/>
              </a:rPr>
              <a:t>EVIDENCE-BASED ASSURANCE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1901952"/>
            <a:ext cx="2788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F2A24"/>
                </a:solidFill>
                <a:latin typeface="Aptos"/>
              </a:rPr>
              <a:t>Evidence where warranted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359152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2350008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Request and validate supporting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935224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2926080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Increase confidence in the assessment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511296"/>
            <a:ext cx="1645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B4332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9952" y="3502152"/>
            <a:ext cx="249631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0">
                <a:solidFill>
                  <a:srgbClr val="1F2A24"/>
                </a:solidFill>
                <a:latin typeface="Aptos"/>
              </a:rPr>
              <a:t>A–D evidence confidence / technical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4288536"/>
            <a:ext cx="2606039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4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4288536"/>
            <a:ext cx="2606039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B4332"/>
                </a:solidFill>
                <a:latin typeface="Aptos"/>
              </a:rPr>
              <a:t>HIGHEST ASSURANCE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68496" y="3017520"/>
            <a:ext cx="384048" cy="0"/>
          </a:xfrm>
          <a:prstGeom prst="line">
            <a:avLst/>
          </a:prstGeom>
          <a:ln w="30480">
            <a:solidFill>
              <a:srgbClr val="1B4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744968" y="2926080"/>
            <a:ext cx="374904" cy="0"/>
          </a:xfrm>
          <a:prstGeom prst="line">
            <a:avLst/>
          </a:prstGeom>
          <a:ln w="30480">
            <a:solidFill>
              <a:srgbClr val="1B4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325880" y="5001768"/>
            <a:ext cx="9555480" cy="4846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81328" y="5029200"/>
            <a:ext cx="923544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ptos"/>
              </a:rPr>
              <a:t>GO DEEPER WHERE WARRANTED BY  RISK  •  CRITICALITY  •  CONCERN  •  INCONSISTENCY  •  REVIEW PURPOSE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605272"/>
            <a:ext cx="10515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B4332"/>
                </a:solidFill>
                <a:latin typeface="Aptos"/>
              </a:rPr>
              <a:t>Increasing depth   →   Increasing assurance   →   Increasing assessment effort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34440" y="6035040"/>
            <a:ext cx="9738360" cy="493776"/>
          </a:xfrm>
          <a:prstGeom prst="roundRect">
            <a:avLst/>
          </a:prstGeom>
          <a:solidFill>
            <a:srgbClr val="F4F8F5"/>
          </a:solidFill>
          <a:ln>
            <a:solidFill>
              <a:srgbClr val="C8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17320" y="6053328"/>
            <a:ext cx="93726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F2A24"/>
                </a:solidFill>
                <a:latin typeface="Aptos"/>
              </a:rPr>
              <a:t>The assessment can conclude at any layer — depth is determined by the level of assurance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