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925800" cy="8953500"/>
  <p:notesSz cx="6858000" cy="9144000"/>
  <p:embeddedFontLst>
    <p:embeddedFont>
      <p:font typeface="Calibri (MS)" charset="1" panose="020F050202020403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5925800" cy="8963025"/>
          </a:xfrm>
          <a:custGeom>
            <a:avLst/>
            <a:gdLst/>
            <a:ahLst/>
            <a:cxnLst/>
            <a:rect r="r" b="b" t="t" l="l"/>
            <a:pathLst>
              <a:path h="8963025" w="15925800">
                <a:moveTo>
                  <a:pt x="0" y="0"/>
                </a:moveTo>
                <a:lnTo>
                  <a:pt x="15925800" y="0"/>
                </a:lnTo>
                <a:lnTo>
                  <a:pt x="15925800" y="8963025"/>
                </a:lnTo>
                <a:lnTo>
                  <a:pt x="0" y="896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" t="0" r="-5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600" y="137891"/>
            <a:ext cx="12536448" cy="101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5403" spc="75">
                <a:solidFill>
                  <a:srgbClr val="0D2818"/>
                </a:solidFill>
                <a:latin typeface="Calibri (MS)"/>
                <a:ea typeface="Calibri (MS)"/>
                <a:cs typeface="Calibri (MS)"/>
                <a:sym typeface="Calibri (MS)"/>
              </a:rPr>
              <a:t>What the Questionnaire Assesses</a:t>
            </a:r>
          </a:p>
          <a:p>
            <a:pPr algn="l">
              <a:lnSpc>
                <a:spcPts val="2227"/>
              </a:lnSpc>
            </a:pPr>
            <a:r>
              <a:rPr lang="en-US" sz="2419" spc="41">
                <a:solidFill>
                  <a:srgbClr val="2E7547"/>
                </a:solidFill>
                <a:latin typeface="Calibri (MS)"/>
                <a:ea typeface="Calibri (MS)"/>
                <a:cs typeface="Calibri (MS)"/>
                <a:sym typeface="Calibri (MS)"/>
              </a:rPr>
              <a:t>Enterprise-wide coverage across 8 interconnected cyber, operational and resilience risk domains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6700" y="1194244"/>
            <a:ext cx="10892790" cy="78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5"/>
              </a:lnSpc>
            </a:pPr>
            <a:r>
              <a:rPr lang="en-US" sz="1968" spc="2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The questionnaire is designed to provide a comprehensive and balanced view of cyber resilience.</a:t>
            </a:r>
          </a:p>
          <a:p>
            <a:pPr algn="l">
              <a:lnSpc>
                <a:spcPts val="1905"/>
              </a:lnSpc>
            </a:pPr>
            <a:r>
              <a:rPr lang="en-US" sz="1968" spc="2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It covers 36 core questions across 8 risk domains-spanning governance, prevention, detection, response,</a:t>
            </a:r>
          </a:p>
          <a:p>
            <a:pPr algn="l">
              <a:lnSpc>
                <a:spcPts val="1905"/>
              </a:lnSpc>
            </a:pPr>
            <a:r>
              <a:rPr lang="en-US" sz="1968" spc="2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recovery, third parties, people and data-aligned to leading standards and regulatory expectations.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8884" y="2493869"/>
            <a:ext cx="861181" cy="14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"/>
              </a:lnSpc>
            </a:pPr>
            <a:r>
              <a:rPr lang="en-US" sz="776" spc="27">
                <a:solidFill>
                  <a:srgbClr val="D5E3DB"/>
                </a:solidFill>
                <a:latin typeface="Calibri (MS)"/>
                <a:ea typeface="Calibri (MS)"/>
                <a:cs typeface="Calibri (MS)"/>
                <a:sym typeface="Calibri (MS)"/>
              </a:rPr>
              <a:t>WHY THIS MATTERS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4572" y="2923819"/>
            <a:ext cx="2362438" cy="71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7"/>
              </a:lnSpc>
            </a:pPr>
            <a:r>
              <a:rPr lang="en-US" sz="1269" spc="-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Holistic Coverage</a:t>
            </a:r>
          </a:p>
          <a:p>
            <a:pPr algn="l">
              <a:lnSpc>
                <a:spcPts val="1357"/>
              </a:lnSpc>
            </a:pPr>
            <a:r>
              <a:rPr lang="en-US" sz="1269" spc="-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Spans the full spectrum of cyber and</a:t>
            </a:r>
          </a:p>
          <a:p>
            <a:pPr algn="l">
              <a:lnSpc>
                <a:spcPts val="1357"/>
              </a:lnSpc>
            </a:pPr>
            <a:r>
              <a:rPr lang="en-US" sz="1269" spc="-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operational risk domains, not just</a:t>
            </a:r>
          </a:p>
          <a:p>
            <a:pPr algn="l">
              <a:lnSpc>
                <a:spcPts val="1357"/>
              </a:lnSpc>
            </a:pPr>
            <a:r>
              <a:rPr lang="en-US" sz="1269" spc="-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960" y="3887268"/>
            <a:ext cx="2372439" cy="71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352" spc="-1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 of Depth &amp; Breadth</a:t>
            </a:r>
          </a:p>
          <a:p>
            <a:pPr algn="l">
              <a:lnSpc>
                <a:spcPts val="1364"/>
              </a:lnSpc>
            </a:pPr>
            <a:r>
              <a:rPr lang="en-US" sz="1352" spc="-1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Focused set of core questions with</a:t>
            </a:r>
          </a:p>
          <a:p>
            <a:pPr algn="l">
              <a:lnSpc>
                <a:spcPts val="1364"/>
              </a:lnSpc>
            </a:pPr>
            <a:r>
              <a:rPr lang="en-US" sz="1352" spc="-1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the option to go deeper using</a:t>
            </a:r>
          </a:p>
          <a:p>
            <a:pPr algn="l">
              <a:lnSpc>
                <a:spcPts val="1364"/>
              </a:lnSpc>
            </a:pPr>
            <a:r>
              <a:rPr lang="en-US" sz="1352" spc="-1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child questions and evidence.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1270" y="4807794"/>
            <a:ext cx="797481" cy="20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6"/>
              </a:lnSpc>
            </a:pPr>
            <a:r>
              <a:rPr lang="en-US" sz="1161" spc="12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Risk-Focused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3180" y="5122909"/>
            <a:ext cx="1526738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299" spc="-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on what matters most.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6506" y="4978262"/>
            <a:ext cx="2262664" cy="25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8"/>
              </a:lnSpc>
            </a:pPr>
            <a:r>
              <a:rPr lang="en-US" sz="1327" spc="-15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Criticality weighting ensures focus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5507" y="5638972"/>
            <a:ext cx="2291477" cy="71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297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Actionable Insights</a:t>
            </a:r>
          </a:p>
          <a:p>
            <a:pPr algn="l">
              <a:lnSpc>
                <a:spcPts val="1373"/>
              </a:lnSpc>
            </a:pPr>
            <a:r>
              <a:rPr lang="en-US" sz="1297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Produces a risk-weighted maturity</a:t>
            </a:r>
          </a:p>
          <a:p>
            <a:pPr algn="l">
              <a:lnSpc>
                <a:spcPts val="1373"/>
              </a:lnSpc>
            </a:pPr>
            <a:r>
              <a:rPr lang="en-US" sz="1297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view to drive informed decisions</a:t>
            </a:r>
          </a:p>
          <a:p>
            <a:pPr algn="l">
              <a:lnSpc>
                <a:spcPts val="1373"/>
              </a:lnSpc>
            </a:pPr>
            <a:r>
              <a:rPr lang="en-US" sz="1297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and prioritisation.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2852" y="6630054"/>
            <a:ext cx="2315647" cy="55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306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Aligned &amp; Defensible</a:t>
            </a:r>
          </a:p>
          <a:p>
            <a:pPr algn="l">
              <a:lnSpc>
                <a:spcPts val="1415"/>
              </a:lnSpc>
            </a:pPr>
            <a:r>
              <a:rPr lang="en-US" sz="1306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Built using recognised frameworks</a:t>
            </a:r>
          </a:p>
          <a:p>
            <a:pPr algn="l">
              <a:lnSpc>
                <a:spcPts val="1415"/>
              </a:lnSpc>
            </a:pPr>
            <a:r>
              <a:rPr lang="en-US" sz="1306" spc="-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and industry good practices.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23" y="8215036"/>
            <a:ext cx="550166" cy="32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"/>
              </a:lnSpc>
            </a:pPr>
            <a:r>
              <a:rPr lang="en-US" sz="754" spc="93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WHAT THIS</a:t>
            </a:r>
          </a:p>
          <a:p>
            <a:pPr algn="l">
              <a:lnSpc>
                <a:spcPts val="1277"/>
              </a:lnSpc>
            </a:pPr>
            <a:r>
              <a:rPr lang="en-US" sz="754" spc="93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86225" y="2020219"/>
            <a:ext cx="1978772" cy="65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7"/>
              </a:lnSpc>
            </a:pPr>
            <a:r>
              <a:rPr lang="en-US" sz="1785" spc="3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&amp; Cyber</a:t>
            </a:r>
          </a:p>
          <a:p>
            <a:pPr algn="l">
              <a:lnSpc>
                <a:spcPts val="2067"/>
              </a:lnSpc>
            </a:pPr>
            <a:r>
              <a:rPr lang="en-US" sz="1785" spc="3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Governance</a:t>
            </a:r>
          </a:p>
          <a:p>
            <a:pPr algn="l">
              <a:lnSpc>
                <a:spcPts val="885"/>
              </a:lnSpc>
            </a:pPr>
            <a:r>
              <a:rPr lang="en-US" sz="764" spc="58">
                <a:solidFill>
                  <a:srgbClr val="4E8F53"/>
                </a:solidFill>
                <a:latin typeface="Calibri (MS)"/>
                <a:ea typeface="Calibri (MS)"/>
                <a:cs typeface="Calibri (MS)"/>
                <a:sym typeface="Calibri (MS)"/>
              </a:rPr>
              <a:t>4 QUESTIONS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94842" y="2880260"/>
            <a:ext cx="2680097" cy="59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"/>
              </a:lnSpc>
            </a:pPr>
            <a:r>
              <a:rPr lang="en-US" sz="1523" spc="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Strategy, governance framework,</a:t>
            </a:r>
          </a:p>
          <a:p>
            <a:pPr algn="l">
              <a:lnSpc>
                <a:spcPts val="1456"/>
              </a:lnSpc>
            </a:pPr>
            <a:r>
              <a:rPr lang="en-US" sz="1523" spc="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policies, accountability, assurance</a:t>
            </a:r>
          </a:p>
          <a:p>
            <a:pPr algn="l">
              <a:lnSpc>
                <a:spcPts val="1456"/>
              </a:lnSpc>
            </a:pPr>
            <a:r>
              <a:rPr lang="en-US" sz="1523" spc="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and asset visibility.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5700" y="3578667"/>
            <a:ext cx="1389459" cy="64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43" spc="26">
                <a:solidFill>
                  <a:srgbClr val="833F74"/>
                </a:solidFill>
                <a:latin typeface="Calibri (MS)"/>
                <a:ea typeface="Calibri (MS)"/>
                <a:cs typeface="Calibri (MS)"/>
                <a:sym typeface="Calibri (MS)"/>
              </a:rPr>
              <a:t>Data Protection,</a:t>
            </a:r>
          </a:p>
          <a:p>
            <a:pPr algn="l">
              <a:lnSpc>
                <a:spcPts val="1689"/>
              </a:lnSpc>
            </a:pPr>
            <a:r>
              <a:rPr lang="en-US" sz="1243" spc="26">
                <a:solidFill>
                  <a:srgbClr val="833F74"/>
                </a:solidFill>
                <a:latin typeface="Calibri (MS)"/>
                <a:ea typeface="Calibri (MS)"/>
                <a:cs typeface="Calibri (MS)"/>
                <a:sym typeface="Calibri (MS)"/>
              </a:rPr>
              <a:t>Privacy, CSR &amp; Fraud</a:t>
            </a:r>
          </a:p>
          <a:p>
            <a:pPr algn="l">
              <a:lnSpc>
                <a:spcPts val="1689"/>
              </a:lnSpc>
            </a:pPr>
            <a:r>
              <a:rPr lang="en-US" sz="1243" spc="26">
                <a:solidFill>
                  <a:srgbClr val="833F74"/>
                </a:solidFill>
                <a:latin typeface="Calibri (MS)"/>
                <a:ea typeface="Calibri (MS)"/>
                <a:cs typeface="Calibri (MS)"/>
                <a:sym typeface="Calibri (MS)"/>
              </a:rPr>
              <a:t>10 QUESTIONS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85528" y="4355404"/>
            <a:ext cx="2650569" cy="55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"/>
              </a:lnSpc>
            </a:pPr>
            <a:r>
              <a:rPr lang="en-US" sz="1423" spc="5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Privacy governance, data inventory</a:t>
            </a:r>
          </a:p>
          <a:p>
            <a:pPr algn="l">
              <a:lnSpc>
                <a:spcPts val="1386"/>
              </a:lnSpc>
            </a:pPr>
            <a:r>
              <a:rPr lang="en-US" sz="1423" spc="5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&amp; rights, breach notification, ethics,</a:t>
            </a:r>
          </a:p>
          <a:p>
            <a:pPr algn="l">
              <a:lnSpc>
                <a:spcPts val="1386"/>
              </a:lnSpc>
            </a:pPr>
            <a:r>
              <a:rPr lang="en-US" sz="1423" spc="5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whistleblowing and fraud controls.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30703" y="5085926"/>
            <a:ext cx="2542580" cy="12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6" spc="39">
                <a:solidFill>
                  <a:srgbClr val="315689"/>
                </a:solidFill>
                <a:latin typeface="Calibri (MS)"/>
                <a:ea typeface="Calibri (MS)"/>
                <a:cs typeface="Calibri (MS)"/>
                <a:sym typeface="Calibri (MS)"/>
              </a:rPr>
              <a:t>Personnel, Training &amp;</a:t>
            </a:r>
          </a:p>
          <a:p>
            <a:pPr algn="l">
              <a:lnSpc>
                <a:spcPts val="1619"/>
              </a:lnSpc>
            </a:pPr>
            <a:r>
              <a:rPr lang="en-US" sz="1346" spc="39">
                <a:solidFill>
                  <a:srgbClr val="315689"/>
                </a:solidFill>
                <a:latin typeface="Calibri (MS)"/>
                <a:ea typeface="Calibri (MS)"/>
                <a:cs typeface="Calibri (MS)"/>
                <a:sym typeface="Calibri (MS)"/>
              </a:rPr>
              <a:t>Access Management</a:t>
            </a:r>
          </a:p>
          <a:p>
            <a:pPr algn="l">
              <a:lnSpc>
                <a:spcPts val="1619"/>
              </a:lnSpc>
            </a:pPr>
            <a:r>
              <a:rPr lang="en-US" sz="1346" spc="39">
                <a:solidFill>
                  <a:srgbClr val="315689"/>
                </a:solidFill>
                <a:latin typeface="Calibri (MS)"/>
                <a:ea typeface="Calibri (MS)"/>
                <a:cs typeface="Calibri (MS)"/>
                <a:sym typeface="Calibri (MS)"/>
              </a:rPr>
              <a:t>5 QUESTIONS</a:t>
            </a:r>
          </a:p>
          <a:p>
            <a:pPr algn="l">
              <a:lnSpc>
                <a:spcPts val="1730"/>
              </a:lnSpc>
            </a:pPr>
            <a:r>
              <a:rPr lang="en-US" sz="1438" spc="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Access control, MFA, privileged</a:t>
            </a:r>
          </a:p>
          <a:p>
            <a:pPr algn="l">
              <a:lnSpc>
                <a:spcPts val="1730"/>
              </a:lnSpc>
            </a:pPr>
            <a:r>
              <a:rPr lang="en-US" sz="1438" spc="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access, security awareness,</a:t>
            </a:r>
          </a:p>
          <a:p>
            <a:pPr algn="l">
              <a:lnSpc>
                <a:spcPts val="1730"/>
              </a:lnSpc>
            </a:pPr>
            <a:r>
              <a:rPr lang="en-US" sz="1438" spc="1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screening and background checks.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67000" y="8090984"/>
            <a:ext cx="1720691" cy="71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1357" spc="1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Enterprise Visibility</a:t>
            </a:r>
          </a:p>
          <a:p>
            <a:pPr algn="l">
              <a:lnSpc>
                <a:spcPts val="1370"/>
              </a:lnSpc>
            </a:pPr>
            <a:r>
              <a:rPr lang="en-US" sz="1357" spc="1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One view of cyber and</a:t>
            </a:r>
          </a:p>
          <a:p>
            <a:pPr algn="l">
              <a:lnSpc>
                <a:spcPts val="1370"/>
              </a:lnSpc>
            </a:pPr>
            <a:r>
              <a:rPr lang="en-US" sz="1357" spc="1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operational resilience</a:t>
            </a:r>
          </a:p>
          <a:p>
            <a:pPr algn="l">
              <a:lnSpc>
                <a:spcPts val="1370"/>
              </a:lnSpc>
            </a:pPr>
            <a:r>
              <a:rPr lang="en-US" sz="1357" spc="1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across the organisation.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67175" y="6551353"/>
            <a:ext cx="1500307" cy="59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1"/>
              </a:lnSpc>
            </a:pPr>
            <a:r>
              <a:rPr lang="en-US" sz="1304" spc="24">
                <a:solidFill>
                  <a:srgbClr val="C1982E"/>
                </a:solidFill>
                <a:latin typeface="Calibri (MS)"/>
                <a:ea typeface="Calibri (MS)"/>
                <a:cs typeface="Calibri (MS)"/>
                <a:sym typeface="Calibri (MS)"/>
              </a:rPr>
              <a:t>Third-Party &amp; Vendor</a:t>
            </a:r>
          </a:p>
          <a:p>
            <a:pPr algn="l">
              <a:lnSpc>
                <a:spcPts val="1571"/>
              </a:lnSpc>
            </a:pPr>
            <a:r>
              <a:rPr lang="en-US" sz="1304" spc="24">
                <a:solidFill>
                  <a:srgbClr val="C1982E"/>
                </a:solidFill>
                <a:latin typeface="Calibri (MS)"/>
                <a:ea typeface="Calibri (MS)"/>
                <a:cs typeface="Calibri (MS)"/>
                <a:sym typeface="Calibri (MS)"/>
              </a:rPr>
              <a:t>Risk Management</a:t>
            </a:r>
          </a:p>
          <a:p>
            <a:pPr algn="l">
              <a:lnSpc>
                <a:spcPts val="1571"/>
              </a:lnSpc>
            </a:pPr>
            <a:r>
              <a:rPr lang="en-US" sz="1304" spc="24">
                <a:solidFill>
                  <a:srgbClr val="C1982E"/>
                </a:solidFill>
                <a:latin typeface="Calibri (MS)"/>
                <a:ea typeface="Calibri (MS)"/>
                <a:cs typeface="Calibri (MS)"/>
                <a:sym typeface="Calibri (MS)"/>
              </a:rPr>
              <a:t>4 QUESTIONS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67412" y="7256171"/>
            <a:ext cx="2702600" cy="57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8"/>
              </a:lnSpc>
            </a:pPr>
            <a:r>
              <a:rPr lang="en-US" sz="1454" spc="2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Third-party due diligence, ongoing</a:t>
            </a:r>
          </a:p>
          <a:p>
            <a:pPr algn="l">
              <a:lnSpc>
                <a:spcPts val="1458"/>
              </a:lnSpc>
            </a:pPr>
            <a:r>
              <a:rPr lang="en-US" sz="1454" spc="2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monitoring, supply-chain exposure</a:t>
            </a:r>
          </a:p>
          <a:p>
            <a:pPr algn="l">
              <a:lnSpc>
                <a:spcPts val="1458"/>
              </a:lnSpc>
            </a:pPr>
            <a:r>
              <a:rPr lang="en-US" sz="1454" spc="2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and exit contingency planning.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77163" y="8079754"/>
            <a:ext cx="1636514" cy="80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384" spc="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Decisions</a:t>
            </a:r>
          </a:p>
          <a:p>
            <a:pPr algn="l">
              <a:lnSpc>
                <a:spcPts val="1214"/>
              </a:lnSpc>
            </a:pPr>
            <a:r>
              <a:rPr lang="en-US" sz="1384" spc="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Risk-based insights to</a:t>
            </a:r>
          </a:p>
          <a:p>
            <a:pPr algn="l">
              <a:lnSpc>
                <a:spcPts val="1214"/>
              </a:lnSpc>
            </a:pPr>
            <a:r>
              <a:rPr lang="en-US" sz="1384" spc="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focus resources where</a:t>
            </a:r>
          </a:p>
          <a:p>
            <a:pPr algn="l">
              <a:lnSpc>
                <a:spcPts val="1214"/>
              </a:lnSpc>
            </a:pPr>
            <a:r>
              <a:rPr lang="en-US" sz="1384" spc="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they have the greatest</a:t>
            </a:r>
          </a:p>
          <a:p>
            <a:pPr algn="l">
              <a:lnSpc>
                <a:spcPts val="1214"/>
              </a:lnSpc>
            </a:pPr>
            <a:r>
              <a:rPr lang="en-US" sz="1384" spc="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impact.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77476" y="3931796"/>
            <a:ext cx="514826" cy="64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sz="3407" spc="299">
                <a:solidFill>
                  <a:srgbClr val="105A3D"/>
                </a:solidFill>
                <a:latin typeface="Calibri (MS)"/>
                <a:ea typeface="Calibri (MS)"/>
                <a:cs typeface="Calibri (MS)"/>
                <a:sym typeface="Calibri (MS)"/>
              </a:rPr>
              <a:t>36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8725" y="4541864"/>
            <a:ext cx="2144908" cy="100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5"/>
              </a:lnSpc>
            </a:pPr>
            <a:r>
              <a:rPr lang="en-US" sz="998" spc="6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CORE QUESTIONS</a:t>
            </a:r>
          </a:p>
          <a:p>
            <a:pPr algn="ctr">
              <a:lnSpc>
                <a:spcPts val="1067"/>
              </a:lnSpc>
            </a:pPr>
            <a:r>
              <a:rPr lang="en-US" sz="855" spc="103">
                <a:solidFill>
                  <a:srgbClr val="277B51"/>
                </a:solidFill>
                <a:latin typeface="Calibri (MS)"/>
                <a:ea typeface="Calibri (MS)"/>
                <a:cs typeface="Calibri (MS)"/>
                <a:sym typeface="Calibri (MS)"/>
              </a:rPr>
              <a:t>8 RISK DOMAINS</a:t>
            </a:r>
          </a:p>
          <a:p>
            <a:pPr algn="ctr">
              <a:lnSpc>
                <a:spcPts val="1868"/>
              </a:lnSpc>
            </a:pPr>
            <a:r>
              <a:rPr lang="en-US" sz="1497" spc="-2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One integrated assessment.</a:t>
            </a:r>
          </a:p>
          <a:p>
            <a:pPr algn="ctr">
              <a:lnSpc>
                <a:spcPts val="1868"/>
              </a:lnSpc>
            </a:pPr>
            <a:r>
              <a:rPr lang="en-US" sz="1497" spc="-2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covering the full cycle of</a:t>
            </a:r>
          </a:p>
          <a:p>
            <a:pPr algn="ctr">
              <a:lnSpc>
                <a:spcPts val="1868"/>
              </a:lnSpc>
            </a:pPr>
            <a:r>
              <a:rPr lang="en-US" sz="1497" spc="-2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cyber resilience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55911" y="8109300"/>
            <a:ext cx="1757005" cy="72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3"/>
              </a:lnSpc>
            </a:pPr>
            <a:r>
              <a:rPr lang="en-US" sz="1357" spc="17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Stronger Resilience</a:t>
            </a:r>
          </a:p>
          <a:p>
            <a:pPr algn="l">
              <a:lnSpc>
                <a:spcPts val="1353"/>
              </a:lnSpc>
            </a:pPr>
            <a:r>
              <a:rPr lang="en-US" sz="1357" spc="17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Identifies gaps,</a:t>
            </a:r>
          </a:p>
          <a:p>
            <a:pPr algn="l">
              <a:lnSpc>
                <a:spcPts val="1353"/>
              </a:lnSpc>
            </a:pPr>
            <a:r>
              <a:rPr lang="en-US" sz="1357" spc="17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strengthens controls</a:t>
            </a:r>
          </a:p>
          <a:p>
            <a:pPr algn="l">
              <a:lnSpc>
                <a:spcPts val="1353"/>
              </a:lnSpc>
            </a:pPr>
            <a:r>
              <a:rPr lang="en-US" sz="1357" spc="17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and improves readiness.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25573" y="2116165"/>
            <a:ext cx="160853" cy="2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249">
                <a:solidFill>
                  <a:srgbClr val="F0EFEF"/>
                </a:solidFill>
                <a:latin typeface="Calibri (MS)"/>
                <a:ea typeface="Calibri (MS)"/>
                <a:cs typeface="Calibri (MS)"/>
                <a:sym typeface="Calibri (MS)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94610" y="6581394"/>
            <a:ext cx="184309" cy="27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431">
                <a:solidFill>
                  <a:srgbClr val="F0EFEF"/>
                </a:solidFill>
                <a:latin typeface="Calibri (MS)"/>
                <a:ea typeface="Calibri (MS)"/>
                <a:cs typeface="Calibri (MS)"/>
                <a:sym typeface="Calibri (MS)"/>
              </a:rPr>
              <a:t>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97291" y="2063293"/>
            <a:ext cx="1415296" cy="65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380" spc="19">
                <a:solidFill>
                  <a:srgbClr val="277980"/>
                </a:solidFill>
                <a:latin typeface="Calibri (MS)"/>
                <a:ea typeface="Calibri (MS)"/>
                <a:cs typeface="Calibri (MS)"/>
                <a:sym typeface="Calibri (MS)"/>
              </a:rPr>
              <a:t>Cyber Security</a:t>
            </a:r>
          </a:p>
          <a:p>
            <a:pPr algn="l">
              <a:lnSpc>
                <a:spcPts val="1685"/>
              </a:lnSpc>
            </a:pPr>
            <a:r>
              <a:rPr lang="en-US" sz="1380" spc="19">
                <a:solidFill>
                  <a:srgbClr val="277980"/>
                </a:solidFill>
                <a:latin typeface="Calibri (MS)"/>
                <a:ea typeface="Calibri (MS)"/>
                <a:cs typeface="Calibri (MS)"/>
                <a:sym typeface="Calibri (MS)"/>
              </a:rPr>
              <a:t>Defences &amp; Testing</a:t>
            </a:r>
          </a:p>
          <a:p>
            <a:pPr algn="l">
              <a:lnSpc>
                <a:spcPts val="1685"/>
              </a:lnSpc>
            </a:pPr>
            <a:r>
              <a:rPr lang="en-US" sz="1380" spc="19">
                <a:solidFill>
                  <a:srgbClr val="277980"/>
                </a:solidFill>
                <a:latin typeface="Calibri (MS)"/>
                <a:ea typeface="Calibri (MS)"/>
                <a:cs typeface="Calibri (MS)"/>
                <a:sym typeface="Calibri (MS)"/>
              </a:rPr>
              <a:t>4 QUESTIONS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96525" y="2897374"/>
            <a:ext cx="3024902" cy="55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"/>
              </a:lnSpc>
            </a:pPr>
            <a:r>
              <a:rPr lang="en-US" sz="1472" spc="2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Vulnerability management, penetration</a:t>
            </a:r>
          </a:p>
          <a:p>
            <a:pPr algn="l">
              <a:lnSpc>
                <a:spcPts val="1377"/>
              </a:lnSpc>
            </a:pPr>
            <a:r>
              <a:rPr lang="en-US" sz="1472" spc="2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testing, endpoint &amp; network defence,</a:t>
            </a:r>
          </a:p>
          <a:p>
            <a:pPr algn="l">
              <a:lnSpc>
                <a:spcPts val="1377"/>
              </a:lnSpc>
            </a:pPr>
            <a:r>
              <a:rPr lang="en-US" sz="1472" spc="2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and cryptographic controls.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54819" y="3626739"/>
            <a:ext cx="197763" cy="2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0"/>
              </a:lnSpc>
            </a:pPr>
            <a:r>
              <a:rPr lang="en-US" sz="1536">
                <a:solidFill>
                  <a:srgbClr val="F0EFEF"/>
                </a:solidFill>
                <a:latin typeface="Calibri (MS)"/>
                <a:ea typeface="Calibri (MS)"/>
                <a:cs typeface="Calibri (MS)"/>
                <a:sym typeface="Calibri (MS)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48508" y="5144253"/>
            <a:ext cx="172283" cy="25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338">
                <a:solidFill>
                  <a:srgbClr val="F0EFEF"/>
                </a:solidFill>
                <a:latin typeface="Calibri (MS)"/>
                <a:ea typeface="Calibri (MS)"/>
                <a:cs typeface="Calibri (MS)"/>
                <a:sym typeface="Calibri (MS)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73134" y="3592605"/>
            <a:ext cx="2236113" cy="48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697" spc="37">
                <a:solidFill>
                  <a:srgbClr val="2A5499"/>
                </a:solidFill>
                <a:latin typeface="Calibri (MS)"/>
                <a:ea typeface="Calibri (MS)"/>
                <a:cs typeface="Calibri (MS)"/>
                <a:sym typeface="Calibri (MS)"/>
              </a:rPr>
              <a:t>Incident Management &amp;</a:t>
            </a:r>
          </a:p>
          <a:p>
            <a:pPr algn="l">
              <a:lnSpc>
                <a:spcPts val="1767"/>
              </a:lnSpc>
            </a:pPr>
            <a:r>
              <a:rPr lang="en-US" sz="1697" spc="37">
                <a:solidFill>
                  <a:srgbClr val="2A5499"/>
                </a:solidFill>
                <a:latin typeface="Calibri (MS)"/>
                <a:ea typeface="Calibri (MS)"/>
                <a:cs typeface="Calibri (MS)"/>
                <a:sym typeface="Calibri (MS)"/>
              </a:rPr>
              <a:t>Breach Response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66980" y="4095246"/>
            <a:ext cx="2191321" cy="79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756" spc="65">
                <a:solidFill>
                  <a:srgbClr val="2A5499"/>
                </a:solidFill>
                <a:latin typeface="Calibri (MS)"/>
                <a:ea typeface="Calibri (MS)"/>
                <a:cs typeface="Calibri (MS)"/>
                <a:sym typeface="Calibri (MS)"/>
              </a:rPr>
              <a:t>3 QUESTIONS</a:t>
            </a:r>
          </a:p>
          <a:p>
            <a:pPr algn="l">
              <a:lnSpc>
                <a:spcPts val="1708"/>
              </a:lnSpc>
            </a:pPr>
            <a:r>
              <a:rPr lang="en-US" sz="1434" spc="20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Incident response capability,</a:t>
            </a:r>
          </a:p>
          <a:p>
            <a:pPr algn="l">
              <a:lnSpc>
                <a:spcPts val="1708"/>
              </a:lnSpc>
            </a:pPr>
            <a:r>
              <a:rPr lang="en-US" sz="1434" spc="20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communication, monitoring</a:t>
            </a:r>
          </a:p>
          <a:p>
            <a:pPr algn="l">
              <a:lnSpc>
                <a:spcPts val="1708"/>
              </a:lnSpc>
            </a:pPr>
            <a:r>
              <a:rPr lang="en-US" sz="1434" spc="20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and post-incident review.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55572" y="5103056"/>
            <a:ext cx="2276475" cy="128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5"/>
              </a:lnSpc>
            </a:pPr>
            <a:r>
              <a:rPr lang="en-US" sz="1337" spc="50">
                <a:solidFill>
                  <a:srgbClr val="644B81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Continuity &amp;</a:t>
            </a:r>
          </a:p>
          <a:p>
            <a:pPr algn="l">
              <a:lnSpc>
                <a:spcPts val="1585"/>
              </a:lnSpc>
            </a:pPr>
            <a:r>
              <a:rPr lang="en-US" sz="1337" spc="50">
                <a:solidFill>
                  <a:srgbClr val="644B81"/>
                </a:solidFill>
                <a:latin typeface="Calibri (MS)"/>
                <a:ea typeface="Calibri (MS)"/>
                <a:cs typeface="Calibri (MS)"/>
                <a:sym typeface="Calibri (MS)"/>
              </a:rPr>
              <a:t>Disaster Recovery</a:t>
            </a:r>
          </a:p>
          <a:p>
            <a:pPr algn="l">
              <a:lnSpc>
                <a:spcPts val="1585"/>
              </a:lnSpc>
            </a:pPr>
            <a:r>
              <a:rPr lang="en-US" sz="1337" spc="50">
                <a:solidFill>
                  <a:srgbClr val="644B81"/>
                </a:solidFill>
                <a:latin typeface="Calibri (MS)"/>
                <a:ea typeface="Calibri (MS)"/>
                <a:cs typeface="Calibri (MS)"/>
                <a:sym typeface="Calibri (MS)"/>
              </a:rPr>
              <a:t>3 QUESTIONS</a:t>
            </a:r>
          </a:p>
          <a:p>
            <a:pPr algn="l">
              <a:lnSpc>
                <a:spcPts val="1751"/>
              </a:lnSpc>
            </a:pPr>
            <a:r>
              <a:rPr lang="en-US" sz="1477" spc="16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continuity planning,</a:t>
            </a:r>
          </a:p>
          <a:p>
            <a:pPr algn="l">
              <a:lnSpc>
                <a:spcPts val="1751"/>
              </a:lnSpc>
            </a:pPr>
            <a:r>
              <a:rPr lang="en-US" sz="1477" spc="16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disaster recovery, backups</a:t>
            </a:r>
          </a:p>
          <a:p>
            <a:pPr algn="l">
              <a:lnSpc>
                <a:spcPts val="1751"/>
              </a:lnSpc>
            </a:pPr>
            <a:r>
              <a:rPr lang="en-US" sz="1477" spc="16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and recovery testing.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4554" y="6550001"/>
            <a:ext cx="1161455" cy="59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3"/>
              </a:lnSpc>
            </a:pPr>
            <a:r>
              <a:rPr lang="en-US" sz="1288" spc="33">
                <a:solidFill>
                  <a:srgbClr val="DC5A27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Operational Risk</a:t>
            </a:r>
          </a:p>
          <a:p>
            <a:pPr algn="l">
              <a:lnSpc>
                <a:spcPts val="1553"/>
              </a:lnSpc>
            </a:pPr>
            <a:r>
              <a:rPr lang="en-US" sz="1288" spc="33">
                <a:solidFill>
                  <a:srgbClr val="DC5A27"/>
                </a:solidFill>
                <a:latin typeface="Calibri (MS)"/>
                <a:ea typeface="Calibri (MS)"/>
                <a:cs typeface="Calibri (MS)"/>
                <a:sym typeface="Calibri (MS)"/>
              </a:rPr>
              <a:t>Management</a:t>
            </a:r>
          </a:p>
          <a:p>
            <a:pPr algn="l">
              <a:lnSpc>
                <a:spcPts val="1553"/>
              </a:lnSpc>
            </a:pPr>
            <a:r>
              <a:rPr lang="en-US" sz="1288" spc="33">
                <a:solidFill>
                  <a:srgbClr val="DC5A27"/>
                </a:solidFill>
                <a:latin typeface="Calibri (MS)"/>
                <a:ea typeface="Calibri (MS)"/>
                <a:cs typeface="Calibri (MS)"/>
                <a:sym typeface="Calibri (MS)"/>
              </a:rPr>
              <a:t>3 QUESTIONS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6253" y="7240864"/>
            <a:ext cx="2509123" cy="58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"/>
              </a:lnSpc>
            </a:pPr>
            <a:r>
              <a:rPr lang="en-US" sz="1442" spc="24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Operational risk governance,</a:t>
            </a:r>
          </a:p>
          <a:p>
            <a:pPr algn="l">
              <a:lnSpc>
                <a:spcPts val="1455"/>
              </a:lnSpc>
            </a:pPr>
            <a:r>
              <a:rPr lang="en-US" sz="1442" spc="24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incident remediation and secure</a:t>
            </a:r>
          </a:p>
          <a:p>
            <a:pPr algn="l">
              <a:lnSpc>
                <a:spcPts val="1455"/>
              </a:lnSpc>
            </a:pPr>
            <a:r>
              <a:rPr lang="en-US" sz="1442" spc="24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change / SDLC.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96771" y="8089190"/>
            <a:ext cx="2225159" cy="55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386" spc="1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Stakeholder Confidence</a:t>
            </a:r>
          </a:p>
          <a:p>
            <a:pPr algn="l">
              <a:lnSpc>
                <a:spcPts val="1411"/>
              </a:lnSpc>
            </a:pPr>
            <a:r>
              <a:rPr lang="en-US" sz="1386" spc="1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Demonstrates governance,</a:t>
            </a:r>
          </a:p>
          <a:p>
            <a:pPr algn="l">
              <a:lnSpc>
                <a:spcPts val="1411"/>
              </a:lnSpc>
            </a:pPr>
            <a:r>
              <a:rPr lang="en-US" sz="1386" spc="1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accountability and continuous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68274" y="8574664"/>
            <a:ext cx="1029414" cy="25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316" spc="40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improvement.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99019" y="382714"/>
            <a:ext cx="510012" cy="16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"/>
              </a:lnSpc>
            </a:pPr>
            <a:r>
              <a:rPr lang="en-US" sz="798" spc="137">
                <a:solidFill>
                  <a:srgbClr val="2B7446"/>
                </a:solidFill>
                <a:latin typeface="Calibri (MS)"/>
                <a:ea typeface="Calibri (MS)"/>
                <a:cs typeface="Calibri (MS)"/>
                <a:sym typeface="Calibri (MS)"/>
              </a:rPr>
              <a:t>PURPOSE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772460" y="608647"/>
            <a:ext cx="3153340" cy="110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702" spc="-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To assess the effectiveness and maturity of</a:t>
            </a:r>
          </a:p>
          <a:p>
            <a:pPr algn="l">
              <a:lnSpc>
                <a:spcPts val="1700"/>
              </a:lnSpc>
            </a:pPr>
            <a:r>
              <a:rPr lang="en-US" sz="1702" spc="-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key cyber security and operational risk</a:t>
            </a:r>
          </a:p>
          <a:p>
            <a:pPr algn="l">
              <a:lnSpc>
                <a:spcPts val="1700"/>
              </a:lnSpc>
            </a:pPr>
            <a:r>
              <a:rPr lang="en-US" sz="1702" spc="-3">
                <a:solidFill>
                  <a:srgbClr val="42434B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controls across the organisation.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40212" y="2145253"/>
            <a:ext cx="618502" cy="16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"/>
              </a:lnSpc>
            </a:pPr>
            <a:r>
              <a:rPr lang="en-US" sz="791" spc="54">
                <a:solidFill>
                  <a:srgbClr val="D3E2DB"/>
                </a:solidFill>
                <a:latin typeface="Calibri (MS)"/>
                <a:ea typeface="Calibri (MS)"/>
                <a:cs typeface="Calibri (MS)"/>
                <a:sym typeface="Calibri (MS)"/>
              </a:rPr>
              <a:t>AT A GLANCE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636948" y="3222242"/>
            <a:ext cx="205978" cy="2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8"/>
              </a:lnSpc>
            </a:pPr>
            <a:r>
              <a:rPr lang="en-US" sz="1306" spc="14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36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84701" y="3495685"/>
            <a:ext cx="1139666" cy="67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086" spc="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CORE QUESTIONS</a:t>
            </a:r>
          </a:p>
          <a:p>
            <a:pPr algn="ctr">
              <a:lnSpc>
                <a:spcPts val="1320"/>
              </a:lnSpc>
            </a:pPr>
            <a:r>
              <a:rPr lang="en-US" sz="1086" spc="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for clarity,</a:t>
            </a:r>
          </a:p>
          <a:p>
            <a:pPr algn="ctr">
              <a:lnSpc>
                <a:spcPts val="1320"/>
              </a:lnSpc>
            </a:pPr>
            <a:r>
              <a:rPr lang="en-US" sz="1086" spc="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consistency and</a:t>
            </a:r>
          </a:p>
          <a:p>
            <a:pPr algn="ctr">
              <a:lnSpc>
                <a:spcPts val="1320"/>
              </a:lnSpc>
            </a:pPr>
            <a:r>
              <a:rPr lang="en-US" sz="1086" spc="6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proportionality.</a:t>
            </a:r>
          </a:p>
        </p:txBody>
      </p:sp>
      <p:sp>
        <p:nvSpPr>
          <p:cNvPr name="TextBox 44" id="44"/>
          <p:cNvSpPr txBox="true"/>
          <p:nvPr/>
        </p:nvSpPr>
        <p:spPr>
          <a:xfrm rot="5400000">
            <a:off x="14542288" y="4519006"/>
            <a:ext cx="514350" cy="3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3"/>
              </a:lnSpc>
            </a:pPr>
            <a:r>
              <a:rPr lang="en-US" sz="1781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980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91062" y="5104169"/>
            <a:ext cx="88225" cy="26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7"/>
              </a:lnSpc>
            </a:pPr>
            <a:r>
              <a:rPr lang="en-US" sz="1369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956099" y="5360772"/>
            <a:ext cx="1538168" cy="67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"/>
              </a:lnSpc>
            </a:pPr>
            <a:r>
              <a:rPr lang="en-US" sz="1115" spc="4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RISK DOMAINS</a:t>
            </a:r>
          </a:p>
          <a:p>
            <a:pPr algn="ctr">
              <a:lnSpc>
                <a:spcPts val="1327"/>
              </a:lnSpc>
            </a:pPr>
            <a:r>
              <a:rPr lang="en-US" sz="1115" spc="4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Covering the full spectrum</a:t>
            </a:r>
          </a:p>
          <a:p>
            <a:pPr algn="ctr">
              <a:lnSpc>
                <a:spcPts val="1327"/>
              </a:lnSpc>
            </a:pPr>
            <a:r>
              <a:rPr lang="en-US" sz="1115" spc="4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of cyber, operational and</a:t>
            </a:r>
          </a:p>
          <a:p>
            <a:pPr algn="ctr">
              <a:lnSpc>
                <a:spcPts val="1327"/>
              </a:lnSpc>
            </a:pPr>
            <a:r>
              <a:rPr lang="en-US" sz="1115" spc="4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resilience risks.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071621" y="6837666"/>
            <a:ext cx="1374815" cy="78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6"/>
              </a:lnSpc>
            </a:pPr>
            <a:r>
              <a:rPr lang="en-US" sz="920" spc="4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RISK-WEIGHTED</a:t>
            </a:r>
          </a:p>
          <a:p>
            <a:pPr algn="ctr">
              <a:lnSpc>
                <a:spcPts val="1256"/>
              </a:lnSpc>
            </a:pPr>
            <a:r>
              <a:rPr lang="en-US" sz="920" spc="4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MATURITY VIEW</a:t>
            </a:r>
          </a:p>
          <a:p>
            <a:pPr algn="ctr">
              <a:lnSpc>
                <a:spcPts val="1256"/>
              </a:lnSpc>
            </a:pPr>
            <a:r>
              <a:rPr lang="en-US" sz="920" spc="4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prioritisation,</a:t>
            </a:r>
          </a:p>
          <a:p>
            <a:pPr algn="ctr">
              <a:lnSpc>
                <a:spcPts val="1256"/>
              </a:lnSpc>
            </a:pPr>
            <a:r>
              <a:rPr lang="en-US" sz="920" spc="4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benchmarking and</a:t>
            </a:r>
          </a:p>
          <a:p>
            <a:pPr algn="ctr">
              <a:lnSpc>
                <a:spcPts val="1256"/>
              </a:lnSpc>
            </a:pPr>
            <a:r>
              <a:rPr lang="en-US" sz="920" spc="48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improvement.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630255" y="8091034"/>
            <a:ext cx="1212175" cy="66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5"/>
              </a:lnSpc>
            </a:pPr>
            <a:r>
              <a:rPr lang="en-US" sz="982" spc="2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Aligned to Standards</a:t>
            </a:r>
          </a:p>
          <a:p>
            <a:pPr algn="l">
              <a:lnSpc>
                <a:spcPts val="1285"/>
              </a:lnSpc>
            </a:pPr>
            <a:r>
              <a:rPr lang="en-US" sz="982" spc="2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Built on NIST CSF 2.0,</a:t>
            </a:r>
          </a:p>
          <a:p>
            <a:pPr algn="l">
              <a:lnSpc>
                <a:spcPts val="1285"/>
              </a:lnSpc>
            </a:pPr>
            <a:r>
              <a:rPr lang="en-US" sz="982" spc="2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ISO 27001:2022, DORA</a:t>
            </a:r>
          </a:p>
          <a:p>
            <a:pPr algn="l">
              <a:lnSpc>
                <a:spcPts val="1285"/>
              </a:lnSpc>
            </a:pPr>
            <a:r>
              <a:rPr lang="en-US" sz="982" spc="20">
                <a:solidFill>
                  <a:srgbClr val="264B35"/>
                </a:solidFill>
                <a:latin typeface="Calibri (MS)"/>
                <a:ea typeface="Calibri (MS)"/>
                <a:cs typeface="Calibri (MS)"/>
                <a:sym typeface="Calibri (MS)"/>
              </a:rPr>
              <a:t>and industry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DAHUILeCzmg</dc:identifier>
  <dcterms:modified xsi:type="dcterms:W3CDTF">2011-08-01T06:04:30Z</dcterms:modified>
  <cp:revision>1</cp:revision>
  <dc:title>07</dc:title>
</cp:coreProperties>
</file>