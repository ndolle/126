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b4935ad2f249e3" /><Relationship Type="http://schemas.openxmlformats.org/officeDocument/2006/relationships/extended-properties" Target="/docProps/app.xml" Id="R6ae68880a61844b1" /><Relationship Type="http://schemas.openxmlformats.org/officeDocument/2006/relationships/officeDocument" Target="/ppt/presentation.xml" Id="R974efff31f44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d2991eebc747e7"/>
  </p:sldMasterIdLst>
  <p:notesMasterIdLst>
    <p:notesMasterId xmlns:r="http://schemas.openxmlformats.org/officeDocument/2006/relationships" r:id="R4c0386223bff4e9e"/>
  </p:notesMasterIdLst>
  <p:sldIdLst>
    <p:sldId xmlns:r="http://schemas.openxmlformats.org/officeDocument/2006/relationships" id="256" r:id="R1126694ce2f747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8e214f715f4f98" /><Relationship Type="http://schemas.openxmlformats.org/officeDocument/2006/relationships/slideMaster" Target="/ppt/slideMasters/slideMaster1.xml" Id="R53d2991eebc747e7" /><Relationship Type="http://schemas.openxmlformats.org/officeDocument/2006/relationships/notesMaster" Target="/ppt/notesMasters/notesMaster1.xml" Id="R4c0386223bff4e9e" /><Relationship Type="http://schemas.openxmlformats.org/officeDocument/2006/relationships/presProps" Target="/ppt/presProps.xml" Id="R97a68e1ea849473a" /><Relationship Type="http://schemas.openxmlformats.org/officeDocument/2006/relationships/tableStyles" Target="/ppt/tableStyles.xml" Id="Rbba8c904bd8b4432" /><Relationship Type="http://schemas.openxmlformats.org/officeDocument/2006/relationships/slide" Target="/ppt/slides/slide1.xml" Id="R1126694ce2f747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b81bb5ae23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5dcd7208f4761" /><Relationship Type="http://schemas.openxmlformats.org/officeDocument/2006/relationships/notesMaster" Target="/ppt/notesMasters/notesMaster1.xml" Id="Rce1befd5a75642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3471881be47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53ecdfe1604921" /><Relationship Type="http://schemas.openxmlformats.org/officeDocument/2006/relationships/slideLayout" Target="/ppt/slideLayouts/slideLayout1.xml" Id="Rc421f919f271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1f919f271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c36a8afef4bea" /><Relationship Type="http://schemas.openxmlformats.org/officeDocument/2006/relationships/notesSlide" Target="/ppt/notesSlides/notesSlide1.xml" Id="Re067d761cf0a46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eyebrow">
            <a:extLst xmlns:a="http://schemas.openxmlformats.org/drawingml/2006/main">
              <a:ext uri="{FF2B5EF4-FFF2-40B4-BE49-F238E27FC236}">
                <a16:creationId xmlns:a16="http://schemas.microsoft.com/office/drawing/2014/main" id="{277AC69B-1819-4B04-8F6E-81E8366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64"/>
                </a:solidFill>
              </a:defRPr>
            </a:pPr>
            <a:r>
              <a:rPr sz="975" b="1">
                <a:solidFill>
                  <a:srgbClr val="5F6B64"/>
                </a:solidFill>
              </a:rPr>
              <a:t>RISK INTELLIGENCE  /  OSINT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5EBB61-EFC4-4743-B589-CA86C68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C32"/>
                </a:solidFill>
              </a:defRPr>
            </a:pPr>
            <a:r>
              <a:rPr sz="2550" b="1">
                <a:solidFill>
                  <a:srgbClr val="123C32"/>
                </a:solidFill>
              </a:rPr>
              <a:t>Adverse news screening: six complementary risk lenses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946612-9DFA-4E7B-8057-2265B1C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nector-left-1">
            <a:extLst xmlns:a="http://schemas.openxmlformats.org/drawingml/2006/main">
              <a:ext uri="{FF2B5EF4-FFF2-40B4-BE49-F238E27FC236}">
                <a16:creationId xmlns:a16="http://schemas.microsoft.com/office/drawing/2014/main" id="{F26C4041-43F4-4B4F-B970-BA03D956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764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nector-right-1">
            <a:extLst xmlns:a="http://schemas.openxmlformats.org/drawingml/2006/main">
              <a:ext uri="{FF2B5EF4-FFF2-40B4-BE49-F238E27FC236}">
                <a16:creationId xmlns:a16="http://schemas.microsoft.com/office/drawing/2014/main" id="{4B83EC12-8E00-4B7B-859C-8D11468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nector-left-2">
            <a:extLst xmlns:a="http://schemas.openxmlformats.org/drawingml/2006/main">
              <a:ext uri="{FF2B5EF4-FFF2-40B4-BE49-F238E27FC236}">
                <a16:creationId xmlns:a16="http://schemas.microsoft.com/office/drawing/2014/main" id="{C1FF04D6-738A-410C-8C67-3D9DE66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004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nector-right-2">
            <a:extLst xmlns:a="http://schemas.openxmlformats.org/drawingml/2006/main">
              <a:ext uri="{FF2B5EF4-FFF2-40B4-BE49-F238E27FC236}">
                <a16:creationId xmlns:a16="http://schemas.microsoft.com/office/drawing/2014/main" id="{CC843DFD-D6BD-4182-9ACB-BD20C6E7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04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E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nector-left-3">
            <a:extLst xmlns:a="http://schemas.openxmlformats.org/drawingml/2006/main">
              <a:ext uri="{FF2B5EF4-FFF2-40B4-BE49-F238E27FC236}">
                <a16:creationId xmlns:a16="http://schemas.microsoft.com/office/drawing/2014/main" id="{34EFB01A-1936-493F-8092-C17062F3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24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F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nector-right-3">
            <a:extLst xmlns:a="http://schemas.openxmlformats.org/drawingml/2006/main">
              <a:ext uri="{FF2B5EF4-FFF2-40B4-BE49-F238E27FC236}">
                <a16:creationId xmlns:a16="http://schemas.microsoft.com/office/drawing/2014/main" id="{C980699D-73F9-4505-AF3D-52D66201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245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main-1-accent">
            <a:extLst xmlns:a="http://schemas.openxmlformats.org/drawingml/2006/main">
              <a:ext uri="{FF2B5EF4-FFF2-40B4-BE49-F238E27FC236}">
                <a16:creationId xmlns:a16="http://schemas.microsoft.com/office/drawing/2014/main" id="{55EDAFCD-68B1-41DB-A5AC-6125DA92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main-1-number">
            <a:extLst xmlns:a="http://schemas.openxmlformats.org/drawingml/2006/main">
              <a:ext uri="{FF2B5EF4-FFF2-40B4-BE49-F238E27FC236}">
                <a16:creationId xmlns:a16="http://schemas.microsoft.com/office/drawing/2014/main" id="{7945D431-7B5E-4D7E-9640-E81EB46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main-1-number-text">
            <a:extLst xmlns:a="http://schemas.openxmlformats.org/drawingml/2006/main">
              <a:ext uri="{FF2B5EF4-FFF2-40B4-BE49-F238E27FC236}">
                <a16:creationId xmlns:a16="http://schemas.microsoft.com/office/drawing/2014/main" id="{689F795A-C00F-4A79-BA30-B5835A83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domain-1-heading">
            <a:extLst xmlns:a="http://schemas.openxmlformats.org/drawingml/2006/main">
              <a:ext uri="{FF2B5EF4-FFF2-40B4-BE49-F238E27FC236}">
                <a16:creationId xmlns:a16="http://schemas.microsoft.com/office/drawing/2014/main" id="{33211BE1-F83C-4EBD-B341-B8816EA2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</a:defRPr>
            </a:pPr>
            <a:r>
              <a:rPr sz="1575" b="1">
                <a:solidFill>
                  <a:srgbClr val="17231E"/>
                </a:solidFill>
              </a:rPr>
              <a:t>Regulatory &amp; legal enforcement</a:t>
            </a:r>
          </a:p>
        </p:txBody>
      </p:sp>
      <p:sp>
        <p:nvSpPr>
          <p:cNvPr id="14" name="domain-1-rule">
            <a:extLst xmlns:a="http://schemas.openxmlformats.org/drawingml/2006/main">
              <a:ext uri="{FF2B5EF4-FFF2-40B4-BE49-F238E27FC236}">
                <a16:creationId xmlns:a16="http://schemas.microsoft.com/office/drawing/2014/main" id="{5C88A809-2117-488E-A910-5A6FD16F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main-1-line-1">
            <a:extLst xmlns:a="http://schemas.openxmlformats.org/drawingml/2006/main">
              <a:ext uri="{FF2B5EF4-FFF2-40B4-BE49-F238E27FC236}">
                <a16:creationId xmlns:a16="http://schemas.microsoft.com/office/drawing/2014/main" id="{7A9C1437-8A22-453D-831C-72420B7E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Government action — fines, settlements and lawsuits</a:t>
            </a:r>
          </a:p>
        </p:txBody>
      </p:sp>
      <p:sp>
        <p:nvSpPr>
          <p:cNvPr id="16" name="domain-1-line-2">
            <a:extLst xmlns:a="http://schemas.openxmlformats.org/drawingml/2006/main">
              <a:ext uri="{FF2B5EF4-FFF2-40B4-BE49-F238E27FC236}">
                <a16:creationId xmlns:a16="http://schemas.microsoft.com/office/drawing/2014/main" id="{B9772BD8-9E7A-4A51-8555-0A5216B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Licensing status — denials, suspensions or withdrawals</a:t>
            </a:r>
          </a:p>
        </p:txBody>
      </p:sp>
      <p:sp>
        <p:nvSpPr>
          <p:cNvPr id="17" name="domain-1-line-3">
            <a:extLst xmlns:a="http://schemas.openxmlformats.org/drawingml/2006/main">
              <a:ext uri="{FF2B5EF4-FFF2-40B4-BE49-F238E27FC236}">
                <a16:creationId xmlns:a16="http://schemas.microsoft.com/office/drawing/2014/main" id="{ABF7B131-57BC-4319-9950-652EC16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Litigation — class actions, IP disputes, contract breaches</a:t>
            </a:r>
          </a:p>
        </p:txBody>
      </p:sp>
      <p:sp>
        <p:nvSpPr>
          <p:cNvPr id="18" name="domain-2-accent">
            <a:extLst xmlns:a="http://schemas.openxmlformats.org/drawingml/2006/main">
              <a:ext uri="{FF2B5EF4-FFF2-40B4-BE49-F238E27FC236}">
                <a16:creationId xmlns:a16="http://schemas.microsoft.com/office/drawing/2014/main" id="{CEC24926-DC6E-41E1-8083-3998F465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525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main-2-number">
            <a:extLst xmlns:a="http://schemas.openxmlformats.org/drawingml/2006/main">
              <a:ext uri="{FF2B5EF4-FFF2-40B4-BE49-F238E27FC236}">
                <a16:creationId xmlns:a16="http://schemas.microsoft.com/office/drawing/2014/main" id="{78DE3488-92D3-4994-85FE-C80CF71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71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main-2-number-text">
            <a:extLst xmlns:a="http://schemas.openxmlformats.org/drawingml/2006/main">
              <a:ext uri="{FF2B5EF4-FFF2-40B4-BE49-F238E27FC236}">
                <a16:creationId xmlns:a16="http://schemas.microsoft.com/office/drawing/2014/main" id="{980FADB7-B643-47CC-98BB-E970180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192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domain-2-heading">
            <a:extLst xmlns:a="http://schemas.openxmlformats.org/drawingml/2006/main">
              <a:ext uri="{FF2B5EF4-FFF2-40B4-BE49-F238E27FC236}">
                <a16:creationId xmlns:a16="http://schemas.microsoft.com/office/drawing/2014/main" id="{D66F48A4-AD67-4CB6-A2D6-93E0FCE2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81125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</a:defRPr>
            </a:pPr>
            <a:r>
              <a:rPr sz="1575" b="1">
                <a:solidFill>
                  <a:srgbClr val="17231E"/>
                </a:solidFill>
              </a:rPr>
              <a:t>Financial crime &amp; integrity</a:t>
            </a:r>
          </a:p>
        </p:txBody>
      </p:sp>
      <p:sp>
        <p:nvSpPr>
          <p:cNvPr id="22" name="domain-2-rule">
            <a:extLst xmlns:a="http://schemas.openxmlformats.org/drawingml/2006/main">
              <a:ext uri="{FF2B5EF4-FFF2-40B4-BE49-F238E27FC236}">
                <a16:creationId xmlns:a16="http://schemas.microsoft.com/office/drawing/2014/main" id="{97F40B3F-0DC5-47A1-9325-9C4D0135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288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main-2-line-1">
            <a:extLst xmlns:a="http://schemas.openxmlformats.org/drawingml/2006/main">
              <a:ext uri="{FF2B5EF4-FFF2-40B4-BE49-F238E27FC236}">
                <a16:creationId xmlns:a16="http://schemas.microsoft.com/office/drawing/2014/main" id="{9C697CFA-7884-4D4B-ACFA-3CAD128E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2405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AML / KYC — sanctions and terrorist-financing exposure</a:t>
            </a:r>
          </a:p>
        </p:txBody>
      </p:sp>
      <p:sp>
        <p:nvSpPr>
          <p:cNvPr id="24" name="domain-2-line-2">
            <a:extLst xmlns:a="http://schemas.openxmlformats.org/drawingml/2006/main">
              <a:ext uri="{FF2B5EF4-FFF2-40B4-BE49-F238E27FC236}">
                <a16:creationId xmlns:a16="http://schemas.microsoft.com/office/drawing/2014/main" id="{8EA60DD6-510F-4010-9F0F-0A2D3ED0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8122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Fraud — fund commingling and market manipulation</a:t>
            </a:r>
          </a:p>
        </p:txBody>
      </p:sp>
      <p:sp>
        <p:nvSpPr>
          <p:cNvPr id="25" name="domain-2-line-3">
            <a:extLst xmlns:a="http://schemas.openxmlformats.org/drawingml/2006/main">
              <a:ext uri="{FF2B5EF4-FFF2-40B4-BE49-F238E27FC236}">
                <a16:creationId xmlns:a16="http://schemas.microsoft.com/office/drawing/2014/main" id="{9478B0F1-433C-42AC-99D3-1B645CA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3840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Controls — deficient compliance or audit programmes</a:t>
            </a:r>
          </a:p>
        </p:txBody>
      </p:sp>
      <p:sp>
        <p:nvSpPr>
          <p:cNvPr id="26" name="domain-3-accent">
            <a:extLst xmlns:a="http://schemas.openxmlformats.org/drawingml/2006/main">
              <a:ext uri="{FF2B5EF4-FFF2-40B4-BE49-F238E27FC236}">
                <a16:creationId xmlns:a16="http://schemas.microsoft.com/office/drawing/2014/main" id="{E28F4DD1-A5F2-464A-A958-35E5877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76575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main-3-number">
            <a:extLst xmlns:a="http://schemas.openxmlformats.org/drawingml/2006/main">
              <a:ext uri="{FF2B5EF4-FFF2-40B4-BE49-F238E27FC236}">
                <a16:creationId xmlns:a16="http://schemas.microsoft.com/office/drawing/2014/main" id="{4DFF4B61-BB43-4F0D-BB7E-85459E42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main-3-number-text">
            <a:extLst xmlns:a="http://schemas.openxmlformats.org/drawingml/2006/main">
              <a:ext uri="{FF2B5EF4-FFF2-40B4-BE49-F238E27FC236}">
                <a16:creationId xmlns:a16="http://schemas.microsoft.com/office/drawing/2014/main" id="{81CCEB3C-0F81-4C4B-975B-3A93C1FD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domain-3-heading">
            <a:extLst xmlns:a="http://schemas.openxmlformats.org/drawingml/2006/main">
              <a:ext uri="{FF2B5EF4-FFF2-40B4-BE49-F238E27FC236}">
                <a16:creationId xmlns:a16="http://schemas.microsoft.com/office/drawing/2014/main" id="{D64CD229-3335-45EA-894B-8A40A6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</a:defRPr>
            </a:pPr>
            <a:r>
              <a:rPr sz="1575" b="1">
                <a:solidFill>
                  <a:srgbClr val="17231E"/>
                </a:solidFill>
              </a:rPr>
              <a:t>Executive &amp; key-person risk</a:t>
            </a:r>
          </a:p>
        </p:txBody>
      </p:sp>
      <p:sp>
        <p:nvSpPr>
          <p:cNvPr id="30" name="domain-3-rule">
            <a:extLst xmlns:a="http://schemas.openxmlformats.org/drawingml/2006/main">
              <a:ext uri="{FF2B5EF4-FFF2-40B4-BE49-F238E27FC236}">
                <a16:creationId xmlns:a16="http://schemas.microsoft.com/office/drawing/2014/main" id="{E4CAD10A-5432-4347-8B1A-298707A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main-3-line-1">
            <a:extLst xmlns:a="http://schemas.openxmlformats.org/drawingml/2006/main">
              <a:ext uri="{FF2B5EF4-FFF2-40B4-BE49-F238E27FC236}">
                <a16:creationId xmlns:a16="http://schemas.microsoft.com/office/drawing/2014/main" id="{DCEC52D4-99E7-4737-82A8-F26BCFD3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Misconduct — harassment, toxicity or legal trouble</a:t>
            </a:r>
          </a:p>
        </p:txBody>
      </p:sp>
      <p:sp>
        <p:nvSpPr>
          <p:cNvPr id="32" name="domain-3-line-2">
            <a:extLst xmlns:a="http://schemas.openxmlformats.org/drawingml/2006/main">
              <a:ext uri="{FF2B5EF4-FFF2-40B4-BE49-F238E27FC236}">
                <a16:creationId xmlns:a16="http://schemas.microsoft.com/office/drawing/2014/main" id="{71D9B6B1-58FE-4996-9CAB-52B7A55F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Controversy — polarising statements or brand damage</a:t>
            </a:r>
          </a:p>
        </p:txBody>
      </p:sp>
      <p:sp>
        <p:nvSpPr>
          <p:cNvPr id="33" name="domain-3-line-3">
            <a:extLst xmlns:a="http://schemas.openxmlformats.org/drawingml/2006/main">
              <a:ext uri="{FF2B5EF4-FFF2-40B4-BE49-F238E27FC236}">
                <a16:creationId xmlns:a16="http://schemas.microsoft.com/office/drawing/2014/main" id="{01AB43BC-311C-4CF8-9F9F-9CAAA416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Conflicts — undisclosed stakes, self-dealing or distractions</a:t>
            </a:r>
          </a:p>
        </p:txBody>
      </p:sp>
      <p:sp>
        <p:nvSpPr>
          <p:cNvPr id="34" name="domain-4-accent">
            <a:extLst xmlns:a="http://schemas.openxmlformats.org/drawingml/2006/main">
              <a:ext uri="{FF2B5EF4-FFF2-40B4-BE49-F238E27FC236}">
                <a16:creationId xmlns:a16="http://schemas.microsoft.com/office/drawing/2014/main" id="{3D1DF811-59C4-4298-8FF1-735C229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76575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E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main-4-number">
            <a:extLst xmlns:a="http://schemas.openxmlformats.org/drawingml/2006/main">
              <a:ext uri="{FF2B5EF4-FFF2-40B4-BE49-F238E27FC236}">
                <a16:creationId xmlns:a16="http://schemas.microsoft.com/office/drawing/2014/main" id="{D7B31D59-DA3B-4787-9028-8137612F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95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9E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main-4-number-text">
            <a:extLst xmlns:a="http://schemas.openxmlformats.org/drawingml/2006/main">
              <a:ext uri="{FF2B5EF4-FFF2-40B4-BE49-F238E27FC236}">
                <a16:creationId xmlns:a16="http://schemas.microsoft.com/office/drawing/2014/main" id="{1D745F8C-87A5-4EB2-AAB5-113DD8B8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domain-4-heading">
            <a:extLst xmlns:a="http://schemas.openxmlformats.org/drawingml/2006/main">
              <a:ext uri="{FF2B5EF4-FFF2-40B4-BE49-F238E27FC236}">
                <a16:creationId xmlns:a16="http://schemas.microsoft.com/office/drawing/2014/main" id="{004F466D-50B3-46C1-A0F8-1C9D1D0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</a:defRPr>
            </a:pPr>
            <a:r>
              <a:rPr sz="1575" b="1">
                <a:solidFill>
                  <a:srgbClr val="17231E"/>
                </a:solidFill>
              </a:rPr>
              <a:t>Operational &amp; security risk</a:t>
            </a:r>
          </a:p>
        </p:txBody>
      </p:sp>
      <p:sp>
        <p:nvSpPr>
          <p:cNvPr id="38" name="domain-4-rule">
            <a:extLst xmlns:a="http://schemas.openxmlformats.org/drawingml/2006/main">
              <a:ext uri="{FF2B5EF4-FFF2-40B4-BE49-F238E27FC236}">
                <a16:creationId xmlns:a16="http://schemas.microsoft.com/office/drawing/2014/main" id="{AE5C000A-2E6F-4134-B3BD-9573143C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52825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main-4-line-1">
            <a:extLst xmlns:a="http://schemas.openxmlformats.org/drawingml/2006/main">
              <a:ext uri="{FF2B5EF4-FFF2-40B4-BE49-F238E27FC236}">
                <a16:creationId xmlns:a16="http://schemas.microsoft.com/office/drawing/2014/main" id="{D9145303-30A9-44B4-AE09-1F9EF2C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4807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Cybersecurity — hacks, exploits or data leakage</a:t>
            </a:r>
          </a:p>
        </p:txBody>
      </p:sp>
      <p:sp>
        <p:nvSpPr>
          <p:cNvPr id="40" name="domain-4-line-2">
            <a:extLst xmlns:a="http://schemas.openxmlformats.org/drawingml/2006/main">
              <a:ext uri="{FF2B5EF4-FFF2-40B4-BE49-F238E27FC236}">
                <a16:creationId xmlns:a16="http://schemas.microsoft.com/office/drawing/2014/main" id="{87FEC0E4-66CA-4D0C-A584-F3D32690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0525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Reliability — outages, withdrawal freezes or downtime</a:t>
            </a:r>
          </a:p>
        </p:txBody>
      </p:sp>
      <p:sp>
        <p:nvSpPr>
          <p:cNvPr id="41" name="domain-4-line-3">
            <a:extLst xmlns:a="http://schemas.openxmlformats.org/drawingml/2006/main">
              <a:ext uri="{FF2B5EF4-FFF2-40B4-BE49-F238E27FC236}">
                <a16:creationId xmlns:a16="http://schemas.microsoft.com/office/drawing/2014/main" id="{A600AB65-8402-4C6E-855A-95D6110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6242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Asset backing — reserve and transparency concerns</a:t>
            </a:r>
          </a:p>
        </p:txBody>
      </p:sp>
      <p:sp>
        <p:nvSpPr>
          <p:cNvPr id="42" name="domain-5-accent">
            <a:extLst xmlns:a="http://schemas.openxmlformats.org/drawingml/2006/main">
              <a:ext uri="{FF2B5EF4-FFF2-40B4-BE49-F238E27FC236}">
                <a16:creationId xmlns:a16="http://schemas.microsoft.com/office/drawing/2014/main" id="{8B976979-BE3E-46BF-9EC2-1004C243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F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main-5-number">
            <a:extLst xmlns:a="http://schemas.openxmlformats.org/drawingml/2006/main">
              <a:ext uri="{FF2B5EF4-FFF2-40B4-BE49-F238E27FC236}">
                <a16:creationId xmlns:a16="http://schemas.microsoft.com/office/drawing/2014/main" id="{97CCF5B3-B95C-4EF0-BFA4-789A00DF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F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main-5-number-text">
            <a:extLst xmlns:a="http://schemas.openxmlformats.org/drawingml/2006/main">
              <a:ext uri="{FF2B5EF4-FFF2-40B4-BE49-F238E27FC236}">
                <a16:creationId xmlns:a16="http://schemas.microsoft.com/office/drawing/2014/main" id="{9F8D18C1-41B2-4739-9946-521DF77B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domain-5-heading">
            <a:extLst xmlns:a="http://schemas.openxmlformats.org/drawingml/2006/main">
              <a:ext uri="{FF2B5EF4-FFF2-40B4-BE49-F238E27FC236}">
                <a16:creationId xmlns:a16="http://schemas.microsoft.com/office/drawing/2014/main" id="{715FEB25-1AEC-401D-A672-9316DB96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</a:defRPr>
            </a:pPr>
            <a:r>
              <a:rPr sz="1575" b="1">
                <a:solidFill>
                  <a:srgbClr val="17231E"/>
                </a:solidFill>
              </a:rPr>
              <a:t>Financial health &amp; stability</a:t>
            </a:r>
          </a:p>
        </p:txBody>
      </p:sp>
      <p:sp>
        <p:nvSpPr>
          <p:cNvPr id="46" name="domain-5-rule">
            <a:extLst xmlns:a="http://schemas.openxmlformats.org/drawingml/2006/main">
              <a:ext uri="{FF2B5EF4-FFF2-40B4-BE49-F238E27FC236}">
                <a16:creationId xmlns:a16="http://schemas.microsoft.com/office/drawing/2014/main" id="{AD49489C-CDEF-4CF4-9255-B76CDE07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main-5-line-1">
            <a:extLst xmlns:a="http://schemas.openxmlformats.org/drawingml/2006/main">
              <a:ext uri="{FF2B5EF4-FFF2-40B4-BE49-F238E27FC236}">
                <a16:creationId xmlns:a16="http://schemas.microsoft.com/office/drawing/2014/main" id="{42654628-6F58-4EBB-900A-5C3BA07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Solvency — liquidity pressure or emergency funding</a:t>
            </a:r>
          </a:p>
        </p:txBody>
      </p:sp>
      <p:sp>
        <p:nvSpPr>
          <p:cNvPr id="48" name="domain-5-line-2">
            <a:extLst xmlns:a="http://schemas.openxmlformats.org/drawingml/2006/main">
              <a:ext uri="{FF2B5EF4-FFF2-40B4-BE49-F238E27FC236}">
                <a16:creationId xmlns:a16="http://schemas.microsoft.com/office/drawing/2014/main" id="{72D79300-DE40-49E2-8F6B-1A1ADE2C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Workforce — material layoffs signalling distress</a:t>
            </a:r>
          </a:p>
        </p:txBody>
      </p:sp>
      <p:sp>
        <p:nvSpPr>
          <p:cNvPr id="49" name="domain-5-line-3">
            <a:extLst xmlns:a="http://schemas.openxmlformats.org/drawingml/2006/main">
              <a:ext uri="{FF2B5EF4-FFF2-40B4-BE49-F238E27FC236}">
                <a16:creationId xmlns:a16="http://schemas.microsoft.com/office/drawing/2014/main" id="{DEF2663B-DC1B-4C9F-80D9-D76FD44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Valuation — down rounds or investor write-downs</a:t>
            </a:r>
          </a:p>
        </p:txBody>
      </p:sp>
      <p:sp>
        <p:nvSpPr>
          <p:cNvPr id="50" name="domain-6-accent">
            <a:extLst xmlns:a="http://schemas.openxmlformats.org/drawingml/2006/main">
              <a:ext uri="{FF2B5EF4-FFF2-40B4-BE49-F238E27FC236}">
                <a16:creationId xmlns:a16="http://schemas.microsoft.com/office/drawing/2014/main" id="{1FFA9C1D-493C-4CC2-BDAD-9A1E16EC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006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main-6-number">
            <a:extLst xmlns:a="http://schemas.openxmlformats.org/drawingml/2006/main">
              <a:ext uri="{FF2B5EF4-FFF2-40B4-BE49-F238E27FC236}">
                <a16:creationId xmlns:a16="http://schemas.microsoft.com/office/drawing/2014/main" id="{D92298A4-4517-4333-A591-615552E2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19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main-6-number-text">
            <a:extLst xmlns:a="http://schemas.openxmlformats.org/drawingml/2006/main">
              <a:ext uri="{FF2B5EF4-FFF2-40B4-BE49-F238E27FC236}">
                <a16:creationId xmlns:a16="http://schemas.microsoft.com/office/drawing/2014/main" id="{F141F8FD-C6DA-42F2-8321-8065029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6727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3" name="domain-6-heading">
            <a:extLst xmlns:a="http://schemas.openxmlformats.org/drawingml/2006/main">
              <a:ext uri="{FF2B5EF4-FFF2-40B4-BE49-F238E27FC236}">
                <a16:creationId xmlns:a16="http://schemas.microsoft.com/office/drawing/2014/main" id="{64B7CA02-8E25-49AC-B520-F36B85D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29175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</a:defRPr>
            </a:pPr>
            <a:r>
              <a:rPr sz="1575" b="1">
                <a:solidFill>
                  <a:srgbClr val="17231E"/>
                </a:solidFill>
              </a:rPr>
              <a:t>Ethical &amp; reputational risk</a:t>
            </a:r>
          </a:p>
        </p:txBody>
      </p:sp>
      <p:sp>
        <p:nvSpPr>
          <p:cNvPr id="54" name="domain-6-rule">
            <a:extLst xmlns:a="http://schemas.openxmlformats.org/drawingml/2006/main">
              <a:ext uri="{FF2B5EF4-FFF2-40B4-BE49-F238E27FC236}">
                <a16:creationId xmlns:a16="http://schemas.microsoft.com/office/drawing/2014/main" id="{A2B59F56-2911-46B7-908A-B992DAD8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768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main-6-line-1">
            <a:extLst xmlns:a="http://schemas.openxmlformats.org/drawingml/2006/main">
              <a:ext uri="{FF2B5EF4-FFF2-40B4-BE49-F238E27FC236}">
                <a16:creationId xmlns:a16="http://schemas.microsoft.com/office/drawing/2014/main" id="{914B9B0A-EA44-4CD9-B26A-E6B483E8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7210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Partnerships — failed or fraudulent counterparties</a:t>
            </a:r>
          </a:p>
        </p:txBody>
      </p:sp>
      <p:sp>
        <p:nvSpPr>
          <p:cNvPr id="56" name="domain-6-line-2">
            <a:extLst xmlns:a="http://schemas.openxmlformats.org/drawingml/2006/main">
              <a:ext uri="{FF2B5EF4-FFF2-40B4-BE49-F238E27FC236}">
                <a16:creationId xmlns:a16="http://schemas.microsoft.com/office/drawing/2014/main" id="{52254FC8-85B4-4007-A036-5FA56CC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2927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ESG — material environmental or social criticism</a:t>
            </a:r>
          </a:p>
        </p:txBody>
      </p:sp>
      <p:sp>
        <p:nvSpPr>
          <p:cNvPr id="57" name="domain-6-line-3">
            <a:extLst xmlns:a="http://schemas.openxmlformats.org/drawingml/2006/main">
              <a:ext uri="{FF2B5EF4-FFF2-40B4-BE49-F238E27FC236}">
                <a16:creationId xmlns:a16="http://schemas.microsoft.com/office/drawing/2014/main" id="{14C94066-8D24-461C-A6E0-592FC8D4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86450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33C"/>
                </a:solidFill>
              </a:defRPr>
            </a:pPr>
            <a:r>
              <a:rPr sz="1200" b="0">
                <a:solidFill>
                  <a:srgbClr val="35433C"/>
                </a:solidFill>
              </a:rPr>
              <a:t>Sanctions — indirect high-risk jurisdiction links</a:t>
            </a:r>
          </a:p>
        </p:txBody>
      </p:sp>
      <p:sp>
        <p:nvSpPr>
          <p:cNvPr id="58" name="central-outer">
            <a:extLst xmlns:a="http://schemas.openxmlformats.org/drawingml/2006/main">
              <a:ext uri="{FF2B5EF4-FFF2-40B4-BE49-F238E27FC236}">
                <a16:creationId xmlns:a16="http://schemas.microsoft.com/office/drawing/2014/main" id="{6D797176-3F2F-4F28-99E5-FD4018DB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19050">
            <a:solidFill>
              <a:srgbClr val="C8D4CC"/>
            </a:solidFill>
            <a:prstDash val="solid"/>
          </a:ln>
        </p:spPr>
      </p:sp>
      <p:sp>
        <p:nvSpPr>
          <p:cNvPr id="59" name="central-inner">
            <a:extLst xmlns:a="http://schemas.openxmlformats.org/drawingml/2006/main">
              <a:ext uri="{FF2B5EF4-FFF2-40B4-BE49-F238E27FC236}">
                <a16:creationId xmlns:a16="http://schemas.microsoft.com/office/drawing/2014/main" id="{94934BB7-6456-4323-9CE0-CD6AF7F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entral-kicker">
            <a:extLst xmlns:a="http://schemas.openxmlformats.org/drawingml/2006/main">
              <a:ext uri="{FF2B5EF4-FFF2-40B4-BE49-F238E27FC236}">
                <a16:creationId xmlns:a16="http://schemas.microsoft.com/office/drawing/2014/main" id="{30C0348B-31B5-4D90-8A84-E17435B1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00375"/>
            <a:ext cx="116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1D7B9"/>
                </a:solidFill>
              </a:defRPr>
            </a:pPr>
            <a:r>
              <a:rPr sz="900" b="1">
                <a:solidFill>
                  <a:srgbClr val="91D7B9"/>
                </a:solidFill>
              </a:rPr>
              <a:t>OSINT-BASED</a:t>
            </a:r>
          </a:p>
        </p:txBody>
      </p:sp>
      <p:sp>
        <p:nvSpPr>
          <p:cNvPr id="61" name="central-title">
            <a:extLst xmlns:a="http://schemas.openxmlformats.org/drawingml/2006/main">
              <a:ext uri="{FF2B5EF4-FFF2-40B4-BE49-F238E27FC236}">
                <a16:creationId xmlns:a16="http://schemas.microsoft.com/office/drawing/2014/main" id="{981CE0A1-0148-40AA-9BBB-8168B1D7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09925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ADVERSE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SCREENING</a:t>
            </a:r>
          </a:p>
        </p:txBody>
      </p:sp>
      <p:sp>
        <p:nvSpPr>
          <p:cNvPr id="62" name="central-caption">
            <a:extLst xmlns:a="http://schemas.openxmlformats.org/drawingml/2006/main">
              <a:ext uri="{FF2B5EF4-FFF2-40B4-BE49-F238E27FC236}">
                <a16:creationId xmlns:a16="http://schemas.microsoft.com/office/drawing/2014/main" id="{6294DAAB-E052-412A-A73D-0B087E75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005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59"/>
                </a:solidFill>
              </a:defRPr>
            </a:pPr>
            <a:r>
              <a:rPr sz="1125" b="0">
                <a:solidFill>
                  <a:srgbClr val="526159"/>
                </a:solidFill>
              </a:rPr>
              <a:t>Signals inform risk discussion; they do not replace judgement.</a:t>
            </a:r>
          </a:p>
        </p:txBody>
      </p:sp>
      <p:sp>
        <p:nvSpPr>
          <p:cNvPr id="6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BA0188-F6DF-4E78-893A-E75DCD6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E3AEB1-B71E-451E-BBE7-1897167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C"/>
                </a:solidFill>
              </a:defRPr>
            </a:pPr>
            <a:r>
              <a:rPr sz="900" b="0">
                <a:solidFill>
                  <a:srgbClr val="66736C"/>
                </a:solidFill>
              </a:rPr>
              <a:t>Overview of screening framework</a:t>
            </a:r>
          </a:p>
        </p:txBody>
      </p:sp>
      <p:sp>
        <p:nvSpPr>
          <p:cNvPr id="6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13FE78-258E-47C6-A153-6C5662F4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6C"/>
                </a:solidFill>
              </a:defRPr>
            </a:pPr>
            <a:r>
              <a:rPr sz="900" b="0">
                <a:solidFill>
                  <a:srgbClr val="66736C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67172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2026-09-02T07:21:44.2630000Z</dcterms:created>
  <dcterms:modified xsi:type="dcterms:W3CDTF">2026-09-02T07:21:44.2640000Z</dcterms:modified>
</coreProperties>
</file>