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925800" cy="8953500"/>
  <p:notesSz cx="6858000" cy="9144000"/>
  <p:embeddedFontLst>
    <p:embeddedFont>
      <p:font typeface="Anton" charset="1" panose="00000500000000000000"/>
      <p:regular r:id="rId7"/>
    </p:embeddedFont>
    <p:embeddedFont>
      <p:font typeface="Kollektif" charset="1" panose="020B0604020101010102"/>
      <p:regular r:id="rId8"/>
    </p:embeddedFont>
    <p:embeddedFont>
      <p:font typeface="Barlow Bold" charset="1" panose="00000800000000000000"/>
      <p:regular r:id="rId9"/>
    </p:embeddedFont>
    <p:embeddedFont>
      <p:font typeface="Roboto" charset="1" panose="02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925800" cy="8963025"/>
          </a:xfrm>
          <a:custGeom>
            <a:avLst/>
            <a:gdLst/>
            <a:ahLst/>
            <a:cxnLst/>
            <a:rect r="r" b="b" t="t" l="l"/>
            <a:pathLst>
              <a:path h="8963025" w="15925800">
                <a:moveTo>
                  <a:pt x="0" y="0"/>
                </a:moveTo>
                <a:lnTo>
                  <a:pt x="15925800" y="0"/>
                </a:lnTo>
                <a:lnTo>
                  <a:pt x="15925800" y="8963025"/>
                </a:lnTo>
                <a:lnTo>
                  <a:pt x="0" y="896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" t="0" r="-5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1205" y="367108"/>
            <a:ext cx="12201525" cy="119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3"/>
              </a:lnSpc>
            </a:pPr>
            <a:r>
              <a:rPr lang="en-US" sz="3465" spc="3">
                <a:solidFill>
                  <a:srgbClr val="0F482A"/>
                </a:solidFill>
                <a:latin typeface="Anton"/>
                <a:ea typeface="Anton"/>
                <a:cs typeface="Anton"/>
                <a:sym typeface="Anton"/>
              </a:rPr>
              <a:t>Four Channels Through Which Cyber Risk Can Affect Creditworthiness</a:t>
            </a:r>
          </a:p>
          <a:p>
            <a:pPr algn="l">
              <a:lnSpc>
                <a:spcPts val="2417"/>
              </a:lnSpc>
            </a:pPr>
            <a:r>
              <a:rPr lang="en-US" sz="1800">
                <a:solidFill>
                  <a:srgbClr val="5D6477"/>
                </a:solidFill>
                <a:latin typeface="Kollektif"/>
                <a:ea typeface="Kollektif"/>
                <a:cs typeface="Kollektif"/>
                <a:sym typeface="Kollektif"/>
              </a:rPr>
              <a:t>Cyber incidents can affect a client's financial profile through business disruption, increased costs and weaker commercial</a:t>
            </a:r>
          </a:p>
          <a:p>
            <a:pPr algn="l">
              <a:lnSpc>
                <a:spcPts val="2425"/>
              </a:lnSpc>
            </a:pPr>
            <a:r>
              <a:rPr lang="en-US" sz="1806" spc="-7">
                <a:solidFill>
                  <a:srgbClr val="525A6D"/>
                </a:solidFill>
                <a:latin typeface="Anton"/>
                <a:ea typeface="Anton"/>
                <a:cs typeface="Anton"/>
                <a:sym typeface="Anton"/>
              </a:rPr>
              <a:t>resilience.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39019" y="1855554"/>
            <a:ext cx="2571750" cy="34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053" spc="8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Four channels of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3753" y="4458158"/>
            <a:ext cx="1047750" cy="61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sz="2467">
                <a:solidFill>
                  <a:srgbClr val="E4EEE8"/>
                </a:solidFill>
                <a:latin typeface="Anton"/>
                <a:ea typeface="Anton"/>
                <a:cs typeface="Anton"/>
                <a:sym typeface="Anton"/>
              </a:rPr>
              <a:t>Cyber</a:t>
            </a:r>
          </a:p>
          <a:p>
            <a:pPr algn="ctr">
              <a:lnSpc>
                <a:spcPts val="2449"/>
              </a:lnSpc>
            </a:pPr>
            <a:r>
              <a:rPr lang="en-US" sz="2467">
                <a:solidFill>
                  <a:srgbClr val="E4EEE8"/>
                </a:solidFill>
                <a:latin typeface="Anton"/>
                <a:ea typeface="Anton"/>
                <a:cs typeface="Anton"/>
                <a:sym typeface="Anton"/>
              </a:rPr>
              <a:t>incident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86125" y="3733800"/>
            <a:ext cx="1200150" cy="51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6"/>
              </a:lnSpc>
            </a:pPr>
            <a:r>
              <a:rPr lang="en-US" sz="1350">
                <a:solidFill>
                  <a:srgbClr val="195638"/>
                </a:solidFill>
                <a:latin typeface="Barlow Bold"/>
                <a:ea typeface="Barlow Bold"/>
                <a:cs typeface="Barlow Bold"/>
                <a:sym typeface="Barlow Bold"/>
              </a:rPr>
              <a:t>Cash flow &amp;</a:t>
            </a:r>
          </a:p>
          <a:p>
            <a:pPr algn="just">
              <a:lnSpc>
                <a:spcPts val="2408"/>
              </a:lnSpc>
            </a:pPr>
            <a:r>
              <a:rPr lang="en-US" sz="1998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profitability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62600" y="3749019"/>
            <a:ext cx="1238250" cy="52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0"/>
              </a:lnSpc>
            </a:pPr>
            <a:r>
              <a:rPr lang="en-US" sz="2010" spc="30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Operational</a:t>
            </a:r>
          </a:p>
          <a:p>
            <a:pPr algn="ctr">
              <a:lnSpc>
                <a:spcPts val="2090"/>
              </a:lnSpc>
            </a:pPr>
            <a:r>
              <a:rPr lang="en-US" sz="2010" spc="30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continuity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33742" y="4692976"/>
            <a:ext cx="1571625" cy="39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93" spc="32">
                <a:solidFill>
                  <a:srgbClr val="262931"/>
                </a:solidFill>
                <a:latin typeface="Anton"/>
                <a:ea typeface="Anton"/>
                <a:cs typeface="Anton"/>
                <a:sym typeface="Anton"/>
              </a:rPr>
              <a:t>Disruption to critical</a:t>
            </a:r>
          </a:p>
          <a:p>
            <a:pPr algn="l">
              <a:lnSpc>
                <a:spcPts val="1416"/>
              </a:lnSpc>
            </a:pPr>
            <a:r>
              <a:rPr lang="en-US" sz="1125">
                <a:solidFill>
                  <a:srgbClr val="35383B"/>
                </a:solidFill>
                <a:latin typeface="Kollektif"/>
                <a:ea typeface="Kollektif"/>
                <a:cs typeface="Kollektif"/>
                <a:sym typeface="Kollektif"/>
              </a:rPr>
              <a:t>operations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6921" y="3696603"/>
            <a:ext cx="1619250" cy="54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8"/>
              </a:lnSpc>
            </a:pPr>
            <a:r>
              <a:rPr lang="en-US" sz="2161" spc="-34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Funding &amp;</a:t>
            </a:r>
          </a:p>
          <a:p>
            <a:pPr algn="ctr">
              <a:lnSpc>
                <a:spcPts val="1915"/>
              </a:lnSpc>
            </a:pPr>
            <a:r>
              <a:rPr lang="en-US" sz="1712" spc="94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insurance costs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44150" y="3668877"/>
            <a:ext cx="1371600" cy="81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3"/>
              </a:lnSpc>
            </a:pPr>
            <a:r>
              <a:rPr lang="en-US" sz="1997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Reputation &amp;</a:t>
            </a:r>
          </a:p>
          <a:p>
            <a:pPr algn="ctr">
              <a:lnSpc>
                <a:spcPts val="2153"/>
              </a:lnSpc>
            </a:pPr>
            <a:r>
              <a:rPr lang="en-US" sz="1997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commercial</a:t>
            </a:r>
          </a:p>
          <a:p>
            <a:pPr algn="ctr">
              <a:lnSpc>
                <a:spcPts val="2153"/>
              </a:lnSpc>
            </a:pPr>
            <a:r>
              <a:rPr lang="en-US" sz="1997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relationships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20312" y="4791075"/>
            <a:ext cx="1819275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>
                <a:solidFill>
                  <a:srgbClr val="262931"/>
                </a:solidFill>
                <a:latin typeface="Kollektif"/>
                <a:ea typeface="Kollektif"/>
                <a:cs typeface="Kollektif"/>
                <a:sym typeface="Kollektif"/>
              </a:rPr>
              <a:t>• Client, supplier, investor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67964" y="5019675"/>
            <a:ext cx="1266825" cy="38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5"/>
              </a:lnSpc>
            </a:pPr>
            <a:r>
              <a:rPr lang="en-US" sz="1050">
                <a:solidFill>
                  <a:srgbClr val="35383B"/>
                </a:solidFill>
                <a:latin typeface="Kollektif"/>
                <a:ea typeface="Kollektif"/>
                <a:cs typeface="Kollektif"/>
                <a:sym typeface="Kollektif"/>
              </a:rPr>
              <a:t>or market confidence</a:t>
            </a:r>
          </a:p>
          <a:p>
            <a:pPr algn="l">
              <a:lnSpc>
                <a:spcPts val="1443"/>
              </a:lnSpc>
            </a:pPr>
            <a:r>
              <a:rPr lang="en-US" sz="975">
                <a:solidFill>
                  <a:srgbClr val="35383B"/>
                </a:solidFill>
                <a:latin typeface="Kollektif"/>
                <a:ea typeface="Kollektif"/>
                <a:cs typeface="Kollektif"/>
                <a:sym typeface="Kollektif"/>
              </a:rPr>
              <a:t>can weaken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92261" y="3337602"/>
            <a:ext cx="1962150" cy="51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7"/>
              </a:lnSpc>
            </a:pPr>
            <a:r>
              <a:rPr lang="en-US" sz="1889" spc="28">
                <a:solidFill>
                  <a:srgbClr val="E4EEE8"/>
                </a:solidFill>
                <a:latin typeface="Anton"/>
                <a:ea typeface="Anton"/>
                <a:cs typeface="Anton"/>
                <a:sym typeface="Anton"/>
              </a:rPr>
              <a:t>Potential impact on</a:t>
            </a:r>
          </a:p>
          <a:p>
            <a:pPr algn="ctr">
              <a:lnSpc>
                <a:spcPts val="2087"/>
              </a:lnSpc>
            </a:pPr>
            <a:r>
              <a:rPr lang="en-US" sz="1889" spc="28">
                <a:solidFill>
                  <a:srgbClr val="E4EEE8"/>
                </a:solidFill>
                <a:latin typeface="Anton"/>
                <a:ea typeface="Anton"/>
                <a:cs typeface="Anton"/>
                <a:sym typeface="Anton"/>
              </a:rPr>
              <a:t>creditworthiness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01596" y="4152899"/>
            <a:ext cx="1200150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CBDFD0"/>
                </a:solidFill>
                <a:latin typeface="Kollektif"/>
                <a:ea typeface="Kollektif"/>
                <a:cs typeface="Kollektif"/>
                <a:sym typeface="Kollektif"/>
              </a:rPr>
              <a:t>Liquidity pressure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01688" y="4702353"/>
            <a:ext cx="1562100" cy="25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547" spc="-6">
                <a:solidFill>
                  <a:srgbClr val="D6E6DA"/>
                </a:solidFill>
                <a:latin typeface="Anton"/>
                <a:ea typeface="Anton"/>
                <a:cs typeface="Anton"/>
                <a:sym typeface="Anton"/>
              </a:rPr>
              <a:t>Weaker profitability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20698" y="5253037"/>
            <a:ext cx="10477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>
                <a:solidFill>
                  <a:srgbClr val="D6E6DA"/>
                </a:solidFill>
                <a:latin typeface="Kollektif"/>
                <a:ea typeface="Kollektif"/>
                <a:cs typeface="Kollektif"/>
                <a:sym typeface="Kollektif"/>
              </a:rPr>
              <a:t>Reduced resilience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57512" y="4643438"/>
            <a:ext cx="1533525" cy="99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4"/>
              </a:lnSpc>
            </a:pPr>
            <a:r>
              <a:rPr lang="en-US" sz="1200">
                <a:solidFill>
                  <a:srgbClr val="35383B"/>
                </a:solidFill>
                <a:latin typeface="Kollektif"/>
                <a:ea typeface="Kollektif"/>
                <a:cs typeface="Kollektif"/>
                <a:sym typeface="Kollektif"/>
              </a:rPr>
              <a:t>• Response costs</a:t>
            </a:r>
          </a:p>
          <a:p>
            <a:pPr algn="l">
              <a:lnSpc>
                <a:spcPts val="1815"/>
              </a:lnSpc>
            </a:pPr>
            <a:r>
              <a:rPr lang="en-US" sz="1050">
                <a:solidFill>
                  <a:srgbClr val="35383B"/>
                </a:solidFill>
                <a:latin typeface="Kollektif"/>
                <a:ea typeface="Kollektif"/>
                <a:cs typeface="Kollektif"/>
                <a:sym typeface="Kollektif"/>
              </a:rPr>
              <a:t>• Lost revenues</a:t>
            </a:r>
          </a:p>
          <a:p>
            <a:pPr algn="l">
              <a:lnSpc>
                <a:spcPts val="1815"/>
              </a:lnSpc>
            </a:pPr>
            <a:r>
              <a:rPr lang="en-US" sz="1050">
                <a:solidFill>
                  <a:srgbClr val="35383B"/>
                </a:solidFill>
                <a:latin typeface="Kollektif"/>
                <a:ea typeface="Kollektif"/>
                <a:cs typeface="Kollektif"/>
                <a:sym typeface="Kollektif"/>
              </a:rPr>
              <a:t>Remediation and</a:t>
            </a:r>
          </a:p>
          <a:p>
            <a:pPr algn="l">
              <a:lnSpc>
                <a:spcPts val="2207"/>
              </a:lnSpc>
            </a:pPr>
            <a:r>
              <a:rPr lang="en-US" sz="1276" spc="34">
                <a:solidFill>
                  <a:srgbClr val="262931"/>
                </a:solidFill>
                <a:latin typeface="Roboto"/>
                <a:ea typeface="Roboto"/>
                <a:cs typeface="Roboto"/>
                <a:sym typeface="Roboto"/>
              </a:rPr>
              <a:t>regulatory penalties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38775" y="5233987"/>
            <a:ext cx="1371600" cy="42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sz="1200">
                <a:solidFill>
                  <a:srgbClr val="35383B"/>
                </a:solidFill>
                <a:latin typeface="Kollektif"/>
                <a:ea typeface="Kollektif"/>
                <a:cs typeface="Kollektif"/>
                <a:sym typeface="Kollektif"/>
              </a:rPr>
              <a:t>Systems, services or</a:t>
            </a:r>
          </a:p>
          <a:p>
            <a:pPr algn="l">
              <a:lnSpc>
                <a:spcPts val="1611"/>
              </a:lnSpc>
            </a:pPr>
            <a:r>
              <a:rPr lang="en-US" sz="1200">
                <a:solidFill>
                  <a:srgbClr val="262931"/>
                </a:solidFill>
                <a:latin typeface="Kollektif"/>
                <a:ea typeface="Kollektif"/>
                <a:cs typeface="Kollektif"/>
                <a:sym typeface="Kollektif"/>
              </a:rPr>
              <a:t>production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34270" y="4600548"/>
            <a:ext cx="1457325" cy="81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200">
                <a:solidFill>
                  <a:srgbClr val="35383B"/>
                </a:solidFill>
                <a:latin typeface="Kollektif"/>
                <a:ea typeface="Kollektif"/>
                <a:cs typeface="Kollektif"/>
                <a:sym typeface="Kollektif"/>
              </a:rPr>
              <a:t>Higher perceived risk</a:t>
            </a:r>
          </a:p>
          <a:p>
            <a:pPr algn="l">
              <a:lnSpc>
                <a:spcPts val="1884"/>
              </a:lnSpc>
            </a:pPr>
            <a:r>
              <a:rPr lang="en-US" sz="975">
                <a:solidFill>
                  <a:srgbClr val="35383B"/>
                </a:solidFill>
                <a:latin typeface="Kollektif"/>
                <a:ea typeface="Kollektif"/>
                <a:cs typeface="Kollektif"/>
                <a:sym typeface="Kollektif"/>
              </a:rPr>
              <a:t>Insurance costs</a:t>
            </a:r>
          </a:p>
          <a:p>
            <a:pPr algn="l">
              <a:lnSpc>
                <a:spcPts val="2319"/>
              </a:lnSpc>
            </a:pPr>
            <a:r>
              <a:rPr lang="en-US" sz="1200">
                <a:solidFill>
                  <a:srgbClr val="35383B"/>
                </a:solidFill>
                <a:latin typeface="Kollektif"/>
                <a:ea typeface="Kollektif"/>
                <a:cs typeface="Kollektif"/>
                <a:sym typeface="Kollektif"/>
              </a:rPr>
              <a:t>Financing pressure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76750" y="7103030"/>
            <a:ext cx="8362950" cy="32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2"/>
              </a:lnSpc>
            </a:pPr>
            <a:r>
              <a:rPr lang="en-US" sz="1916" spc="34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Understanding cyber resilience provides an additional input to credit assessment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76796" y="7383763"/>
            <a:ext cx="3190875" cy="33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95" spc="11">
                <a:solidFill>
                  <a:srgbClr val="195638"/>
                </a:solidFill>
                <a:latin typeface="Anton"/>
                <a:ea typeface="Anton"/>
                <a:cs typeface="Anton"/>
                <a:sym typeface="Anton"/>
              </a:rPr>
              <a:t>and ongoing client monitoring.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54145" y="5710237"/>
            <a:ext cx="1238250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>
                <a:solidFill>
                  <a:srgbClr val="CBDED3"/>
                </a:solidFill>
                <a:latin typeface="Kollektif"/>
                <a:ea typeface="Kollektif"/>
                <a:cs typeface="Kollektif"/>
                <a:sym typeface="Kollektif"/>
              </a:rPr>
              <a:t>Capacity to meet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11225" y="5962650"/>
            <a:ext cx="69532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D6E6DA"/>
                </a:solidFill>
                <a:latin typeface="Kollektif"/>
                <a:ea typeface="Kollektif"/>
                <a:cs typeface="Kollektif"/>
                <a:sym typeface="Kollektif"/>
              </a:rPr>
              <a:t>obligations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DAHUJZHQ8ew</dc:identifier>
  <dcterms:modified xsi:type="dcterms:W3CDTF">2011-08-01T06:04:30Z</dcterms:modified>
  <cp:revision>1</cp:revision>
</cp:coreProperties>
</file>