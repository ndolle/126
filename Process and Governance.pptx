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7487900" cy="8153400"/>
  <p:notesSz cx="6858000" cy="9144000"/>
  <p:embeddedFontLst>
    <p:embeddedFont>
      <p:font typeface="Roboto Bold" charset="1" panose="02000000000000000000"/>
      <p:regular r:id="rId7"/>
    </p:embeddedFont>
    <p:embeddedFont>
      <p:font typeface="Roboto" charset="1" panose="02000000000000000000"/>
      <p:regular r:id="rId8"/>
    </p:embeddedFont>
    <p:embeddedFont>
      <p:font typeface="Roboto Italics" charset="1" panose="02000000000000000000"/>
      <p:regular r:id="rId9"/>
    </p:embeddedFont>
    <p:embeddedFont>
      <p:font typeface="Roboto Bold Italics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87900" cy="8162925"/>
          </a:xfrm>
          <a:custGeom>
            <a:avLst/>
            <a:gdLst/>
            <a:ahLst/>
            <a:cxnLst/>
            <a:rect r="r" b="b" t="t" l="l"/>
            <a:pathLst>
              <a:path h="8162925" w="17487900">
                <a:moveTo>
                  <a:pt x="0" y="0"/>
                </a:moveTo>
                <a:lnTo>
                  <a:pt x="17487900" y="0"/>
                </a:lnTo>
                <a:lnTo>
                  <a:pt x="17487900" y="8162925"/>
                </a:lnTo>
                <a:lnTo>
                  <a:pt x="0" y="816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294" y="37127"/>
            <a:ext cx="12311482" cy="73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1"/>
              </a:lnSpc>
            </a:pPr>
            <a:r>
              <a:rPr lang="en-US" sz="4322" b="true">
                <a:solidFill>
                  <a:srgbClr val="004220"/>
                </a:solidFill>
                <a:latin typeface="Roboto Bold"/>
                <a:ea typeface="Roboto Bold"/>
                <a:cs typeface="Roboto Bold"/>
                <a:sym typeface="Roboto Bold"/>
              </a:rPr>
              <a:t>Cyber Risk Questionnaire: Process &amp; Governance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0975" y="733425"/>
            <a:ext cx="10277475" cy="381000"/>
          </a:xfrm>
          <a:custGeom>
            <a:avLst/>
            <a:gdLst/>
            <a:ahLst/>
            <a:cxnLst/>
            <a:rect r="r" b="b" t="t" l="l"/>
            <a:pathLst>
              <a:path h="381000" w="10277475">
                <a:moveTo>
                  <a:pt x="0" y="0"/>
                </a:moveTo>
                <a:lnTo>
                  <a:pt x="10277475" y="0"/>
                </a:lnTo>
                <a:lnTo>
                  <a:pt x="102774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975" y="923925"/>
            <a:ext cx="10467975" cy="752475"/>
          </a:xfrm>
          <a:custGeom>
            <a:avLst/>
            <a:gdLst/>
            <a:ahLst/>
            <a:cxnLst/>
            <a:rect r="r" b="b" t="t" l="l"/>
            <a:pathLst>
              <a:path h="752475" w="10467975">
                <a:moveTo>
                  <a:pt x="0" y="0"/>
                </a:moveTo>
                <a:lnTo>
                  <a:pt x="10467975" y="0"/>
                </a:lnTo>
                <a:lnTo>
                  <a:pt x="104679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0975" y="2038350"/>
            <a:ext cx="2295525" cy="2790825"/>
          </a:xfrm>
          <a:custGeom>
            <a:avLst/>
            <a:gdLst/>
            <a:ahLst/>
            <a:cxnLst/>
            <a:rect r="r" b="b" t="t" l="l"/>
            <a:pathLst>
              <a:path h="2790825" w="2295525">
                <a:moveTo>
                  <a:pt x="0" y="0"/>
                </a:moveTo>
                <a:lnTo>
                  <a:pt x="2295525" y="0"/>
                </a:lnTo>
                <a:lnTo>
                  <a:pt x="2295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1475" y="2038350"/>
            <a:ext cx="390525" cy="561975"/>
          </a:xfrm>
          <a:custGeom>
            <a:avLst/>
            <a:gdLst/>
            <a:ahLst/>
            <a:cxnLst/>
            <a:rect r="r" b="b" t="t" l="l"/>
            <a:pathLst>
              <a:path h="561975" w="390525">
                <a:moveTo>
                  <a:pt x="0" y="0"/>
                </a:moveTo>
                <a:lnTo>
                  <a:pt x="390525" y="0"/>
                </a:lnTo>
                <a:lnTo>
                  <a:pt x="3905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2975" y="2219325"/>
            <a:ext cx="962025" cy="942975"/>
          </a:xfrm>
          <a:custGeom>
            <a:avLst/>
            <a:gdLst/>
            <a:ahLst/>
            <a:cxnLst/>
            <a:rect r="r" b="b" t="t" l="l"/>
            <a:pathLst>
              <a:path h="942975" w="96202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4734" y="3364354"/>
            <a:ext cx="1818742" cy="63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"/>
              </a:lnSpc>
            </a:pPr>
            <a:r>
              <a:rPr lang="en-US" sz="127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designs and shares the questionnaire with Risk Corporate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7198" y="4152026"/>
            <a:ext cx="1678838" cy="40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167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Hosted in Risk Corporate SharePoint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57475" y="2038350"/>
            <a:ext cx="1905000" cy="2790825"/>
          </a:xfrm>
          <a:custGeom>
            <a:avLst/>
            <a:gdLst/>
            <a:ahLst/>
            <a:cxnLst/>
            <a:rect r="r" b="b" t="t" l="l"/>
            <a:pathLst>
              <a:path h="2790825" w="1905000">
                <a:moveTo>
                  <a:pt x="0" y="0"/>
                </a:moveTo>
                <a:lnTo>
                  <a:pt x="1905000" y="0"/>
                </a:lnTo>
                <a:lnTo>
                  <a:pt x="19050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57475" y="2038350"/>
            <a:ext cx="581025" cy="561975"/>
          </a:xfrm>
          <a:custGeom>
            <a:avLst/>
            <a:gdLst/>
            <a:ahLst/>
            <a:cxnLst/>
            <a:rect r="r" b="b" t="t" l="l"/>
            <a:pathLst>
              <a:path h="561975" w="58102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02991" y="2173132"/>
            <a:ext cx="139903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1" b="true">
                <a:solidFill>
                  <a:srgbClr val="00422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28975" y="2409825"/>
            <a:ext cx="771525" cy="933450"/>
          </a:xfrm>
          <a:custGeom>
            <a:avLst/>
            <a:gdLst/>
            <a:ahLst/>
            <a:cxnLst/>
            <a:rect r="r" b="b" t="t" l="l"/>
            <a:pathLst>
              <a:path h="933450" w="771525">
                <a:moveTo>
                  <a:pt x="0" y="0"/>
                </a:moveTo>
                <a:lnTo>
                  <a:pt x="771525" y="0"/>
                </a:lnTo>
                <a:lnTo>
                  <a:pt x="77152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37967" y="3366813"/>
            <a:ext cx="1294105" cy="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6"/>
              </a:lnSpc>
            </a:pPr>
            <a:r>
              <a:rPr lang="en-US" sz="14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Corporate sends the Excel questionnaire to the client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743450" y="2038350"/>
            <a:ext cx="1914525" cy="2790825"/>
          </a:xfrm>
          <a:custGeom>
            <a:avLst/>
            <a:gdLst/>
            <a:ahLst/>
            <a:cxnLst/>
            <a:rect r="r" b="b" t="t" l="l"/>
            <a:pathLst>
              <a:path h="2790825" w="1914525">
                <a:moveTo>
                  <a:pt x="0" y="0"/>
                </a:moveTo>
                <a:lnTo>
                  <a:pt x="1914525" y="0"/>
                </a:lnTo>
                <a:lnTo>
                  <a:pt x="1914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933950" y="2038350"/>
            <a:ext cx="390525" cy="561975"/>
          </a:xfrm>
          <a:custGeom>
            <a:avLst/>
            <a:gdLst/>
            <a:ahLst/>
            <a:cxnLst/>
            <a:rect r="r" b="b" t="t" l="l"/>
            <a:pathLst>
              <a:path h="561975" w="390525">
                <a:moveTo>
                  <a:pt x="0" y="0"/>
                </a:moveTo>
                <a:lnTo>
                  <a:pt x="390525" y="0"/>
                </a:lnTo>
                <a:lnTo>
                  <a:pt x="3905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314950" y="2409825"/>
            <a:ext cx="771525" cy="933450"/>
          </a:xfrm>
          <a:custGeom>
            <a:avLst/>
            <a:gdLst/>
            <a:ahLst/>
            <a:cxnLst/>
            <a:rect r="r" b="b" t="t" l="l"/>
            <a:pathLst>
              <a:path h="933450" w="771525">
                <a:moveTo>
                  <a:pt x="0" y="0"/>
                </a:moveTo>
                <a:lnTo>
                  <a:pt x="771525" y="0"/>
                </a:lnTo>
                <a:lnTo>
                  <a:pt x="77152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054003" y="3338913"/>
            <a:ext cx="1399032" cy="99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55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Client completes it and returns it to Risk Corporate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838950" y="2038350"/>
            <a:ext cx="1905000" cy="2790825"/>
          </a:xfrm>
          <a:custGeom>
            <a:avLst/>
            <a:gdLst/>
            <a:ahLst/>
            <a:cxnLst/>
            <a:rect r="r" b="b" t="t" l="l"/>
            <a:pathLst>
              <a:path h="2790825" w="1905000">
                <a:moveTo>
                  <a:pt x="0" y="0"/>
                </a:moveTo>
                <a:lnTo>
                  <a:pt x="1905000" y="0"/>
                </a:lnTo>
                <a:lnTo>
                  <a:pt x="19050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029450" y="2038350"/>
            <a:ext cx="390525" cy="561975"/>
          </a:xfrm>
          <a:custGeom>
            <a:avLst/>
            <a:gdLst/>
            <a:ahLst/>
            <a:cxnLst/>
            <a:rect r="r" b="b" t="t" l="l"/>
            <a:pathLst>
              <a:path h="561975" w="390525">
                <a:moveTo>
                  <a:pt x="0" y="0"/>
                </a:moveTo>
                <a:lnTo>
                  <a:pt x="390525" y="0"/>
                </a:lnTo>
                <a:lnTo>
                  <a:pt x="3905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10450" y="2409825"/>
            <a:ext cx="771525" cy="933450"/>
          </a:xfrm>
          <a:custGeom>
            <a:avLst/>
            <a:gdLst/>
            <a:ahLst/>
            <a:cxnLst/>
            <a:rect r="r" b="b" t="t" l="l"/>
            <a:pathLst>
              <a:path h="933450" w="771525">
                <a:moveTo>
                  <a:pt x="0" y="0"/>
                </a:moveTo>
                <a:lnTo>
                  <a:pt x="771525" y="0"/>
                </a:lnTo>
                <a:lnTo>
                  <a:pt x="77152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100087" y="3441662"/>
            <a:ext cx="1538935" cy="80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23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Corporate applies automated scoring using predefined thresholds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419475" y="5000625"/>
            <a:ext cx="2286000" cy="1866900"/>
          </a:xfrm>
          <a:custGeom>
            <a:avLst/>
            <a:gdLst/>
            <a:ahLst/>
            <a:cxnLst/>
            <a:rect r="r" b="b" t="t" l="l"/>
            <a:pathLst>
              <a:path h="1866900" w="2286000">
                <a:moveTo>
                  <a:pt x="0" y="0"/>
                </a:moveTo>
                <a:lnTo>
                  <a:pt x="2286000" y="0"/>
                </a:lnTo>
                <a:lnTo>
                  <a:pt x="22860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609975" y="5372100"/>
            <a:ext cx="762000" cy="942975"/>
          </a:xfrm>
          <a:custGeom>
            <a:avLst/>
            <a:gdLst/>
            <a:ahLst/>
            <a:cxnLst/>
            <a:rect r="r" b="b" t="t" l="l"/>
            <a:pathLst>
              <a:path h="942975" w="762000">
                <a:moveTo>
                  <a:pt x="0" y="0"/>
                </a:moveTo>
                <a:lnTo>
                  <a:pt x="762000" y="0"/>
                </a:lnTo>
                <a:lnTo>
                  <a:pt x="762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354487" y="5638661"/>
            <a:ext cx="1084250" cy="42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14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 risk or complication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505450" y="5743575"/>
            <a:ext cx="581025" cy="381000"/>
          </a:xfrm>
          <a:custGeom>
            <a:avLst/>
            <a:gdLst/>
            <a:ahLst/>
            <a:cxnLst/>
            <a:rect r="r" b="b" t="t" l="l"/>
            <a:pathLst>
              <a:path h="381000" w="581025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695950" y="5000625"/>
            <a:ext cx="2295525" cy="1866900"/>
          </a:xfrm>
          <a:custGeom>
            <a:avLst/>
            <a:gdLst/>
            <a:ahLst/>
            <a:cxnLst/>
            <a:rect r="r" b="b" t="t" l="l"/>
            <a:pathLst>
              <a:path h="1866900" w="2295525">
                <a:moveTo>
                  <a:pt x="0" y="0"/>
                </a:moveTo>
                <a:lnTo>
                  <a:pt x="2295525" y="0"/>
                </a:lnTo>
                <a:lnTo>
                  <a:pt x="229552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886450" y="5372100"/>
            <a:ext cx="771525" cy="942975"/>
          </a:xfrm>
          <a:custGeom>
            <a:avLst/>
            <a:gdLst/>
            <a:ahLst/>
            <a:cxnLst/>
            <a:rect r="r" b="b" t="t" l="l"/>
            <a:pathLst>
              <a:path h="942975" w="77152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715354" y="5434832"/>
            <a:ext cx="1084250" cy="95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0"/>
              </a:lnSpc>
            </a:pPr>
            <a:r>
              <a:rPr lang="en-US" sz="127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Corporate contacts RISK ORM for expert advice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981950" y="5743575"/>
            <a:ext cx="390525" cy="381000"/>
          </a:xfrm>
          <a:custGeom>
            <a:avLst/>
            <a:gdLst/>
            <a:ahLst/>
            <a:cxnLst/>
            <a:rect r="r" b="b" t="t" l="l"/>
            <a:pathLst>
              <a:path h="381000" w="390525">
                <a:moveTo>
                  <a:pt x="0" y="0"/>
                </a:moveTo>
                <a:lnTo>
                  <a:pt x="390525" y="0"/>
                </a:lnTo>
                <a:lnTo>
                  <a:pt x="390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172450" y="5000625"/>
            <a:ext cx="2286000" cy="1866900"/>
          </a:xfrm>
          <a:custGeom>
            <a:avLst/>
            <a:gdLst/>
            <a:ahLst/>
            <a:cxnLst/>
            <a:rect r="r" b="b" t="t" l="l"/>
            <a:pathLst>
              <a:path h="1866900" w="2286000">
                <a:moveTo>
                  <a:pt x="0" y="0"/>
                </a:moveTo>
                <a:lnTo>
                  <a:pt x="2286000" y="0"/>
                </a:lnTo>
                <a:lnTo>
                  <a:pt x="22860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362950" y="5191125"/>
            <a:ext cx="952500" cy="1123950"/>
          </a:xfrm>
          <a:custGeom>
            <a:avLst/>
            <a:gdLst/>
            <a:ahLst/>
            <a:cxnLst/>
            <a:rect r="r" b="b" t="t" l="l"/>
            <a:pathLst>
              <a:path h="1123950" w="952500">
                <a:moveTo>
                  <a:pt x="0" y="0"/>
                </a:moveTo>
                <a:lnTo>
                  <a:pt x="952500" y="0"/>
                </a:lnTo>
                <a:lnTo>
                  <a:pt x="9525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268587" y="5425983"/>
            <a:ext cx="1084250" cy="97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3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expert provides cyber interpretation / advice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258425" y="5743575"/>
            <a:ext cx="581025" cy="381000"/>
          </a:xfrm>
          <a:custGeom>
            <a:avLst/>
            <a:gdLst/>
            <a:ahLst/>
            <a:cxnLst/>
            <a:rect r="r" b="b" t="t" l="l"/>
            <a:pathLst>
              <a:path h="381000" w="581025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639425" y="5000625"/>
            <a:ext cx="2105025" cy="1866900"/>
          </a:xfrm>
          <a:custGeom>
            <a:avLst/>
            <a:gdLst/>
            <a:ahLst/>
            <a:cxnLst/>
            <a:rect r="r" b="b" t="t" l="l"/>
            <a:pathLst>
              <a:path h="1866900" w="2105025">
                <a:moveTo>
                  <a:pt x="0" y="0"/>
                </a:moveTo>
                <a:lnTo>
                  <a:pt x="2105025" y="0"/>
                </a:lnTo>
                <a:lnTo>
                  <a:pt x="210502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829925" y="5372100"/>
            <a:ext cx="581025" cy="942975"/>
          </a:xfrm>
          <a:custGeom>
            <a:avLst/>
            <a:gdLst/>
            <a:ahLst/>
            <a:cxnLst/>
            <a:rect r="r" b="b" t="t" l="l"/>
            <a:pathLst>
              <a:path h="942975" w="581025">
                <a:moveTo>
                  <a:pt x="0" y="0"/>
                </a:moveTo>
                <a:lnTo>
                  <a:pt x="581025" y="0"/>
                </a:lnTo>
                <a:lnTo>
                  <a:pt x="581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472062" y="5457983"/>
            <a:ext cx="1084250" cy="99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0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ORM may refer the case to the Risk Corporate Committee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544425" y="5743575"/>
            <a:ext cx="571500" cy="381000"/>
          </a:xfrm>
          <a:custGeom>
            <a:avLst/>
            <a:gdLst/>
            <a:ahLst/>
            <a:cxnLst/>
            <a:rect r="r" b="b" t="t" l="l"/>
            <a:pathLst>
              <a:path h="381000" w="5715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925425" y="5000625"/>
            <a:ext cx="2095500" cy="1866900"/>
          </a:xfrm>
          <a:custGeom>
            <a:avLst/>
            <a:gdLst/>
            <a:ahLst/>
            <a:cxnLst/>
            <a:rect r="r" b="b" t="t" l="l"/>
            <a:pathLst>
              <a:path h="1866900" w="2095500">
                <a:moveTo>
                  <a:pt x="0" y="0"/>
                </a:moveTo>
                <a:lnTo>
                  <a:pt x="2095500" y="0"/>
                </a:lnTo>
                <a:lnTo>
                  <a:pt x="20955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115925" y="5372100"/>
            <a:ext cx="571500" cy="942975"/>
          </a:xfrm>
          <a:custGeom>
            <a:avLst/>
            <a:gdLst/>
            <a:ahLst/>
            <a:cxnLst/>
            <a:rect r="r" b="b" t="t" l="l"/>
            <a:pathLst>
              <a:path h="942975" w="571500">
                <a:moveTo>
                  <a:pt x="0" y="0"/>
                </a:moveTo>
                <a:lnTo>
                  <a:pt x="571500" y="0"/>
                </a:lnTo>
                <a:lnTo>
                  <a:pt x="571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3780465" y="5395372"/>
            <a:ext cx="944347" cy="11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3"/>
              </a:lnSpc>
            </a:pPr>
            <a:r>
              <a:rPr lang="en-US" sz="120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ORM provides advice on the related risk of the incident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4820900" y="5372100"/>
            <a:ext cx="1724025" cy="942975"/>
          </a:xfrm>
          <a:custGeom>
            <a:avLst/>
            <a:gdLst/>
            <a:ahLst/>
            <a:cxnLst/>
            <a:rect r="r" b="b" t="t" l="l"/>
            <a:pathLst>
              <a:path h="942975" w="1724025">
                <a:moveTo>
                  <a:pt x="0" y="0"/>
                </a:moveTo>
                <a:lnTo>
                  <a:pt x="1724025" y="0"/>
                </a:lnTo>
                <a:lnTo>
                  <a:pt x="1724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011400" y="2590800"/>
            <a:ext cx="2295525" cy="2981325"/>
          </a:xfrm>
          <a:custGeom>
            <a:avLst/>
            <a:gdLst/>
            <a:ahLst/>
            <a:cxnLst/>
            <a:rect r="r" b="b" t="t" l="l"/>
            <a:pathLst>
              <a:path h="2981325" w="2295525">
                <a:moveTo>
                  <a:pt x="0" y="0"/>
                </a:moveTo>
                <a:lnTo>
                  <a:pt x="2295525" y="0"/>
                </a:lnTo>
                <a:lnTo>
                  <a:pt x="2295525" y="2981325"/>
                </a:lnTo>
                <a:lnTo>
                  <a:pt x="0" y="29813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773400" y="2781300"/>
            <a:ext cx="771525" cy="933450"/>
          </a:xfrm>
          <a:custGeom>
            <a:avLst/>
            <a:gdLst/>
            <a:ahLst/>
            <a:cxnLst/>
            <a:rect r="r" b="b" t="t" l="l"/>
            <a:pathLst>
              <a:path h="933450" w="771525">
                <a:moveTo>
                  <a:pt x="0" y="0"/>
                </a:moveTo>
                <a:lnTo>
                  <a:pt x="771525" y="0"/>
                </a:lnTo>
                <a:lnTo>
                  <a:pt x="77152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5249449" y="3879722"/>
            <a:ext cx="1906181" cy="130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22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 Corporate makes the credit / client decision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7101" y="1185418"/>
            <a:ext cx="9915639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RISK provides design and expert advice; Risk Corporate owns the final client / credit decision.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20368" y="1481432"/>
            <a:ext cx="1294105" cy="65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Corporate retains it in the client credit file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64429" y="1694377"/>
            <a:ext cx="751980" cy="2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48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Low risk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9661" y="2173132"/>
            <a:ext cx="139903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1" b="true">
                <a:solidFill>
                  <a:srgbClr val="004220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071491" y="2173132"/>
            <a:ext cx="139903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1" b="true">
                <a:solidFill>
                  <a:srgbClr val="004220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70039" y="2173132"/>
            <a:ext cx="139903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1911" b="true">
                <a:solidFill>
                  <a:srgbClr val="004220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478442" y="3494874"/>
            <a:ext cx="1084250" cy="3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34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level / complication?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211394" y="7373838"/>
            <a:ext cx="2028596" cy="3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i="true" b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Decision ownership: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79894" y="7364764"/>
            <a:ext cx="1486472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Risk Corporate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65881" y="7356589"/>
            <a:ext cx="1486472" cy="33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 i="true" b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Advisory role: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629454" y="7382013"/>
            <a:ext cx="944347" cy="2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663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RISK 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DAHSlFaTguo</dc:identifier>
  <dcterms:modified xsi:type="dcterms:W3CDTF">2011-08-01T06:04:30Z</dcterms:modified>
  <cp:revision>1</cp:revision>
</cp:coreProperties>
</file>